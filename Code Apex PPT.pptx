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5963900" cy="8928100"/>
  <p:notesSz cx="6858000" cy="9144000"/>
  <p:embeddedFontLst>
    <p:embeddedFont>
      <p:font typeface="Bank Gothic Light" panose="020B0604020202020204" charset="0"/>
      <p:regular r:id="rId10"/>
    </p:embeddedFont>
    <p:embeddedFont>
      <p:font typeface="Bank Gothic Medium" panose="020B0604020202020204" charset="0"/>
      <p:regular r:id="rId11"/>
    </p:embeddedFont>
    <p:embeddedFont>
      <p:font typeface="Bebas Neue" panose="020B0606020202050201" pitchFamily="34" charset="0"/>
      <p:regular r:id="rId12"/>
    </p:embeddedFont>
    <p:embeddedFont>
      <p:font typeface="Canva Sans Bold" panose="020B0604020202020204" charset="0"/>
      <p:regular r:id="rId13"/>
    </p:embeddedFont>
    <p:embeddedFont>
      <p:font typeface="Jaturat Bold Italics" panose="020B0604020202020204" charset="-34"/>
      <p:regular r:id="rId14"/>
    </p:embeddedFont>
    <p:embeddedFont>
      <p:font typeface="Jaturat Semi-Bold Italics" panose="020B0604020202020204" charset="-34"/>
      <p:regular r:id="rId15"/>
    </p:embeddedFont>
    <p:embeddedFont>
      <p:font typeface="Press Start 2P" panose="020B0604020202020204" charset="0"/>
      <p:regular r:id="rId16"/>
    </p:embeddedFont>
    <p:embeddedFont>
      <p:font typeface="Quicksand" panose="020B0604020202020204" charset="0"/>
      <p:regular r:id="rId17"/>
    </p:embeddedFont>
    <p:embeddedFont>
      <p:font typeface="Quicksand Bold" panose="020B0604020202020204" charset="0"/>
      <p:regular r:id="rId18"/>
    </p:embeddedFont>
    <p:embeddedFont>
      <p:font typeface="Quicksand Medium"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0" d="100"/>
          <a:sy n="60" d="100"/>
        </p:scale>
        <p:origin x="811"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tableStyles" Target="tableStyles.xml"/><Relationship Id="rId10" Type="http://schemas.openxmlformats.org/officeDocument/2006/relationships/font" Target="fonts/font1.fntdata"/><Relationship Id="rId19"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5.fntdata"/><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2.png"/><Relationship Id="rId21" Type="http://schemas.openxmlformats.org/officeDocument/2006/relationships/image" Target="../media/image20.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image" Target="../media/image1.jpeg"/><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19" Type="http://schemas.openxmlformats.org/officeDocument/2006/relationships/image" Target="../media/image18.sv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 Id="rId22" Type="http://schemas.openxmlformats.org/officeDocument/2006/relationships/image" Target="../media/image21.png"/></Relationships>
</file>

<file path=ppt/slides/_rels/slide2.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8.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19.png"/><Relationship Id="rId5" Type="http://schemas.openxmlformats.org/officeDocument/2006/relationships/image" Target="../media/image25.png"/><Relationship Id="rId10" Type="http://schemas.openxmlformats.org/officeDocument/2006/relationships/image" Target="../media/image18.svg"/><Relationship Id="rId4" Type="http://schemas.openxmlformats.org/officeDocument/2006/relationships/image" Target="../media/image24.png"/><Relationship Id="rId9" Type="http://schemas.openxmlformats.org/officeDocument/2006/relationships/image" Target="../media/image17.png"/><Relationship Id="rId14" Type="http://schemas.openxmlformats.org/officeDocument/2006/relationships/image" Target="../media/image29.svg"/></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hyperlink" Target="https://rbi.org.in/scripts/NotificationUser.aspx?Id=13643&amp;Mode=0" TargetMode="External"/><Relationship Id="rId3" Type="http://schemas.openxmlformats.org/officeDocument/2006/relationships/image" Target="../media/image24.png"/><Relationship Id="rId7" Type="http://schemas.openxmlformats.org/officeDocument/2006/relationships/image" Target="../media/image16.png"/><Relationship Id="rId12"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27.png"/><Relationship Id="rId11" Type="http://schemas.openxmlformats.org/officeDocument/2006/relationships/image" Target="../media/image8.png"/><Relationship Id="rId5" Type="http://schemas.openxmlformats.org/officeDocument/2006/relationships/image" Target="../media/image26.png"/><Relationship Id="rId10" Type="http://schemas.openxmlformats.org/officeDocument/2006/relationships/image" Target="../media/image19.png"/><Relationship Id="rId4" Type="http://schemas.openxmlformats.org/officeDocument/2006/relationships/image" Target="../media/image25.png"/><Relationship Id="rId9" Type="http://schemas.openxmlformats.org/officeDocument/2006/relationships/image" Target="../media/image18.sv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35.svg"/><Relationship Id="rId3" Type="http://schemas.openxmlformats.org/officeDocument/2006/relationships/image" Target="../media/image24.png"/><Relationship Id="rId7" Type="http://schemas.openxmlformats.org/officeDocument/2006/relationships/image" Target="../media/image16.png"/><Relationship Id="rId12" Type="http://schemas.openxmlformats.org/officeDocument/2006/relationships/image" Target="../media/image34.svg"/><Relationship Id="rId2" Type="http://schemas.openxmlformats.org/officeDocument/2006/relationships/image" Target="../media/image32.png"/><Relationship Id="rId16" Type="http://schemas.openxmlformats.org/officeDocument/2006/relationships/image" Target="../media/image38.png"/><Relationship Id="rId1" Type="http://schemas.openxmlformats.org/officeDocument/2006/relationships/slideLayout" Target="../slideLayouts/slideLayout7.xml"/><Relationship Id="rId6" Type="http://schemas.openxmlformats.org/officeDocument/2006/relationships/image" Target="../media/image27.png"/><Relationship Id="rId11" Type="http://schemas.openxmlformats.org/officeDocument/2006/relationships/image" Target="../media/image33.svg"/><Relationship Id="rId5" Type="http://schemas.openxmlformats.org/officeDocument/2006/relationships/image" Target="../media/image26.png"/><Relationship Id="rId15" Type="http://schemas.openxmlformats.org/officeDocument/2006/relationships/image" Target="../media/image37.svg"/><Relationship Id="rId10" Type="http://schemas.openxmlformats.org/officeDocument/2006/relationships/image" Target="../media/image19.png"/><Relationship Id="rId4" Type="http://schemas.openxmlformats.org/officeDocument/2006/relationships/image" Target="../media/image25.png"/><Relationship Id="rId9" Type="http://schemas.openxmlformats.org/officeDocument/2006/relationships/image" Target="../media/image18.svg"/><Relationship Id="rId14" Type="http://schemas.openxmlformats.org/officeDocument/2006/relationships/image" Target="../media/image36.sv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4.png"/><Relationship Id="rId7" Type="http://schemas.openxmlformats.org/officeDocument/2006/relationships/image" Target="../media/image16.png"/><Relationship Id="rId12" Type="http://schemas.openxmlformats.org/officeDocument/2006/relationships/image" Target="../media/image40.png"/><Relationship Id="rId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27.png"/><Relationship Id="rId11" Type="http://schemas.openxmlformats.org/officeDocument/2006/relationships/image" Target="../media/image39.png"/><Relationship Id="rId5" Type="http://schemas.openxmlformats.org/officeDocument/2006/relationships/image" Target="../media/image26.png"/><Relationship Id="rId10" Type="http://schemas.openxmlformats.org/officeDocument/2006/relationships/image" Target="../media/image19.png"/><Relationship Id="rId4" Type="http://schemas.openxmlformats.org/officeDocument/2006/relationships/image" Target="../media/image25.png"/><Relationship Id="rId9" Type="http://schemas.openxmlformats.org/officeDocument/2006/relationships/image" Target="../media/image18.svg"/></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4.png"/><Relationship Id="rId7" Type="http://schemas.openxmlformats.org/officeDocument/2006/relationships/image" Target="../media/image16.png"/><Relationship Id="rId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27.png"/><Relationship Id="rId11" Type="http://schemas.openxmlformats.org/officeDocument/2006/relationships/image" Target="../media/image41.svg"/><Relationship Id="rId5" Type="http://schemas.openxmlformats.org/officeDocument/2006/relationships/image" Target="../media/image26.png"/><Relationship Id="rId10" Type="http://schemas.openxmlformats.org/officeDocument/2006/relationships/image" Target="../media/image19.png"/><Relationship Id="rId4" Type="http://schemas.openxmlformats.org/officeDocument/2006/relationships/image" Target="../media/image25.png"/><Relationship Id="rId9" Type="http://schemas.openxmlformats.org/officeDocument/2006/relationships/image" Target="../media/image18.svg"/></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4.png"/><Relationship Id="rId7" Type="http://schemas.openxmlformats.org/officeDocument/2006/relationships/image" Target="../media/image16.png"/><Relationship Id="rId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19.png"/><Relationship Id="rId4" Type="http://schemas.openxmlformats.org/officeDocument/2006/relationships/image" Target="../media/image25.png"/><Relationship Id="rId9" Type="http://schemas.openxmlformats.org/officeDocument/2006/relationships/image" Target="../media/image18.svg"/></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3" Type="http://schemas.openxmlformats.org/officeDocument/2006/relationships/image" Target="../media/image43.png"/><Relationship Id="rId7" Type="http://schemas.openxmlformats.org/officeDocument/2006/relationships/image" Target="../media/image47.png"/><Relationship Id="rId12" Type="http://schemas.openxmlformats.org/officeDocument/2006/relationships/image" Target="../media/image48.png"/><Relationship Id="rId2" Type="http://schemas.openxmlformats.org/officeDocument/2006/relationships/image" Target="../media/image42.png"/><Relationship Id="rId1" Type="http://schemas.openxmlformats.org/officeDocument/2006/relationships/slideLayout" Target="../slideLayouts/slideLayout7.xml"/><Relationship Id="rId6" Type="http://schemas.openxmlformats.org/officeDocument/2006/relationships/image" Target="../media/image46.png"/><Relationship Id="rId11" Type="http://schemas.openxmlformats.org/officeDocument/2006/relationships/image" Target="../media/image19.png"/><Relationship Id="rId5" Type="http://schemas.openxmlformats.org/officeDocument/2006/relationships/image" Target="../media/image45.png"/><Relationship Id="rId10" Type="http://schemas.openxmlformats.org/officeDocument/2006/relationships/image" Target="../media/image18.svg"/><Relationship Id="rId4" Type="http://schemas.openxmlformats.org/officeDocument/2006/relationships/image" Target="../media/image44.jpeg"/><Relationship Id="rId9" Type="http://schemas.openxmlformats.org/officeDocument/2006/relationships/image" Target="../media/image17.png"/><Relationship Id="rId14" Type="http://schemas.openxmlformats.org/officeDocument/2006/relationships/image" Target="../media/image4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8100" y="0"/>
            <a:ext cx="15935325" cy="8934450"/>
            <a:chOff x="0" y="0"/>
            <a:chExt cx="21247100" cy="11912600"/>
          </a:xfrm>
        </p:grpSpPr>
        <p:sp>
          <p:nvSpPr>
            <p:cNvPr id="3" name="Freeform 3"/>
            <p:cNvSpPr/>
            <p:nvPr/>
          </p:nvSpPr>
          <p:spPr>
            <a:xfrm>
              <a:off x="0" y="0"/>
              <a:ext cx="21247100" cy="11912600"/>
            </a:xfrm>
            <a:custGeom>
              <a:avLst/>
              <a:gdLst/>
              <a:ahLst/>
              <a:cxnLst/>
              <a:rect l="l" t="t" r="r" b="b"/>
              <a:pathLst>
                <a:path w="21247100" h="11912600">
                  <a:moveTo>
                    <a:pt x="0" y="0"/>
                  </a:moveTo>
                  <a:lnTo>
                    <a:pt x="21247100" y="0"/>
                  </a:lnTo>
                  <a:lnTo>
                    <a:pt x="21247100" y="11912600"/>
                  </a:lnTo>
                  <a:lnTo>
                    <a:pt x="0" y="11912600"/>
                  </a:lnTo>
                  <a:lnTo>
                    <a:pt x="0" y="0"/>
                  </a:lnTo>
                  <a:close/>
                </a:path>
              </a:pathLst>
            </a:custGeom>
            <a:blipFill>
              <a:blip r:embed="rId2"/>
              <a:stretch>
                <a:fillRect r="-239"/>
              </a:stretch>
            </a:blipFill>
          </p:spPr>
        </p:sp>
      </p:grpSp>
      <p:grpSp>
        <p:nvGrpSpPr>
          <p:cNvPr id="4" name="Group 4"/>
          <p:cNvGrpSpPr/>
          <p:nvPr/>
        </p:nvGrpSpPr>
        <p:grpSpPr>
          <a:xfrm>
            <a:off x="0" y="0"/>
            <a:ext cx="15973425" cy="4859817"/>
            <a:chOff x="0" y="0"/>
            <a:chExt cx="21247100" cy="6464300"/>
          </a:xfrm>
        </p:grpSpPr>
        <p:sp>
          <p:nvSpPr>
            <p:cNvPr id="5" name="Freeform 5"/>
            <p:cNvSpPr/>
            <p:nvPr/>
          </p:nvSpPr>
          <p:spPr>
            <a:xfrm>
              <a:off x="0" y="0"/>
              <a:ext cx="21247100" cy="6464300"/>
            </a:xfrm>
            <a:custGeom>
              <a:avLst/>
              <a:gdLst/>
              <a:ahLst/>
              <a:cxnLst/>
              <a:rect l="l" t="t" r="r" b="b"/>
              <a:pathLst>
                <a:path w="21247100" h="6464300">
                  <a:moveTo>
                    <a:pt x="0" y="0"/>
                  </a:moveTo>
                  <a:lnTo>
                    <a:pt x="21247100" y="0"/>
                  </a:lnTo>
                  <a:lnTo>
                    <a:pt x="21247100" y="6464300"/>
                  </a:lnTo>
                  <a:lnTo>
                    <a:pt x="0" y="6464300"/>
                  </a:lnTo>
                  <a:lnTo>
                    <a:pt x="0" y="0"/>
                  </a:lnTo>
                  <a:close/>
                </a:path>
              </a:pathLst>
            </a:custGeom>
            <a:blipFill>
              <a:blip r:embed="rId3"/>
              <a:stretch>
                <a:fillRect r="-239"/>
              </a:stretch>
            </a:blipFill>
          </p:spPr>
        </p:sp>
      </p:grpSp>
      <p:grpSp>
        <p:nvGrpSpPr>
          <p:cNvPr id="6" name="Group 6"/>
          <p:cNvGrpSpPr/>
          <p:nvPr/>
        </p:nvGrpSpPr>
        <p:grpSpPr>
          <a:xfrm>
            <a:off x="-107994" y="4657725"/>
            <a:ext cx="16081419" cy="4286250"/>
            <a:chOff x="0" y="0"/>
            <a:chExt cx="21441891" cy="5715000"/>
          </a:xfrm>
        </p:grpSpPr>
        <p:sp>
          <p:nvSpPr>
            <p:cNvPr id="7" name="Freeform 7"/>
            <p:cNvSpPr/>
            <p:nvPr/>
          </p:nvSpPr>
          <p:spPr>
            <a:xfrm>
              <a:off x="0" y="0"/>
              <a:ext cx="21441891" cy="5715000"/>
            </a:xfrm>
            <a:custGeom>
              <a:avLst/>
              <a:gdLst/>
              <a:ahLst/>
              <a:cxnLst/>
              <a:rect l="l" t="t" r="r" b="b"/>
              <a:pathLst>
                <a:path w="21441891" h="5715000">
                  <a:moveTo>
                    <a:pt x="0" y="0"/>
                  </a:moveTo>
                  <a:lnTo>
                    <a:pt x="21441891" y="0"/>
                  </a:lnTo>
                  <a:lnTo>
                    <a:pt x="21441891" y="5715000"/>
                  </a:lnTo>
                  <a:lnTo>
                    <a:pt x="0" y="5715000"/>
                  </a:lnTo>
                  <a:lnTo>
                    <a:pt x="0" y="0"/>
                  </a:lnTo>
                  <a:close/>
                </a:path>
              </a:pathLst>
            </a:custGeom>
            <a:blipFill>
              <a:blip r:embed="rId4"/>
              <a:stretch>
                <a:fillRect t="-338" b="-338"/>
              </a:stretch>
            </a:blipFill>
          </p:spPr>
        </p:sp>
      </p:grpSp>
      <p:grpSp>
        <p:nvGrpSpPr>
          <p:cNvPr id="8" name="Group 8"/>
          <p:cNvGrpSpPr/>
          <p:nvPr/>
        </p:nvGrpSpPr>
        <p:grpSpPr>
          <a:xfrm>
            <a:off x="3990975" y="2038350"/>
            <a:ext cx="7991475" cy="200025"/>
            <a:chOff x="0" y="0"/>
            <a:chExt cx="10655300" cy="266700"/>
          </a:xfrm>
        </p:grpSpPr>
        <p:sp>
          <p:nvSpPr>
            <p:cNvPr id="9" name="Freeform 9"/>
            <p:cNvSpPr/>
            <p:nvPr/>
          </p:nvSpPr>
          <p:spPr>
            <a:xfrm>
              <a:off x="0" y="0"/>
              <a:ext cx="10655300" cy="266700"/>
            </a:xfrm>
            <a:custGeom>
              <a:avLst/>
              <a:gdLst/>
              <a:ahLst/>
              <a:cxnLst/>
              <a:rect l="l" t="t" r="r" b="b"/>
              <a:pathLst>
                <a:path w="10655300" h="266700">
                  <a:moveTo>
                    <a:pt x="0" y="0"/>
                  </a:moveTo>
                  <a:lnTo>
                    <a:pt x="10655300" y="0"/>
                  </a:lnTo>
                  <a:lnTo>
                    <a:pt x="10655300" y="266700"/>
                  </a:lnTo>
                  <a:lnTo>
                    <a:pt x="0" y="266700"/>
                  </a:lnTo>
                  <a:lnTo>
                    <a:pt x="0" y="0"/>
                  </a:lnTo>
                  <a:close/>
                </a:path>
              </a:pathLst>
            </a:custGeom>
            <a:blipFill>
              <a:blip r:embed="rId5"/>
              <a:stretch>
                <a:fillRect/>
              </a:stretch>
            </a:blipFill>
          </p:spPr>
        </p:sp>
      </p:grpSp>
      <p:grpSp>
        <p:nvGrpSpPr>
          <p:cNvPr id="10" name="Group 10"/>
          <p:cNvGrpSpPr/>
          <p:nvPr/>
        </p:nvGrpSpPr>
        <p:grpSpPr>
          <a:xfrm>
            <a:off x="3645370" y="3352800"/>
            <a:ext cx="2505075" cy="142875"/>
            <a:chOff x="0" y="0"/>
            <a:chExt cx="3340100" cy="190500"/>
          </a:xfrm>
        </p:grpSpPr>
        <p:sp>
          <p:nvSpPr>
            <p:cNvPr id="11" name="Freeform 11"/>
            <p:cNvSpPr/>
            <p:nvPr/>
          </p:nvSpPr>
          <p:spPr>
            <a:xfrm>
              <a:off x="0" y="0"/>
              <a:ext cx="3340100" cy="190500"/>
            </a:xfrm>
            <a:custGeom>
              <a:avLst/>
              <a:gdLst/>
              <a:ahLst/>
              <a:cxnLst/>
              <a:rect l="l" t="t" r="r" b="b"/>
              <a:pathLst>
                <a:path w="3340100" h="190500">
                  <a:moveTo>
                    <a:pt x="0" y="0"/>
                  </a:moveTo>
                  <a:lnTo>
                    <a:pt x="3340100" y="0"/>
                  </a:lnTo>
                  <a:lnTo>
                    <a:pt x="3340100" y="190500"/>
                  </a:lnTo>
                  <a:lnTo>
                    <a:pt x="0" y="190500"/>
                  </a:lnTo>
                  <a:lnTo>
                    <a:pt x="0" y="0"/>
                  </a:lnTo>
                  <a:close/>
                </a:path>
              </a:pathLst>
            </a:custGeom>
            <a:blipFill>
              <a:blip r:embed="rId6"/>
              <a:stretch>
                <a:fillRect t="-77433" b="-75899"/>
              </a:stretch>
            </a:blipFill>
          </p:spPr>
        </p:sp>
      </p:grpSp>
      <p:grpSp>
        <p:nvGrpSpPr>
          <p:cNvPr id="12" name="Group 12"/>
          <p:cNvGrpSpPr/>
          <p:nvPr/>
        </p:nvGrpSpPr>
        <p:grpSpPr>
          <a:xfrm>
            <a:off x="10821581" y="3352800"/>
            <a:ext cx="1133475" cy="142875"/>
            <a:chOff x="0" y="0"/>
            <a:chExt cx="1511300" cy="190500"/>
          </a:xfrm>
        </p:grpSpPr>
        <p:sp>
          <p:nvSpPr>
            <p:cNvPr id="13" name="Freeform 13"/>
            <p:cNvSpPr/>
            <p:nvPr/>
          </p:nvSpPr>
          <p:spPr>
            <a:xfrm>
              <a:off x="0" y="0"/>
              <a:ext cx="1511300" cy="190500"/>
            </a:xfrm>
            <a:custGeom>
              <a:avLst/>
              <a:gdLst/>
              <a:ahLst/>
              <a:cxnLst/>
              <a:rect l="l" t="t" r="r" b="b"/>
              <a:pathLst>
                <a:path w="1511300" h="190500">
                  <a:moveTo>
                    <a:pt x="0" y="0"/>
                  </a:moveTo>
                  <a:lnTo>
                    <a:pt x="1511300" y="0"/>
                  </a:lnTo>
                  <a:lnTo>
                    <a:pt x="1511300" y="190500"/>
                  </a:lnTo>
                  <a:lnTo>
                    <a:pt x="0" y="190500"/>
                  </a:lnTo>
                  <a:lnTo>
                    <a:pt x="0" y="0"/>
                  </a:lnTo>
                  <a:close/>
                </a:path>
              </a:pathLst>
            </a:custGeom>
            <a:blipFill>
              <a:blip r:embed="rId7"/>
              <a:stretch>
                <a:fillRect t="-31806" b="-1526"/>
              </a:stretch>
            </a:blipFill>
          </p:spPr>
        </p:sp>
      </p:grpSp>
      <p:grpSp>
        <p:nvGrpSpPr>
          <p:cNvPr id="14" name="Group 14"/>
          <p:cNvGrpSpPr/>
          <p:nvPr/>
        </p:nvGrpSpPr>
        <p:grpSpPr>
          <a:xfrm>
            <a:off x="561975" y="5210175"/>
            <a:ext cx="200025" cy="752475"/>
            <a:chOff x="0" y="0"/>
            <a:chExt cx="266700" cy="1003300"/>
          </a:xfrm>
        </p:grpSpPr>
        <p:sp>
          <p:nvSpPr>
            <p:cNvPr id="15" name="Freeform 15"/>
            <p:cNvSpPr/>
            <p:nvPr/>
          </p:nvSpPr>
          <p:spPr>
            <a:xfrm>
              <a:off x="0" y="0"/>
              <a:ext cx="266700" cy="1003300"/>
            </a:xfrm>
            <a:custGeom>
              <a:avLst/>
              <a:gdLst/>
              <a:ahLst/>
              <a:cxnLst/>
              <a:rect l="l" t="t" r="r" b="b"/>
              <a:pathLst>
                <a:path w="266700" h="1003300">
                  <a:moveTo>
                    <a:pt x="0" y="0"/>
                  </a:moveTo>
                  <a:lnTo>
                    <a:pt x="266700" y="0"/>
                  </a:lnTo>
                  <a:lnTo>
                    <a:pt x="266700" y="1003300"/>
                  </a:lnTo>
                  <a:lnTo>
                    <a:pt x="0" y="1003300"/>
                  </a:lnTo>
                  <a:lnTo>
                    <a:pt x="0" y="0"/>
                  </a:lnTo>
                  <a:close/>
                </a:path>
              </a:pathLst>
            </a:custGeom>
            <a:blipFill>
              <a:blip r:embed="rId8"/>
              <a:stretch>
                <a:fillRect/>
              </a:stretch>
            </a:blipFill>
          </p:spPr>
        </p:sp>
      </p:grpSp>
      <p:grpSp>
        <p:nvGrpSpPr>
          <p:cNvPr id="16" name="Group 16"/>
          <p:cNvGrpSpPr/>
          <p:nvPr/>
        </p:nvGrpSpPr>
        <p:grpSpPr>
          <a:xfrm>
            <a:off x="1133475" y="6134100"/>
            <a:ext cx="390525" cy="381000"/>
            <a:chOff x="0" y="0"/>
            <a:chExt cx="520700" cy="508000"/>
          </a:xfrm>
        </p:grpSpPr>
        <p:sp>
          <p:nvSpPr>
            <p:cNvPr id="17" name="Freeform 17"/>
            <p:cNvSpPr/>
            <p:nvPr/>
          </p:nvSpPr>
          <p:spPr>
            <a:xfrm>
              <a:off x="0" y="0"/>
              <a:ext cx="520700" cy="508000"/>
            </a:xfrm>
            <a:custGeom>
              <a:avLst/>
              <a:gdLst/>
              <a:ahLst/>
              <a:cxnLst/>
              <a:rect l="l" t="t" r="r" b="b"/>
              <a:pathLst>
                <a:path w="520700" h="508000">
                  <a:moveTo>
                    <a:pt x="0" y="0"/>
                  </a:moveTo>
                  <a:lnTo>
                    <a:pt x="520700" y="0"/>
                  </a:lnTo>
                  <a:lnTo>
                    <a:pt x="520700" y="508000"/>
                  </a:lnTo>
                  <a:lnTo>
                    <a:pt x="0" y="508000"/>
                  </a:lnTo>
                  <a:lnTo>
                    <a:pt x="0" y="0"/>
                  </a:lnTo>
                  <a:close/>
                </a:path>
              </a:pathLst>
            </a:custGeom>
            <a:blipFill>
              <a:blip r:embed="rId9"/>
              <a:stretch>
                <a:fillRect/>
              </a:stretch>
            </a:blipFill>
          </p:spPr>
        </p:sp>
      </p:grpSp>
      <p:grpSp>
        <p:nvGrpSpPr>
          <p:cNvPr id="18" name="Group 18"/>
          <p:cNvGrpSpPr/>
          <p:nvPr/>
        </p:nvGrpSpPr>
        <p:grpSpPr>
          <a:xfrm>
            <a:off x="1133475" y="6696075"/>
            <a:ext cx="390525" cy="381000"/>
            <a:chOff x="0" y="0"/>
            <a:chExt cx="520700" cy="508000"/>
          </a:xfrm>
        </p:grpSpPr>
        <p:sp>
          <p:nvSpPr>
            <p:cNvPr id="19" name="Freeform 19"/>
            <p:cNvSpPr/>
            <p:nvPr/>
          </p:nvSpPr>
          <p:spPr>
            <a:xfrm>
              <a:off x="0" y="0"/>
              <a:ext cx="520700" cy="508000"/>
            </a:xfrm>
            <a:custGeom>
              <a:avLst/>
              <a:gdLst/>
              <a:ahLst/>
              <a:cxnLst/>
              <a:rect l="l" t="t" r="r" b="b"/>
              <a:pathLst>
                <a:path w="520700" h="508000">
                  <a:moveTo>
                    <a:pt x="0" y="0"/>
                  </a:moveTo>
                  <a:lnTo>
                    <a:pt x="520700" y="0"/>
                  </a:lnTo>
                  <a:lnTo>
                    <a:pt x="520700" y="508000"/>
                  </a:lnTo>
                  <a:lnTo>
                    <a:pt x="0" y="508000"/>
                  </a:lnTo>
                  <a:lnTo>
                    <a:pt x="0" y="0"/>
                  </a:lnTo>
                  <a:close/>
                </a:path>
              </a:pathLst>
            </a:custGeom>
            <a:blipFill>
              <a:blip r:embed="rId10"/>
              <a:stretch>
                <a:fillRect/>
              </a:stretch>
            </a:blipFill>
          </p:spPr>
        </p:sp>
      </p:grpSp>
      <p:grpSp>
        <p:nvGrpSpPr>
          <p:cNvPr id="20" name="Group 20"/>
          <p:cNvGrpSpPr/>
          <p:nvPr/>
        </p:nvGrpSpPr>
        <p:grpSpPr>
          <a:xfrm>
            <a:off x="1133475" y="7258050"/>
            <a:ext cx="390525" cy="381000"/>
            <a:chOff x="0" y="0"/>
            <a:chExt cx="520700" cy="508000"/>
          </a:xfrm>
        </p:grpSpPr>
        <p:sp>
          <p:nvSpPr>
            <p:cNvPr id="21" name="Freeform 21"/>
            <p:cNvSpPr/>
            <p:nvPr/>
          </p:nvSpPr>
          <p:spPr>
            <a:xfrm>
              <a:off x="0" y="0"/>
              <a:ext cx="520700" cy="508000"/>
            </a:xfrm>
            <a:custGeom>
              <a:avLst/>
              <a:gdLst/>
              <a:ahLst/>
              <a:cxnLst/>
              <a:rect l="l" t="t" r="r" b="b"/>
              <a:pathLst>
                <a:path w="520700" h="508000">
                  <a:moveTo>
                    <a:pt x="0" y="0"/>
                  </a:moveTo>
                  <a:lnTo>
                    <a:pt x="520700" y="0"/>
                  </a:lnTo>
                  <a:lnTo>
                    <a:pt x="520700" y="508000"/>
                  </a:lnTo>
                  <a:lnTo>
                    <a:pt x="0" y="508000"/>
                  </a:lnTo>
                  <a:lnTo>
                    <a:pt x="0" y="0"/>
                  </a:lnTo>
                  <a:close/>
                </a:path>
              </a:pathLst>
            </a:custGeom>
            <a:blipFill>
              <a:blip r:embed="rId11"/>
              <a:stretch>
                <a:fillRect/>
              </a:stretch>
            </a:blipFill>
          </p:spPr>
        </p:sp>
      </p:grpSp>
      <p:grpSp>
        <p:nvGrpSpPr>
          <p:cNvPr id="22" name="Group 22"/>
          <p:cNvGrpSpPr/>
          <p:nvPr/>
        </p:nvGrpSpPr>
        <p:grpSpPr>
          <a:xfrm>
            <a:off x="13306425" y="5019675"/>
            <a:ext cx="2295525" cy="2247900"/>
            <a:chOff x="0" y="0"/>
            <a:chExt cx="3060700" cy="2997200"/>
          </a:xfrm>
        </p:grpSpPr>
        <p:sp>
          <p:nvSpPr>
            <p:cNvPr id="23" name="Freeform 23"/>
            <p:cNvSpPr/>
            <p:nvPr/>
          </p:nvSpPr>
          <p:spPr>
            <a:xfrm>
              <a:off x="0" y="0"/>
              <a:ext cx="3060700" cy="2997200"/>
            </a:xfrm>
            <a:custGeom>
              <a:avLst/>
              <a:gdLst/>
              <a:ahLst/>
              <a:cxnLst/>
              <a:rect l="l" t="t" r="r" b="b"/>
              <a:pathLst>
                <a:path w="3060700" h="2997200">
                  <a:moveTo>
                    <a:pt x="0" y="0"/>
                  </a:moveTo>
                  <a:lnTo>
                    <a:pt x="3060700" y="0"/>
                  </a:lnTo>
                  <a:lnTo>
                    <a:pt x="3060700" y="2997200"/>
                  </a:lnTo>
                  <a:lnTo>
                    <a:pt x="0" y="2997200"/>
                  </a:lnTo>
                  <a:lnTo>
                    <a:pt x="0" y="0"/>
                  </a:lnTo>
                  <a:close/>
                </a:path>
              </a:pathLst>
            </a:custGeom>
            <a:blipFill>
              <a:blip r:embed="rId12"/>
              <a:stretch>
                <a:fillRect/>
              </a:stretch>
            </a:blipFill>
          </p:spPr>
        </p:sp>
      </p:grpSp>
      <p:grpSp>
        <p:nvGrpSpPr>
          <p:cNvPr id="24" name="Group 24"/>
          <p:cNvGrpSpPr/>
          <p:nvPr/>
        </p:nvGrpSpPr>
        <p:grpSpPr>
          <a:xfrm>
            <a:off x="0" y="7258050"/>
            <a:ext cx="2095500" cy="1304925"/>
            <a:chOff x="0" y="0"/>
            <a:chExt cx="2794000" cy="1739900"/>
          </a:xfrm>
        </p:grpSpPr>
        <p:sp>
          <p:nvSpPr>
            <p:cNvPr id="25" name="Freeform 25"/>
            <p:cNvSpPr/>
            <p:nvPr/>
          </p:nvSpPr>
          <p:spPr>
            <a:xfrm>
              <a:off x="0" y="0"/>
              <a:ext cx="2794000" cy="1739900"/>
            </a:xfrm>
            <a:custGeom>
              <a:avLst/>
              <a:gdLst/>
              <a:ahLst/>
              <a:cxnLst/>
              <a:rect l="l" t="t" r="r" b="b"/>
              <a:pathLst>
                <a:path w="2794000" h="1739900">
                  <a:moveTo>
                    <a:pt x="0" y="0"/>
                  </a:moveTo>
                  <a:lnTo>
                    <a:pt x="2794000" y="0"/>
                  </a:lnTo>
                  <a:lnTo>
                    <a:pt x="2794000" y="1739900"/>
                  </a:lnTo>
                  <a:lnTo>
                    <a:pt x="0" y="1739900"/>
                  </a:lnTo>
                  <a:lnTo>
                    <a:pt x="0" y="0"/>
                  </a:lnTo>
                  <a:close/>
                </a:path>
              </a:pathLst>
            </a:custGeom>
            <a:blipFill>
              <a:blip r:embed="rId13"/>
              <a:stretch>
                <a:fillRect/>
              </a:stretch>
            </a:blipFill>
          </p:spPr>
        </p:sp>
      </p:grpSp>
      <p:grpSp>
        <p:nvGrpSpPr>
          <p:cNvPr id="26" name="Group 26"/>
          <p:cNvGrpSpPr/>
          <p:nvPr/>
        </p:nvGrpSpPr>
        <p:grpSpPr>
          <a:xfrm>
            <a:off x="1895475" y="8181975"/>
            <a:ext cx="11991975" cy="381000"/>
            <a:chOff x="0" y="0"/>
            <a:chExt cx="15989300" cy="508000"/>
          </a:xfrm>
        </p:grpSpPr>
        <p:sp>
          <p:nvSpPr>
            <p:cNvPr id="27" name="Freeform 27"/>
            <p:cNvSpPr/>
            <p:nvPr/>
          </p:nvSpPr>
          <p:spPr>
            <a:xfrm>
              <a:off x="0" y="0"/>
              <a:ext cx="15989300" cy="508000"/>
            </a:xfrm>
            <a:custGeom>
              <a:avLst/>
              <a:gdLst/>
              <a:ahLst/>
              <a:cxnLst/>
              <a:rect l="l" t="t" r="r" b="b"/>
              <a:pathLst>
                <a:path w="15989300" h="508000">
                  <a:moveTo>
                    <a:pt x="0" y="0"/>
                  </a:moveTo>
                  <a:lnTo>
                    <a:pt x="15989300" y="0"/>
                  </a:lnTo>
                  <a:lnTo>
                    <a:pt x="15989300" y="508000"/>
                  </a:lnTo>
                  <a:lnTo>
                    <a:pt x="0" y="508000"/>
                  </a:lnTo>
                  <a:lnTo>
                    <a:pt x="0" y="0"/>
                  </a:lnTo>
                  <a:close/>
                </a:path>
              </a:pathLst>
            </a:custGeom>
            <a:blipFill>
              <a:blip r:embed="rId14"/>
              <a:stretch>
                <a:fillRect/>
              </a:stretch>
            </a:blipFill>
          </p:spPr>
        </p:sp>
      </p:grpSp>
      <p:grpSp>
        <p:nvGrpSpPr>
          <p:cNvPr id="28" name="Group 28"/>
          <p:cNvGrpSpPr/>
          <p:nvPr/>
        </p:nvGrpSpPr>
        <p:grpSpPr>
          <a:xfrm>
            <a:off x="13687425" y="8001000"/>
            <a:ext cx="2286000" cy="561975"/>
            <a:chOff x="0" y="0"/>
            <a:chExt cx="3048000" cy="749300"/>
          </a:xfrm>
        </p:grpSpPr>
        <p:sp>
          <p:nvSpPr>
            <p:cNvPr id="29" name="Freeform 29"/>
            <p:cNvSpPr/>
            <p:nvPr/>
          </p:nvSpPr>
          <p:spPr>
            <a:xfrm>
              <a:off x="0" y="0"/>
              <a:ext cx="3048000" cy="749300"/>
            </a:xfrm>
            <a:custGeom>
              <a:avLst/>
              <a:gdLst/>
              <a:ahLst/>
              <a:cxnLst/>
              <a:rect l="l" t="t" r="r" b="b"/>
              <a:pathLst>
                <a:path w="3048000" h="749300">
                  <a:moveTo>
                    <a:pt x="0" y="0"/>
                  </a:moveTo>
                  <a:lnTo>
                    <a:pt x="3048000" y="0"/>
                  </a:lnTo>
                  <a:lnTo>
                    <a:pt x="3048000" y="749300"/>
                  </a:lnTo>
                  <a:lnTo>
                    <a:pt x="0" y="749300"/>
                  </a:lnTo>
                  <a:lnTo>
                    <a:pt x="0" y="0"/>
                  </a:lnTo>
                  <a:close/>
                </a:path>
              </a:pathLst>
            </a:custGeom>
            <a:blipFill>
              <a:blip r:embed="rId15"/>
              <a:stretch>
                <a:fillRect/>
              </a:stretch>
            </a:blipFill>
          </p:spPr>
        </p:sp>
      </p:grpSp>
      <p:grpSp>
        <p:nvGrpSpPr>
          <p:cNvPr id="30" name="Group 30"/>
          <p:cNvGrpSpPr/>
          <p:nvPr/>
        </p:nvGrpSpPr>
        <p:grpSpPr>
          <a:xfrm>
            <a:off x="14449425" y="4467225"/>
            <a:ext cx="962025" cy="190500"/>
            <a:chOff x="0" y="0"/>
            <a:chExt cx="1282700" cy="254000"/>
          </a:xfrm>
        </p:grpSpPr>
        <p:sp>
          <p:nvSpPr>
            <p:cNvPr id="31" name="Freeform 31"/>
            <p:cNvSpPr/>
            <p:nvPr/>
          </p:nvSpPr>
          <p:spPr>
            <a:xfrm>
              <a:off x="0" y="0"/>
              <a:ext cx="1282700" cy="254000"/>
            </a:xfrm>
            <a:custGeom>
              <a:avLst/>
              <a:gdLst/>
              <a:ahLst/>
              <a:cxnLst/>
              <a:rect l="l" t="t" r="r" b="b"/>
              <a:pathLst>
                <a:path w="1282700" h="254000">
                  <a:moveTo>
                    <a:pt x="0" y="0"/>
                  </a:moveTo>
                  <a:lnTo>
                    <a:pt x="1282700" y="0"/>
                  </a:lnTo>
                  <a:lnTo>
                    <a:pt x="1282700" y="254000"/>
                  </a:lnTo>
                  <a:lnTo>
                    <a:pt x="0" y="254000"/>
                  </a:lnTo>
                  <a:lnTo>
                    <a:pt x="0" y="0"/>
                  </a:lnTo>
                  <a:close/>
                </a:path>
              </a:pathLst>
            </a:custGeom>
            <a:blipFill>
              <a:blip r:embed="rId16"/>
              <a:stretch>
                <a:fillRect/>
              </a:stretch>
            </a:blipFill>
          </p:spPr>
        </p:sp>
      </p:grpSp>
      <p:grpSp>
        <p:nvGrpSpPr>
          <p:cNvPr id="32" name="Group 32"/>
          <p:cNvGrpSpPr/>
          <p:nvPr/>
        </p:nvGrpSpPr>
        <p:grpSpPr>
          <a:xfrm>
            <a:off x="842867" y="34623"/>
            <a:ext cx="1933575" cy="828675"/>
            <a:chOff x="0" y="0"/>
            <a:chExt cx="2578100" cy="1104900"/>
          </a:xfrm>
        </p:grpSpPr>
        <p:sp>
          <p:nvSpPr>
            <p:cNvPr id="33" name="Freeform 33"/>
            <p:cNvSpPr/>
            <p:nvPr/>
          </p:nvSpPr>
          <p:spPr>
            <a:xfrm>
              <a:off x="0" y="0"/>
              <a:ext cx="2578100" cy="1104900"/>
            </a:xfrm>
            <a:custGeom>
              <a:avLst/>
              <a:gdLst/>
              <a:ahLst/>
              <a:cxnLst/>
              <a:rect l="l" t="t" r="r" b="b"/>
              <a:pathLst>
                <a:path w="2578100" h="1104900">
                  <a:moveTo>
                    <a:pt x="0" y="0"/>
                  </a:moveTo>
                  <a:lnTo>
                    <a:pt x="2578100" y="0"/>
                  </a:lnTo>
                  <a:lnTo>
                    <a:pt x="2578100" y="1104900"/>
                  </a:lnTo>
                  <a:lnTo>
                    <a:pt x="0" y="1104900"/>
                  </a:lnTo>
                  <a:lnTo>
                    <a:pt x="0" y="0"/>
                  </a:lnTo>
                  <a:close/>
                </a:path>
              </a:pathLst>
            </a:custGeom>
            <a:blipFill>
              <a:blip r:embed="rId17"/>
              <a:stretch>
                <a:fillRect l="-2137" t="-27513" r="-4759" b="-42601"/>
              </a:stretch>
            </a:blipFill>
          </p:spPr>
        </p:sp>
      </p:grpSp>
      <p:grpSp>
        <p:nvGrpSpPr>
          <p:cNvPr id="34" name="Group 34"/>
          <p:cNvGrpSpPr/>
          <p:nvPr/>
        </p:nvGrpSpPr>
        <p:grpSpPr>
          <a:xfrm>
            <a:off x="0" y="27851"/>
            <a:ext cx="590550" cy="828675"/>
            <a:chOff x="0" y="0"/>
            <a:chExt cx="787400" cy="1104900"/>
          </a:xfrm>
        </p:grpSpPr>
        <p:sp>
          <p:nvSpPr>
            <p:cNvPr id="35" name="Freeform 35"/>
            <p:cNvSpPr/>
            <p:nvPr/>
          </p:nvSpPr>
          <p:spPr>
            <a:xfrm>
              <a:off x="0" y="0"/>
              <a:ext cx="787400" cy="1104900"/>
            </a:xfrm>
            <a:custGeom>
              <a:avLst/>
              <a:gdLst/>
              <a:ahLst/>
              <a:cxnLst/>
              <a:rect l="l" t="t" r="r" b="b"/>
              <a:pathLst>
                <a:path w="787400" h="1104900">
                  <a:moveTo>
                    <a:pt x="0" y="0"/>
                  </a:moveTo>
                  <a:lnTo>
                    <a:pt x="787400" y="0"/>
                  </a:lnTo>
                  <a:lnTo>
                    <a:pt x="787400" y="1104900"/>
                  </a:lnTo>
                  <a:lnTo>
                    <a:pt x="0" y="1104900"/>
                  </a:lnTo>
                  <a:lnTo>
                    <a:pt x="0" y="0"/>
                  </a:lnTo>
                  <a:close/>
                </a:path>
              </a:pathLst>
            </a:custGeom>
            <a:blipFill>
              <a:blip r:embed="rId18"/>
              <a:stretch>
                <a:fillRect/>
              </a:stretch>
            </a:blipFill>
          </p:spPr>
        </p:sp>
      </p:grpSp>
      <p:sp>
        <p:nvSpPr>
          <p:cNvPr id="36" name="Freeform 36"/>
          <p:cNvSpPr/>
          <p:nvPr/>
        </p:nvSpPr>
        <p:spPr>
          <a:xfrm>
            <a:off x="757990" y="68456"/>
            <a:ext cx="28575" cy="824970"/>
          </a:xfrm>
          <a:custGeom>
            <a:avLst/>
            <a:gdLst/>
            <a:ahLst/>
            <a:cxnLst/>
            <a:rect l="l" t="t" r="r" b="b"/>
            <a:pathLst>
              <a:path w="28575" h="824970">
                <a:moveTo>
                  <a:pt x="0" y="0"/>
                </a:moveTo>
                <a:lnTo>
                  <a:pt x="28575" y="0"/>
                </a:lnTo>
                <a:lnTo>
                  <a:pt x="28575" y="824970"/>
                </a:lnTo>
                <a:lnTo>
                  <a:pt x="0" y="824970"/>
                </a:lnTo>
                <a:lnTo>
                  <a:pt x="0" y="0"/>
                </a:lnTo>
                <a:close/>
              </a:path>
            </a:pathLst>
          </a:custGeom>
          <a:blipFill>
            <a:blip>
              <a:extLst>
                <a:ext uri="{96DAC541-7B7A-43D3-8B79-37D633B846F1}">
                  <asvg:svgBlip xmlns:asvg="http://schemas.microsoft.com/office/drawing/2016/SVG/main" r:embed="rId19"/>
                </a:ext>
              </a:extLst>
            </a:blip>
            <a:stretch>
              <a:fillRect/>
            </a:stretch>
          </a:blipFill>
        </p:spPr>
      </p:sp>
      <p:grpSp>
        <p:nvGrpSpPr>
          <p:cNvPr id="37" name="Group 37"/>
          <p:cNvGrpSpPr/>
          <p:nvPr/>
        </p:nvGrpSpPr>
        <p:grpSpPr>
          <a:xfrm>
            <a:off x="14064891" y="76733"/>
            <a:ext cx="1819275" cy="1038225"/>
            <a:chOff x="0" y="0"/>
            <a:chExt cx="2425700" cy="1384300"/>
          </a:xfrm>
        </p:grpSpPr>
        <p:sp>
          <p:nvSpPr>
            <p:cNvPr id="38" name="Freeform 38"/>
            <p:cNvSpPr/>
            <p:nvPr/>
          </p:nvSpPr>
          <p:spPr>
            <a:xfrm>
              <a:off x="0" y="0"/>
              <a:ext cx="2425700" cy="1384300"/>
            </a:xfrm>
            <a:custGeom>
              <a:avLst/>
              <a:gdLst/>
              <a:ahLst/>
              <a:cxnLst/>
              <a:rect l="l" t="t" r="r" b="b"/>
              <a:pathLst>
                <a:path w="2425700" h="1384300">
                  <a:moveTo>
                    <a:pt x="0" y="0"/>
                  </a:moveTo>
                  <a:lnTo>
                    <a:pt x="2425700" y="0"/>
                  </a:lnTo>
                  <a:lnTo>
                    <a:pt x="2425700" y="1384300"/>
                  </a:lnTo>
                  <a:lnTo>
                    <a:pt x="0" y="1384300"/>
                  </a:lnTo>
                  <a:lnTo>
                    <a:pt x="0" y="0"/>
                  </a:lnTo>
                  <a:close/>
                </a:path>
              </a:pathLst>
            </a:custGeom>
            <a:blipFill>
              <a:blip r:embed="rId20"/>
              <a:stretch>
                <a:fillRect/>
              </a:stretch>
            </a:blipFill>
          </p:spPr>
        </p:sp>
      </p:grpSp>
      <p:grpSp>
        <p:nvGrpSpPr>
          <p:cNvPr id="39" name="Group 39"/>
          <p:cNvGrpSpPr/>
          <p:nvPr/>
        </p:nvGrpSpPr>
        <p:grpSpPr>
          <a:xfrm>
            <a:off x="6135624" y="3749040"/>
            <a:ext cx="1630680" cy="579120"/>
            <a:chOff x="0" y="0"/>
            <a:chExt cx="2174240" cy="772160"/>
          </a:xfrm>
        </p:grpSpPr>
        <p:sp>
          <p:nvSpPr>
            <p:cNvPr id="40" name="Freeform 40"/>
            <p:cNvSpPr/>
            <p:nvPr/>
          </p:nvSpPr>
          <p:spPr>
            <a:xfrm>
              <a:off x="0" y="0"/>
              <a:ext cx="2174240" cy="772160"/>
            </a:xfrm>
            <a:custGeom>
              <a:avLst/>
              <a:gdLst/>
              <a:ahLst/>
              <a:cxnLst/>
              <a:rect l="l" t="t" r="r" b="b"/>
              <a:pathLst>
                <a:path w="2174240" h="772160">
                  <a:moveTo>
                    <a:pt x="0" y="0"/>
                  </a:moveTo>
                  <a:lnTo>
                    <a:pt x="2174240" y="0"/>
                  </a:lnTo>
                  <a:lnTo>
                    <a:pt x="2174240" y="772160"/>
                  </a:lnTo>
                  <a:lnTo>
                    <a:pt x="0" y="772160"/>
                  </a:lnTo>
                  <a:lnTo>
                    <a:pt x="0" y="0"/>
                  </a:lnTo>
                  <a:close/>
                </a:path>
              </a:pathLst>
            </a:custGeom>
            <a:blipFill>
              <a:blip r:embed="rId21">
                <a:alphaModFix amt="75000"/>
              </a:blip>
              <a:stretch>
                <a:fillRect l="-186" r="-186"/>
              </a:stretch>
            </a:blipFill>
          </p:spPr>
        </p:sp>
      </p:grpSp>
      <p:grpSp>
        <p:nvGrpSpPr>
          <p:cNvPr id="41" name="Group 41"/>
          <p:cNvGrpSpPr/>
          <p:nvPr/>
        </p:nvGrpSpPr>
        <p:grpSpPr>
          <a:xfrm>
            <a:off x="7898482" y="3863797"/>
            <a:ext cx="1304925" cy="371475"/>
            <a:chOff x="0" y="0"/>
            <a:chExt cx="1739900" cy="495300"/>
          </a:xfrm>
        </p:grpSpPr>
        <p:sp>
          <p:nvSpPr>
            <p:cNvPr id="42" name="Freeform 42"/>
            <p:cNvSpPr/>
            <p:nvPr/>
          </p:nvSpPr>
          <p:spPr>
            <a:xfrm>
              <a:off x="0" y="0"/>
              <a:ext cx="1739900" cy="495300"/>
            </a:xfrm>
            <a:custGeom>
              <a:avLst/>
              <a:gdLst/>
              <a:ahLst/>
              <a:cxnLst/>
              <a:rect l="l" t="t" r="r" b="b"/>
              <a:pathLst>
                <a:path w="1739900" h="495300">
                  <a:moveTo>
                    <a:pt x="0" y="0"/>
                  </a:moveTo>
                  <a:lnTo>
                    <a:pt x="1739900" y="0"/>
                  </a:lnTo>
                  <a:lnTo>
                    <a:pt x="1739900" y="495300"/>
                  </a:lnTo>
                  <a:lnTo>
                    <a:pt x="0" y="495300"/>
                  </a:lnTo>
                  <a:lnTo>
                    <a:pt x="0" y="0"/>
                  </a:lnTo>
                  <a:close/>
                </a:path>
              </a:pathLst>
            </a:custGeom>
            <a:blipFill>
              <a:blip r:embed="rId22"/>
              <a:stretch>
                <a:fillRect/>
              </a:stretch>
            </a:blipFill>
          </p:spPr>
        </p:sp>
      </p:grpSp>
      <p:grpSp>
        <p:nvGrpSpPr>
          <p:cNvPr id="43" name="Group 43"/>
          <p:cNvGrpSpPr/>
          <p:nvPr/>
        </p:nvGrpSpPr>
        <p:grpSpPr>
          <a:xfrm>
            <a:off x="758000" y="68475"/>
            <a:ext cx="28575" cy="824970"/>
            <a:chOff x="0" y="0"/>
            <a:chExt cx="28575" cy="824979"/>
          </a:xfrm>
        </p:grpSpPr>
        <p:sp>
          <p:nvSpPr>
            <p:cNvPr id="44" name="Freeform 44"/>
            <p:cNvSpPr/>
            <p:nvPr/>
          </p:nvSpPr>
          <p:spPr>
            <a:xfrm>
              <a:off x="0" y="0"/>
              <a:ext cx="28575" cy="824997"/>
            </a:xfrm>
            <a:custGeom>
              <a:avLst/>
              <a:gdLst/>
              <a:ahLst/>
              <a:cxnLst/>
              <a:rect l="l" t="t" r="r" b="b"/>
              <a:pathLst>
                <a:path w="28575" h="824997">
                  <a:moveTo>
                    <a:pt x="0" y="824997"/>
                  </a:moveTo>
                  <a:lnTo>
                    <a:pt x="28575" y="824997"/>
                  </a:lnTo>
                  <a:lnTo>
                    <a:pt x="28575" y="0"/>
                  </a:lnTo>
                  <a:lnTo>
                    <a:pt x="0" y="0"/>
                  </a:lnTo>
                  <a:close/>
                </a:path>
              </a:pathLst>
            </a:custGeom>
            <a:solidFill>
              <a:srgbClr val="000000">
                <a:alpha val="0"/>
              </a:srgbClr>
            </a:solidFill>
          </p:spPr>
        </p:sp>
      </p:grpSp>
      <p:sp>
        <p:nvSpPr>
          <p:cNvPr id="45" name="TextBox 45"/>
          <p:cNvSpPr txBox="1"/>
          <p:nvPr/>
        </p:nvSpPr>
        <p:spPr>
          <a:xfrm>
            <a:off x="4593616" y="2019633"/>
            <a:ext cx="6678197" cy="1729902"/>
          </a:xfrm>
          <a:prstGeom prst="rect">
            <a:avLst/>
          </a:prstGeom>
        </p:spPr>
        <p:txBody>
          <a:bodyPr lIns="0" tIns="0" rIns="0" bIns="0" rtlCol="0" anchor="t">
            <a:spAutoFit/>
          </a:bodyPr>
          <a:lstStyle/>
          <a:p>
            <a:pPr algn="l">
              <a:lnSpc>
                <a:spcPts val="11925"/>
              </a:lnSpc>
            </a:pPr>
            <a:r>
              <a:rPr lang="en-US" sz="8518" b="1" i="1" dirty="0">
                <a:solidFill>
                  <a:srgbClr val="7ED957"/>
                </a:solidFill>
                <a:latin typeface="Jaturat Bold Italics"/>
                <a:ea typeface="Jaturat Bold Italics"/>
                <a:cs typeface="Jaturat Bold Italics"/>
                <a:sym typeface="Jaturat Bold Italics"/>
              </a:rPr>
              <a:t>CODE APEX</a:t>
            </a:r>
          </a:p>
        </p:txBody>
      </p:sp>
      <p:sp>
        <p:nvSpPr>
          <p:cNvPr id="46" name="TextBox 46"/>
          <p:cNvSpPr txBox="1"/>
          <p:nvPr/>
        </p:nvSpPr>
        <p:spPr>
          <a:xfrm>
            <a:off x="6283166" y="3200771"/>
            <a:ext cx="4569152" cy="1022061"/>
          </a:xfrm>
          <a:prstGeom prst="rect">
            <a:avLst/>
          </a:prstGeom>
        </p:spPr>
        <p:txBody>
          <a:bodyPr lIns="0" tIns="0" rIns="0" bIns="0" rtlCol="0" anchor="t">
            <a:spAutoFit/>
          </a:bodyPr>
          <a:lstStyle/>
          <a:p>
            <a:pPr algn="l">
              <a:lnSpc>
                <a:spcPts val="3320"/>
              </a:lnSpc>
            </a:pPr>
            <a:r>
              <a:rPr lang="en-US" sz="2371">
                <a:solidFill>
                  <a:srgbClr val="4AF66D"/>
                </a:solidFill>
                <a:latin typeface="Bank Gothic Medium"/>
                <a:ea typeface="Bank Gothic Medium"/>
                <a:cs typeface="Bank Gothic Medium"/>
                <a:sym typeface="Bank Gothic Medium"/>
              </a:rPr>
              <a:t>THE END IS COMING.</a:t>
            </a:r>
          </a:p>
        </p:txBody>
      </p:sp>
      <p:sp>
        <p:nvSpPr>
          <p:cNvPr id="47" name="TextBox 47"/>
          <p:cNvSpPr txBox="1"/>
          <p:nvPr/>
        </p:nvSpPr>
        <p:spPr>
          <a:xfrm>
            <a:off x="1677210" y="6148607"/>
            <a:ext cx="10277846" cy="1362894"/>
          </a:xfrm>
          <a:prstGeom prst="rect">
            <a:avLst/>
          </a:prstGeom>
        </p:spPr>
        <p:txBody>
          <a:bodyPr lIns="0" tIns="0" rIns="0" bIns="0" rtlCol="0" anchor="t">
            <a:spAutoFit/>
          </a:bodyPr>
          <a:lstStyle/>
          <a:p>
            <a:pPr algn="l">
              <a:lnSpc>
                <a:spcPts val="3629"/>
              </a:lnSpc>
            </a:pPr>
            <a:r>
              <a:rPr lang="en-US" sz="2592">
                <a:solidFill>
                  <a:srgbClr val="FFFFFF"/>
                </a:solidFill>
                <a:latin typeface="Bank Gothic Medium"/>
                <a:ea typeface="Bank Gothic Medium"/>
                <a:cs typeface="Bank Gothic Medium"/>
                <a:sym typeface="Bank Gothic Medium"/>
              </a:rPr>
              <a:t>Team name - </a:t>
            </a:r>
            <a:r>
              <a:rPr lang="en-US" sz="2592">
                <a:solidFill>
                  <a:srgbClr val="FFFFFF"/>
                </a:solidFill>
                <a:latin typeface="Bank Gothic Light"/>
                <a:ea typeface="Bank Gothic Light"/>
                <a:cs typeface="Bank Gothic Light"/>
                <a:sym typeface="Bank Gothic Light"/>
              </a:rPr>
              <a:t>Byte Flash</a:t>
            </a:r>
          </a:p>
          <a:p>
            <a:pPr algn="l">
              <a:lnSpc>
                <a:spcPts val="3629"/>
              </a:lnSpc>
            </a:pPr>
            <a:r>
              <a:rPr lang="en-US" sz="2592">
                <a:solidFill>
                  <a:srgbClr val="FFFFFF"/>
                </a:solidFill>
                <a:latin typeface="Bank Gothic Medium"/>
                <a:ea typeface="Bank Gothic Medium"/>
                <a:cs typeface="Bank Gothic Medium"/>
                <a:sym typeface="Bank Gothic Medium"/>
              </a:rPr>
              <a:t>Team leader Name - Om Avinash Watane</a:t>
            </a:r>
          </a:p>
          <a:p>
            <a:pPr algn="l">
              <a:lnSpc>
                <a:spcPts val="3629"/>
              </a:lnSpc>
            </a:pPr>
            <a:r>
              <a:rPr lang="en-US" sz="2592">
                <a:solidFill>
                  <a:srgbClr val="FFFFFF"/>
                </a:solidFill>
                <a:latin typeface="Bank Gothic Medium"/>
                <a:ea typeface="Bank Gothic Medium"/>
                <a:cs typeface="Bank Gothic Medium"/>
                <a:sym typeface="Bank Gothic Medium"/>
              </a:rPr>
              <a:t>Problem Statement (Domain) - Open Innovation</a:t>
            </a:r>
          </a:p>
        </p:txBody>
      </p:sp>
      <p:sp>
        <p:nvSpPr>
          <p:cNvPr id="48" name="TextBox 48"/>
          <p:cNvSpPr txBox="1"/>
          <p:nvPr/>
        </p:nvSpPr>
        <p:spPr>
          <a:xfrm>
            <a:off x="958406" y="5238274"/>
            <a:ext cx="3906231" cy="710708"/>
          </a:xfrm>
          <a:prstGeom prst="rect">
            <a:avLst/>
          </a:prstGeom>
        </p:spPr>
        <p:txBody>
          <a:bodyPr lIns="0" tIns="0" rIns="0" bIns="0" rtlCol="0" anchor="t">
            <a:spAutoFit/>
          </a:bodyPr>
          <a:lstStyle/>
          <a:p>
            <a:pPr algn="l">
              <a:lnSpc>
                <a:spcPts val="5840"/>
              </a:lnSpc>
            </a:pPr>
            <a:r>
              <a:rPr lang="en-US" sz="4171">
                <a:solidFill>
                  <a:srgbClr val="4AF66D"/>
                </a:solidFill>
                <a:latin typeface="Bank Gothic Medium"/>
                <a:ea typeface="Bank Gothic Medium"/>
                <a:cs typeface="Bank Gothic Medium"/>
                <a:sym typeface="Bank Gothic Medium"/>
              </a:rPr>
              <a:t>Team Details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3926"/>
            <a:ext cx="15973425" cy="8906599"/>
            <a:chOff x="0" y="0"/>
            <a:chExt cx="21297900" cy="11875465"/>
          </a:xfrm>
        </p:grpSpPr>
        <p:sp>
          <p:nvSpPr>
            <p:cNvPr id="3" name="Freeform 3"/>
            <p:cNvSpPr/>
            <p:nvPr/>
          </p:nvSpPr>
          <p:spPr>
            <a:xfrm>
              <a:off x="0" y="0"/>
              <a:ext cx="21297861" cy="11875516"/>
            </a:xfrm>
            <a:custGeom>
              <a:avLst/>
              <a:gdLst/>
              <a:ahLst/>
              <a:cxnLst/>
              <a:rect l="l" t="t" r="r" b="b"/>
              <a:pathLst>
                <a:path w="21297861" h="11875516">
                  <a:moveTo>
                    <a:pt x="0" y="0"/>
                  </a:moveTo>
                  <a:lnTo>
                    <a:pt x="21297861" y="0"/>
                  </a:lnTo>
                  <a:lnTo>
                    <a:pt x="21297861" y="11875516"/>
                  </a:lnTo>
                  <a:lnTo>
                    <a:pt x="0" y="11875516"/>
                  </a:lnTo>
                  <a:lnTo>
                    <a:pt x="0" y="0"/>
                  </a:lnTo>
                  <a:close/>
                </a:path>
              </a:pathLst>
            </a:custGeom>
            <a:blipFill>
              <a:blip r:embed="rId2"/>
              <a:stretch>
                <a:fillRect t="-241" r="-129" b="-823"/>
              </a:stretch>
            </a:blipFill>
          </p:spPr>
        </p:sp>
      </p:grpSp>
      <p:grpSp>
        <p:nvGrpSpPr>
          <p:cNvPr id="4" name="Group 4"/>
          <p:cNvGrpSpPr/>
          <p:nvPr/>
        </p:nvGrpSpPr>
        <p:grpSpPr>
          <a:xfrm>
            <a:off x="12170102" y="1675790"/>
            <a:ext cx="3800475" cy="4486275"/>
            <a:chOff x="0" y="0"/>
            <a:chExt cx="5067300" cy="5981700"/>
          </a:xfrm>
        </p:grpSpPr>
        <p:sp>
          <p:nvSpPr>
            <p:cNvPr id="5" name="Freeform 5"/>
            <p:cNvSpPr/>
            <p:nvPr/>
          </p:nvSpPr>
          <p:spPr>
            <a:xfrm>
              <a:off x="0" y="0"/>
              <a:ext cx="5067300" cy="5981700"/>
            </a:xfrm>
            <a:custGeom>
              <a:avLst/>
              <a:gdLst/>
              <a:ahLst/>
              <a:cxnLst/>
              <a:rect l="l" t="t" r="r" b="b"/>
              <a:pathLst>
                <a:path w="5067300" h="5981700">
                  <a:moveTo>
                    <a:pt x="0" y="0"/>
                  </a:moveTo>
                  <a:lnTo>
                    <a:pt x="5067300" y="0"/>
                  </a:lnTo>
                  <a:lnTo>
                    <a:pt x="5067300" y="5981700"/>
                  </a:lnTo>
                  <a:lnTo>
                    <a:pt x="0" y="5981700"/>
                  </a:lnTo>
                  <a:lnTo>
                    <a:pt x="0" y="0"/>
                  </a:lnTo>
                  <a:close/>
                </a:path>
              </a:pathLst>
            </a:custGeom>
            <a:blipFill>
              <a:blip r:embed="rId3"/>
              <a:stretch>
                <a:fillRect/>
              </a:stretch>
            </a:blipFill>
          </p:spPr>
        </p:sp>
      </p:grpSp>
      <p:grpSp>
        <p:nvGrpSpPr>
          <p:cNvPr id="6" name="Group 6"/>
          <p:cNvGrpSpPr/>
          <p:nvPr/>
        </p:nvGrpSpPr>
        <p:grpSpPr>
          <a:xfrm>
            <a:off x="49216" y="1114015"/>
            <a:ext cx="15916275" cy="200025"/>
            <a:chOff x="0" y="0"/>
            <a:chExt cx="21221700" cy="266700"/>
          </a:xfrm>
        </p:grpSpPr>
        <p:sp>
          <p:nvSpPr>
            <p:cNvPr id="7" name="Freeform 7"/>
            <p:cNvSpPr/>
            <p:nvPr/>
          </p:nvSpPr>
          <p:spPr>
            <a:xfrm>
              <a:off x="0" y="0"/>
              <a:ext cx="21221700" cy="266700"/>
            </a:xfrm>
            <a:custGeom>
              <a:avLst/>
              <a:gdLst/>
              <a:ahLst/>
              <a:cxnLst/>
              <a:rect l="l" t="t" r="r" b="b"/>
              <a:pathLst>
                <a:path w="21221700" h="266700">
                  <a:moveTo>
                    <a:pt x="0" y="0"/>
                  </a:moveTo>
                  <a:lnTo>
                    <a:pt x="21221700" y="0"/>
                  </a:lnTo>
                  <a:lnTo>
                    <a:pt x="21221700" y="266700"/>
                  </a:lnTo>
                  <a:lnTo>
                    <a:pt x="0" y="266700"/>
                  </a:lnTo>
                  <a:lnTo>
                    <a:pt x="0" y="0"/>
                  </a:lnTo>
                  <a:close/>
                </a:path>
              </a:pathLst>
            </a:custGeom>
            <a:blipFill>
              <a:blip r:embed="rId4">
                <a:alphaModFix amt="62000"/>
              </a:blip>
              <a:stretch>
                <a:fillRect/>
              </a:stretch>
            </a:blipFill>
          </p:spPr>
        </p:sp>
      </p:grpSp>
      <p:grpSp>
        <p:nvGrpSpPr>
          <p:cNvPr id="8" name="Group 8"/>
          <p:cNvGrpSpPr/>
          <p:nvPr/>
        </p:nvGrpSpPr>
        <p:grpSpPr>
          <a:xfrm>
            <a:off x="68266" y="1214028"/>
            <a:ext cx="3609975" cy="561975"/>
            <a:chOff x="0" y="0"/>
            <a:chExt cx="4813300" cy="749300"/>
          </a:xfrm>
        </p:grpSpPr>
        <p:sp>
          <p:nvSpPr>
            <p:cNvPr id="9" name="Freeform 9"/>
            <p:cNvSpPr/>
            <p:nvPr/>
          </p:nvSpPr>
          <p:spPr>
            <a:xfrm>
              <a:off x="0" y="0"/>
              <a:ext cx="4813300" cy="749300"/>
            </a:xfrm>
            <a:custGeom>
              <a:avLst/>
              <a:gdLst/>
              <a:ahLst/>
              <a:cxnLst/>
              <a:rect l="l" t="t" r="r" b="b"/>
              <a:pathLst>
                <a:path w="4813300" h="749300">
                  <a:moveTo>
                    <a:pt x="0" y="0"/>
                  </a:moveTo>
                  <a:lnTo>
                    <a:pt x="4813300" y="0"/>
                  </a:lnTo>
                  <a:lnTo>
                    <a:pt x="4813300" y="749300"/>
                  </a:lnTo>
                  <a:lnTo>
                    <a:pt x="0" y="749300"/>
                  </a:lnTo>
                  <a:lnTo>
                    <a:pt x="0" y="0"/>
                  </a:lnTo>
                  <a:close/>
                </a:path>
              </a:pathLst>
            </a:custGeom>
            <a:blipFill>
              <a:blip r:embed="rId5"/>
              <a:stretch>
                <a:fillRect/>
              </a:stretch>
            </a:blipFill>
          </p:spPr>
        </p:sp>
      </p:grpSp>
      <p:grpSp>
        <p:nvGrpSpPr>
          <p:cNvPr id="10" name="Group 10"/>
          <p:cNvGrpSpPr/>
          <p:nvPr/>
        </p:nvGrpSpPr>
        <p:grpSpPr>
          <a:xfrm>
            <a:off x="49216" y="8017116"/>
            <a:ext cx="15916275" cy="390525"/>
            <a:chOff x="0" y="0"/>
            <a:chExt cx="21221700" cy="520700"/>
          </a:xfrm>
        </p:grpSpPr>
        <p:sp>
          <p:nvSpPr>
            <p:cNvPr id="11" name="Freeform 11"/>
            <p:cNvSpPr/>
            <p:nvPr/>
          </p:nvSpPr>
          <p:spPr>
            <a:xfrm>
              <a:off x="0" y="0"/>
              <a:ext cx="21221700" cy="520700"/>
            </a:xfrm>
            <a:custGeom>
              <a:avLst/>
              <a:gdLst/>
              <a:ahLst/>
              <a:cxnLst/>
              <a:rect l="l" t="t" r="r" b="b"/>
              <a:pathLst>
                <a:path w="21221700" h="520700">
                  <a:moveTo>
                    <a:pt x="0" y="0"/>
                  </a:moveTo>
                  <a:lnTo>
                    <a:pt x="21221700" y="0"/>
                  </a:lnTo>
                  <a:lnTo>
                    <a:pt x="21221700" y="520700"/>
                  </a:lnTo>
                  <a:lnTo>
                    <a:pt x="0" y="520700"/>
                  </a:lnTo>
                  <a:lnTo>
                    <a:pt x="0" y="0"/>
                  </a:lnTo>
                  <a:close/>
                </a:path>
              </a:pathLst>
            </a:custGeom>
            <a:blipFill>
              <a:blip r:embed="rId6"/>
              <a:stretch>
                <a:fillRect/>
              </a:stretch>
            </a:blipFill>
          </p:spPr>
        </p:sp>
      </p:grpSp>
      <p:grpSp>
        <p:nvGrpSpPr>
          <p:cNvPr id="12" name="Group 12"/>
          <p:cNvGrpSpPr/>
          <p:nvPr/>
        </p:nvGrpSpPr>
        <p:grpSpPr>
          <a:xfrm>
            <a:off x="14064891" y="8207550"/>
            <a:ext cx="962025" cy="200025"/>
            <a:chOff x="0" y="0"/>
            <a:chExt cx="1282700" cy="266700"/>
          </a:xfrm>
        </p:grpSpPr>
        <p:sp>
          <p:nvSpPr>
            <p:cNvPr id="13" name="Freeform 13"/>
            <p:cNvSpPr/>
            <p:nvPr/>
          </p:nvSpPr>
          <p:spPr>
            <a:xfrm>
              <a:off x="0" y="0"/>
              <a:ext cx="1282700" cy="266700"/>
            </a:xfrm>
            <a:custGeom>
              <a:avLst/>
              <a:gdLst/>
              <a:ahLst/>
              <a:cxnLst/>
              <a:rect l="l" t="t" r="r" b="b"/>
              <a:pathLst>
                <a:path w="1282700" h="266700">
                  <a:moveTo>
                    <a:pt x="0" y="0"/>
                  </a:moveTo>
                  <a:lnTo>
                    <a:pt x="1282700" y="0"/>
                  </a:lnTo>
                  <a:lnTo>
                    <a:pt x="1282700" y="266700"/>
                  </a:lnTo>
                  <a:lnTo>
                    <a:pt x="0" y="266700"/>
                  </a:lnTo>
                  <a:lnTo>
                    <a:pt x="0" y="0"/>
                  </a:lnTo>
                  <a:close/>
                </a:path>
              </a:pathLst>
            </a:custGeom>
            <a:blipFill>
              <a:blip r:embed="rId7"/>
              <a:stretch>
                <a:fillRect/>
              </a:stretch>
            </a:blipFill>
          </p:spPr>
        </p:sp>
      </p:grpSp>
      <p:grpSp>
        <p:nvGrpSpPr>
          <p:cNvPr id="14" name="Group 14"/>
          <p:cNvGrpSpPr/>
          <p:nvPr/>
        </p:nvGrpSpPr>
        <p:grpSpPr>
          <a:xfrm>
            <a:off x="842867" y="34623"/>
            <a:ext cx="1933575" cy="828675"/>
            <a:chOff x="0" y="0"/>
            <a:chExt cx="2578100" cy="1104900"/>
          </a:xfrm>
        </p:grpSpPr>
        <p:sp>
          <p:nvSpPr>
            <p:cNvPr id="15" name="Freeform 15"/>
            <p:cNvSpPr/>
            <p:nvPr/>
          </p:nvSpPr>
          <p:spPr>
            <a:xfrm>
              <a:off x="0" y="0"/>
              <a:ext cx="2578100" cy="1104900"/>
            </a:xfrm>
            <a:custGeom>
              <a:avLst/>
              <a:gdLst/>
              <a:ahLst/>
              <a:cxnLst/>
              <a:rect l="l" t="t" r="r" b="b"/>
              <a:pathLst>
                <a:path w="2578100" h="1104900">
                  <a:moveTo>
                    <a:pt x="0" y="0"/>
                  </a:moveTo>
                  <a:lnTo>
                    <a:pt x="2578100" y="0"/>
                  </a:lnTo>
                  <a:lnTo>
                    <a:pt x="2578100" y="1104900"/>
                  </a:lnTo>
                  <a:lnTo>
                    <a:pt x="0" y="1104900"/>
                  </a:lnTo>
                  <a:lnTo>
                    <a:pt x="0" y="0"/>
                  </a:lnTo>
                  <a:close/>
                </a:path>
              </a:pathLst>
            </a:custGeom>
            <a:blipFill>
              <a:blip r:embed="rId8"/>
              <a:stretch>
                <a:fillRect l="-2137" t="-27513" r="-4759" b="-42601"/>
              </a:stretch>
            </a:blipFill>
          </p:spPr>
        </p:sp>
      </p:grpSp>
      <p:grpSp>
        <p:nvGrpSpPr>
          <p:cNvPr id="16" name="Group 16"/>
          <p:cNvGrpSpPr/>
          <p:nvPr/>
        </p:nvGrpSpPr>
        <p:grpSpPr>
          <a:xfrm>
            <a:off x="0" y="27851"/>
            <a:ext cx="590550" cy="828675"/>
            <a:chOff x="0" y="0"/>
            <a:chExt cx="787400" cy="1104900"/>
          </a:xfrm>
        </p:grpSpPr>
        <p:sp>
          <p:nvSpPr>
            <p:cNvPr id="17" name="Freeform 17"/>
            <p:cNvSpPr/>
            <p:nvPr/>
          </p:nvSpPr>
          <p:spPr>
            <a:xfrm>
              <a:off x="0" y="0"/>
              <a:ext cx="787400" cy="1104900"/>
            </a:xfrm>
            <a:custGeom>
              <a:avLst/>
              <a:gdLst/>
              <a:ahLst/>
              <a:cxnLst/>
              <a:rect l="l" t="t" r="r" b="b"/>
              <a:pathLst>
                <a:path w="787400" h="1104900">
                  <a:moveTo>
                    <a:pt x="0" y="0"/>
                  </a:moveTo>
                  <a:lnTo>
                    <a:pt x="787400" y="0"/>
                  </a:lnTo>
                  <a:lnTo>
                    <a:pt x="787400" y="1104900"/>
                  </a:lnTo>
                  <a:lnTo>
                    <a:pt x="0" y="1104900"/>
                  </a:lnTo>
                  <a:lnTo>
                    <a:pt x="0" y="0"/>
                  </a:lnTo>
                  <a:close/>
                </a:path>
              </a:pathLst>
            </a:custGeom>
            <a:blipFill>
              <a:blip r:embed="rId9"/>
              <a:stretch>
                <a:fillRect/>
              </a:stretch>
            </a:blipFill>
          </p:spPr>
        </p:sp>
      </p:grpSp>
      <p:sp>
        <p:nvSpPr>
          <p:cNvPr id="18" name="Freeform 18"/>
          <p:cNvSpPr/>
          <p:nvPr/>
        </p:nvSpPr>
        <p:spPr>
          <a:xfrm>
            <a:off x="757990" y="68456"/>
            <a:ext cx="28575" cy="824970"/>
          </a:xfrm>
          <a:custGeom>
            <a:avLst/>
            <a:gdLst/>
            <a:ahLst/>
            <a:cxnLst/>
            <a:rect l="l" t="t" r="r" b="b"/>
            <a:pathLst>
              <a:path w="28575" h="824970">
                <a:moveTo>
                  <a:pt x="0" y="0"/>
                </a:moveTo>
                <a:lnTo>
                  <a:pt x="28575" y="0"/>
                </a:lnTo>
                <a:lnTo>
                  <a:pt x="28575" y="824970"/>
                </a:lnTo>
                <a:lnTo>
                  <a:pt x="0" y="824970"/>
                </a:lnTo>
                <a:lnTo>
                  <a:pt x="0" y="0"/>
                </a:lnTo>
                <a:close/>
              </a:path>
            </a:pathLst>
          </a:custGeom>
          <a:blipFill>
            <a:blip>
              <a:extLst>
                <a:ext uri="{96DAC541-7B7A-43D3-8B79-37D633B846F1}">
                  <asvg:svgBlip xmlns:asvg="http://schemas.microsoft.com/office/drawing/2016/SVG/main" r:embed="rId10"/>
                </a:ext>
              </a:extLst>
            </a:blip>
            <a:stretch>
              <a:fillRect/>
            </a:stretch>
          </a:blipFill>
        </p:spPr>
      </p:sp>
      <p:grpSp>
        <p:nvGrpSpPr>
          <p:cNvPr id="19" name="Group 19"/>
          <p:cNvGrpSpPr/>
          <p:nvPr/>
        </p:nvGrpSpPr>
        <p:grpSpPr>
          <a:xfrm>
            <a:off x="14064891" y="76733"/>
            <a:ext cx="1819275" cy="1038225"/>
            <a:chOff x="0" y="0"/>
            <a:chExt cx="2425700" cy="1384300"/>
          </a:xfrm>
        </p:grpSpPr>
        <p:sp>
          <p:nvSpPr>
            <p:cNvPr id="20" name="Freeform 20"/>
            <p:cNvSpPr/>
            <p:nvPr/>
          </p:nvSpPr>
          <p:spPr>
            <a:xfrm>
              <a:off x="0" y="0"/>
              <a:ext cx="2425700" cy="1384300"/>
            </a:xfrm>
            <a:custGeom>
              <a:avLst/>
              <a:gdLst/>
              <a:ahLst/>
              <a:cxnLst/>
              <a:rect l="l" t="t" r="r" b="b"/>
              <a:pathLst>
                <a:path w="2425700" h="1384300">
                  <a:moveTo>
                    <a:pt x="0" y="0"/>
                  </a:moveTo>
                  <a:lnTo>
                    <a:pt x="2425700" y="0"/>
                  </a:lnTo>
                  <a:lnTo>
                    <a:pt x="2425700" y="1384300"/>
                  </a:lnTo>
                  <a:lnTo>
                    <a:pt x="0" y="1384300"/>
                  </a:lnTo>
                  <a:lnTo>
                    <a:pt x="0" y="0"/>
                  </a:lnTo>
                  <a:close/>
                </a:path>
              </a:pathLst>
            </a:custGeom>
            <a:blipFill>
              <a:blip r:embed="rId11"/>
              <a:stretch>
                <a:fillRect/>
              </a:stretch>
            </a:blipFill>
          </p:spPr>
        </p:sp>
      </p:grpSp>
      <p:grpSp>
        <p:nvGrpSpPr>
          <p:cNvPr id="21" name="Group 21"/>
          <p:cNvGrpSpPr/>
          <p:nvPr/>
        </p:nvGrpSpPr>
        <p:grpSpPr>
          <a:xfrm>
            <a:off x="506377" y="3469291"/>
            <a:ext cx="390525" cy="384724"/>
            <a:chOff x="0" y="0"/>
            <a:chExt cx="520700" cy="512966"/>
          </a:xfrm>
        </p:grpSpPr>
        <p:sp>
          <p:nvSpPr>
            <p:cNvPr id="22" name="Freeform 22"/>
            <p:cNvSpPr/>
            <p:nvPr/>
          </p:nvSpPr>
          <p:spPr>
            <a:xfrm>
              <a:off x="0" y="0"/>
              <a:ext cx="520700" cy="512966"/>
            </a:xfrm>
            <a:custGeom>
              <a:avLst/>
              <a:gdLst/>
              <a:ahLst/>
              <a:cxnLst/>
              <a:rect l="l" t="t" r="r" b="b"/>
              <a:pathLst>
                <a:path w="520700" h="512966">
                  <a:moveTo>
                    <a:pt x="0" y="0"/>
                  </a:moveTo>
                  <a:lnTo>
                    <a:pt x="520700" y="0"/>
                  </a:lnTo>
                  <a:lnTo>
                    <a:pt x="520700" y="512966"/>
                  </a:lnTo>
                  <a:lnTo>
                    <a:pt x="0" y="512966"/>
                  </a:lnTo>
                  <a:lnTo>
                    <a:pt x="0" y="0"/>
                  </a:lnTo>
                  <a:close/>
                </a:path>
              </a:pathLst>
            </a:custGeom>
            <a:blipFill>
              <a:blip r:embed="rId12"/>
              <a:stretch>
                <a:fillRect l="-488" r="-488"/>
              </a:stretch>
            </a:blipFill>
          </p:spPr>
        </p:sp>
      </p:grpSp>
      <p:grpSp>
        <p:nvGrpSpPr>
          <p:cNvPr id="23" name="Group 23"/>
          <p:cNvGrpSpPr/>
          <p:nvPr/>
        </p:nvGrpSpPr>
        <p:grpSpPr>
          <a:xfrm>
            <a:off x="502920" y="1752886"/>
            <a:ext cx="390525" cy="381000"/>
            <a:chOff x="0" y="0"/>
            <a:chExt cx="520700" cy="508000"/>
          </a:xfrm>
        </p:grpSpPr>
        <p:sp>
          <p:nvSpPr>
            <p:cNvPr id="24" name="Freeform 24"/>
            <p:cNvSpPr/>
            <p:nvPr/>
          </p:nvSpPr>
          <p:spPr>
            <a:xfrm>
              <a:off x="0" y="0"/>
              <a:ext cx="520700" cy="508000"/>
            </a:xfrm>
            <a:custGeom>
              <a:avLst/>
              <a:gdLst/>
              <a:ahLst/>
              <a:cxnLst/>
              <a:rect l="l" t="t" r="r" b="b"/>
              <a:pathLst>
                <a:path w="520700" h="508000">
                  <a:moveTo>
                    <a:pt x="0" y="0"/>
                  </a:moveTo>
                  <a:lnTo>
                    <a:pt x="520700" y="0"/>
                  </a:lnTo>
                  <a:lnTo>
                    <a:pt x="520700" y="508000"/>
                  </a:lnTo>
                  <a:lnTo>
                    <a:pt x="0" y="508000"/>
                  </a:lnTo>
                  <a:lnTo>
                    <a:pt x="0" y="0"/>
                  </a:lnTo>
                  <a:close/>
                </a:path>
              </a:pathLst>
            </a:custGeom>
            <a:blipFill>
              <a:blip r:embed="rId12"/>
              <a:stretch>
                <a:fillRect/>
              </a:stretch>
            </a:blipFill>
          </p:spPr>
        </p:sp>
      </p:grpSp>
      <p:grpSp>
        <p:nvGrpSpPr>
          <p:cNvPr id="25" name="Group 25"/>
          <p:cNvGrpSpPr/>
          <p:nvPr/>
        </p:nvGrpSpPr>
        <p:grpSpPr>
          <a:xfrm>
            <a:off x="486686" y="5897639"/>
            <a:ext cx="390525" cy="353959"/>
            <a:chOff x="0" y="0"/>
            <a:chExt cx="520700" cy="471945"/>
          </a:xfrm>
        </p:grpSpPr>
        <p:sp>
          <p:nvSpPr>
            <p:cNvPr id="26" name="Freeform 26"/>
            <p:cNvSpPr/>
            <p:nvPr/>
          </p:nvSpPr>
          <p:spPr>
            <a:xfrm>
              <a:off x="0" y="0"/>
              <a:ext cx="520700" cy="471945"/>
            </a:xfrm>
            <a:custGeom>
              <a:avLst/>
              <a:gdLst/>
              <a:ahLst/>
              <a:cxnLst/>
              <a:rect l="l" t="t" r="r" b="b"/>
              <a:pathLst>
                <a:path w="520700" h="471945">
                  <a:moveTo>
                    <a:pt x="0" y="0"/>
                  </a:moveTo>
                  <a:lnTo>
                    <a:pt x="520700" y="0"/>
                  </a:lnTo>
                  <a:lnTo>
                    <a:pt x="520700" y="471945"/>
                  </a:lnTo>
                  <a:lnTo>
                    <a:pt x="0" y="471945"/>
                  </a:lnTo>
                  <a:lnTo>
                    <a:pt x="0" y="0"/>
                  </a:lnTo>
                  <a:close/>
                </a:path>
              </a:pathLst>
            </a:custGeom>
            <a:blipFill>
              <a:blip r:embed="rId12"/>
              <a:stretch>
                <a:fillRect t="-3819" b="-3819"/>
              </a:stretch>
            </a:blipFill>
          </p:spPr>
        </p:sp>
      </p:grpSp>
      <p:grpSp>
        <p:nvGrpSpPr>
          <p:cNvPr id="27" name="Group 27"/>
          <p:cNvGrpSpPr/>
          <p:nvPr/>
        </p:nvGrpSpPr>
        <p:grpSpPr>
          <a:xfrm>
            <a:off x="758000" y="68475"/>
            <a:ext cx="28575" cy="824970"/>
            <a:chOff x="0" y="0"/>
            <a:chExt cx="28575" cy="824979"/>
          </a:xfrm>
        </p:grpSpPr>
        <p:sp>
          <p:nvSpPr>
            <p:cNvPr id="28" name="Freeform 28"/>
            <p:cNvSpPr/>
            <p:nvPr/>
          </p:nvSpPr>
          <p:spPr>
            <a:xfrm>
              <a:off x="0" y="0"/>
              <a:ext cx="28575" cy="824997"/>
            </a:xfrm>
            <a:custGeom>
              <a:avLst/>
              <a:gdLst/>
              <a:ahLst/>
              <a:cxnLst/>
              <a:rect l="l" t="t" r="r" b="b"/>
              <a:pathLst>
                <a:path w="28575" h="824997">
                  <a:moveTo>
                    <a:pt x="0" y="824997"/>
                  </a:moveTo>
                  <a:lnTo>
                    <a:pt x="28575" y="824997"/>
                  </a:lnTo>
                  <a:lnTo>
                    <a:pt x="28575" y="0"/>
                  </a:lnTo>
                  <a:lnTo>
                    <a:pt x="0" y="0"/>
                  </a:lnTo>
                  <a:close/>
                </a:path>
              </a:pathLst>
            </a:custGeom>
            <a:solidFill>
              <a:srgbClr val="000000">
                <a:alpha val="0"/>
              </a:srgbClr>
            </a:solidFill>
          </p:spPr>
        </p:sp>
      </p:grpSp>
      <p:sp>
        <p:nvSpPr>
          <p:cNvPr id="29" name="Freeform 29"/>
          <p:cNvSpPr/>
          <p:nvPr/>
        </p:nvSpPr>
        <p:spPr>
          <a:xfrm>
            <a:off x="13207223" y="4036866"/>
            <a:ext cx="2161506" cy="2484489"/>
          </a:xfrm>
          <a:custGeom>
            <a:avLst/>
            <a:gdLst/>
            <a:ahLst/>
            <a:cxnLst/>
            <a:rect l="l" t="t" r="r" b="b"/>
            <a:pathLst>
              <a:path w="2161506" h="2484489">
                <a:moveTo>
                  <a:pt x="0" y="0"/>
                </a:moveTo>
                <a:lnTo>
                  <a:pt x="2161506" y="0"/>
                </a:lnTo>
                <a:lnTo>
                  <a:pt x="2161506" y="2484490"/>
                </a:lnTo>
                <a:lnTo>
                  <a:pt x="0" y="2484490"/>
                </a:lnTo>
                <a:lnTo>
                  <a:pt x="0" y="0"/>
                </a:lnTo>
                <a:close/>
              </a:path>
            </a:pathLst>
          </a:custGeom>
          <a:blipFill>
            <a:blip>
              <a:extLst>
                <a:ext uri="{96DAC541-7B7A-43D3-8B79-37D633B846F1}">
                  <asvg:svgBlip xmlns:asvg="http://schemas.microsoft.com/office/drawing/2016/SVG/main" r:embed="rId13"/>
                </a:ext>
              </a:extLst>
            </a:blip>
            <a:stretch>
              <a:fillRect/>
            </a:stretch>
          </a:blipFill>
        </p:spPr>
      </p:sp>
      <p:sp>
        <p:nvSpPr>
          <p:cNvPr id="30" name="Freeform 30"/>
          <p:cNvSpPr/>
          <p:nvPr/>
        </p:nvSpPr>
        <p:spPr>
          <a:xfrm>
            <a:off x="13296597" y="1314040"/>
            <a:ext cx="1982757" cy="1982757"/>
          </a:xfrm>
          <a:custGeom>
            <a:avLst/>
            <a:gdLst/>
            <a:ahLst/>
            <a:cxnLst/>
            <a:rect l="l" t="t" r="r" b="b"/>
            <a:pathLst>
              <a:path w="1982757" h="1982757">
                <a:moveTo>
                  <a:pt x="0" y="0"/>
                </a:moveTo>
                <a:lnTo>
                  <a:pt x="1982758" y="0"/>
                </a:lnTo>
                <a:lnTo>
                  <a:pt x="1982758" y="1982758"/>
                </a:lnTo>
                <a:lnTo>
                  <a:pt x="0" y="1982758"/>
                </a:lnTo>
                <a:lnTo>
                  <a:pt x="0" y="0"/>
                </a:lnTo>
                <a:close/>
              </a:path>
            </a:pathLst>
          </a:custGeom>
          <a:blipFill>
            <a:blip>
              <a:extLst>
                <a:ext uri="{96DAC541-7B7A-43D3-8B79-37D633B846F1}">
                  <asvg:svgBlip xmlns:asvg="http://schemas.microsoft.com/office/drawing/2016/SVG/main" r:embed="rId14"/>
                </a:ext>
              </a:extLst>
            </a:blip>
            <a:stretch>
              <a:fillRect/>
            </a:stretch>
          </a:blipFill>
        </p:spPr>
      </p:sp>
      <p:sp>
        <p:nvSpPr>
          <p:cNvPr id="31" name="TextBox 31"/>
          <p:cNvSpPr txBox="1"/>
          <p:nvPr/>
        </p:nvSpPr>
        <p:spPr>
          <a:xfrm>
            <a:off x="679132" y="879170"/>
            <a:ext cx="10575226" cy="710708"/>
          </a:xfrm>
          <a:prstGeom prst="rect">
            <a:avLst/>
          </a:prstGeom>
        </p:spPr>
        <p:txBody>
          <a:bodyPr lIns="0" tIns="0" rIns="0" bIns="0" rtlCol="0" anchor="t">
            <a:spAutoFit/>
          </a:bodyPr>
          <a:lstStyle/>
          <a:p>
            <a:pPr algn="l">
              <a:lnSpc>
                <a:spcPts val="5840"/>
              </a:lnSpc>
            </a:pPr>
            <a:r>
              <a:rPr lang="en-US" sz="4171" dirty="0">
                <a:solidFill>
                  <a:srgbClr val="4AF66D"/>
                </a:solidFill>
                <a:latin typeface="Bank Gothic Medium"/>
                <a:ea typeface="Bank Gothic Medium"/>
                <a:cs typeface="Bank Gothic Medium"/>
                <a:sym typeface="Bank Gothic Medium"/>
              </a:rPr>
              <a:t>Problem Statement &amp; Target Need</a:t>
            </a:r>
          </a:p>
        </p:txBody>
      </p:sp>
      <p:sp>
        <p:nvSpPr>
          <p:cNvPr id="32" name="TextBox 32"/>
          <p:cNvSpPr txBox="1"/>
          <p:nvPr/>
        </p:nvSpPr>
        <p:spPr>
          <a:xfrm>
            <a:off x="893445" y="1694202"/>
            <a:ext cx="3014148" cy="439684"/>
          </a:xfrm>
          <a:prstGeom prst="rect">
            <a:avLst/>
          </a:prstGeom>
        </p:spPr>
        <p:txBody>
          <a:bodyPr lIns="0" tIns="0" rIns="0" bIns="0" rtlCol="0" anchor="t">
            <a:spAutoFit/>
          </a:bodyPr>
          <a:lstStyle/>
          <a:p>
            <a:pPr algn="l">
              <a:lnSpc>
                <a:spcPts val="3629"/>
              </a:lnSpc>
            </a:pPr>
            <a:r>
              <a:rPr lang="en-US" sz="2592">
                <a:solidFill>
                  <a:srgbClr val="FFFFFF"/>
                </a:solidFill>
                <a:latin typeface="Bank Gothic Medium"/>
                <a:ea typeface="Bank Gothic Medium"/>
                <a:cs typeface="Bank Gothic Medium"/>
                <a:sym typeface="Bank Gothic Medium"/>
              </a:rPr>
              <a:t>Who is affected</a:t>
            </a:r>
          </a:p>
        </p:txBody>
      </p:sp>
      <p:sp>
        <p:nvSpPr>
          <p:cNvPr id="33" name="TextBox 33"/>
          <p:cNvSpPr txBox="1"/>
          <p:nvPr/>
        </p:nvSpPr>
        <p:spPr>
          <a:xfrm>
            <a:off x="896902" y="3530079"/>
            <a:ext cx="3100549" cy="439684"/>
          </a:xfrm>
          <a:prstGeom prst="rect">
            <a:avLst/>
          </a:prstGeom>
        </p:spPr>
        <p:txBody>
          <a:bodyPr lIns="0" tIns="0" rIns="0" bIns="0" rtlCol="0" anchor="t">
            <a:spAutoFit/>
          </a:bodyPr>
          <a:lstStyle/>
          <a:p>
            <a:pPr algn="l">
              <a:lnSpc>
                <a:spcPts val="3629"/>
              </a:lnSpc>
            </a:pPr>
            <a:r>
              <a:rPr lang="en-US" sz="2592">
                <a:solidFill>
                  <a:srgbClr val="FFFFFF"/>
                </a:solidFill>
                <a:latin typeface="Bank Gothic Medium"/>
                <a:ea typeface="Bank Gothic Medium"/>
                <a:cs typeface="Bank Gothic Medium"/>
                <a:sym typeface="Bank Gothic Medium"/>
              </a:rPr>
              <a:t>The current gap</a:t>
            </a:r>
          </a:p>
        </p:txBody>
      </p:sp>
      <p:sp>
        <p:nvSpPr>
          <p:cNvPr id="34" name="TextBox 34"/>
          <p:cNvSpPr txBox="1"/>
          <p:nvPr/>
        </p:nvSpPr>
        <p:spPr>
          <a:xfrm>
            <a:off x="911930" y="5840489"/>
            <a:ext cx="3696557" cy="439684"/>
          </a:xfrm>
          <a:prstGeom prst="rect">
            <a:avLst/>
          </a:prstGeom>
        </p:spPr>
        <p:txBody>
          <a:bodyPr lIns="0" tIns="0" rIns="0" bIns="0" rtlCol="0" anchor="t">
            <a:spAutoFit/>
          </a:bodyPr>
          <a:lstStyle/>
          <a:p>
            <a:pPr algn="l">
              <a:lnSpc>
                <a:spcPts val="3629"/>
              </a:lnSpc>
            </a:pPr>
            <a:r>
              <a:rPr lang="en-US" sz="2592">
                <a:solidFill>
                  <a:srgbClr val="FFFFFF"/>
                </a:solidFill>
                <a:latin typeface="Bank Gothic Medium"/>
                <a:ea typeface="Bank Gothic Medium"/>
                <a:cs typeface="Bank Gothic Medium"/>
                <a:sym typeface="Bank Gothic Medium"/>
              </a:rPr>
              <a:t>Why it matters now</a:t>
            </a:r>
          </a:p>
        </p:txBody>
      </p:sp>
      <p:sp>
        <p:nvSpPr>
          <p:cNvPr id="35" name="TextBox 35"/>
          <p:cNvSpPr txBox="1"/>
          <p:nvPr/>
        </p:nvSpPr>
        <p:spPr>
          <a:xfrm>
            <a:off x="594007" y="2219611"/>
            <a:ext cx="12138483" cy="1249680"/>
          </a:xfrm>
          <a:prstGeom prst="rect">
            <a:avLst/>
          </a:prstGeom>
        </p:spPr>
        <p:txBody>
          <a:bodyPr lIns="0" tIns="0" rIns="0" bIns="0" rtlCol="0" anchor="t">
            <a:spAutoFit/>
          </a:bodyPr>
          <a:lstStyle/>
          <a:p>
            <a:pPr algn="l">
              <a:lnSpc>
                <a:spcPts val="2520"/>
              </a:lnSpc>
            </a:pPr>
            <a:r>
              <a:rPr lang="en-US" sz="1800" b="1">
                <a:solidFill>
                  <a:srgbClr val="FFFFFF"/>
                </a:solidFill>
                <a:latin typeface="Quicksand Medium"/>
                <a:ea typeface="Quicksand Medium"/>
                <a:cs typeface="Quicksand Medium"/>
                <a:sym typeface="Quicksand Medium"/>
              </a:rPr>
              <a:t>1. Chief Information Security Officers of banks, Security Operations Center analysts, and teams that handle information technology compliance and risk.</a:t>
            </a:r>
          </a:p>
          <a:p>
            <a:pPr algn="l">
              <a:lnSpc>
                <a:spcPts val="2520"/>
              </a:lnSpc>
            </a:pPr>
            <a:r>
              <a:rPr lang="en-US" sz="1800" b="1">
                <a:solidFill>
                  <a:srgbClr val="FFFFFF"/>
                </a:solidFill>
                <a:latin typeface="Quicksand Medium"/>
                <a:ea typeface="Quicksand Medium"/>
                <a:cs typeface="Quicksand Medium"/>
                <a:sym typeface="Quicksand Medium"/>
              </a:rPr>
              <a:t>2. Credit institutions and banks supervising by National RBI and CERT-In.</a:t>
            </a:r>
          </a:p>
          <a:p>
            <a:pPr algn="l">
              <a:lnSpc>
                <a:spcPts val="2520"/>
              </a:lnSpc>
              <a:spcBef>
                <a:spcPct val="0"/>
              </a:spcBef>
            </a:pPr>
            <a:r>
              <a:rPr lang="en-US" sz="1800" b="1">
                <a:solidFill>
                  <a:srgbClr val="FFFFFF"/>
                </a:solidFill>
                <a:latin typeface="Quicksand Medium"/>
                <a:ea typeface="Quicksand Medium"/>
                <a:cs typeface="Quicksand Medium"/>
                <a:sym typeface="Quicksand Medium"/>
              </a:rPr>
              <a:t>3. In the end, the customers relying on their funds and information being effectively safeguarded.</a:t>
            </a:r>
          </a:p>
        </p:txBody>
      </p:sp>
      <p:sp>
        <p:nvSpPr>
          <p:cNvPr id="36" name="TextBox 36"/>
          <p:cNvSpPr txBox="1"/>
          <p:nvPr/>
        </p:nvSpPr>
        <p:spPr>
          <a:xfrm>
            <a:off x="594007" y="4007863"/>
            <a:ext cx="11576095" cy="1878330"/>
          </a:xfrm>
          <a:prstGeom prst="rect">
            <a:avLst/>
          </a:prstGeom>
        </p:spPr>
        <p:txBody>
          <a:bodyPr lIns="0" tIns="0" rIns="0" bIns="0" rtlCol="0" anchor="t">
            <a:spAutoFit/>
          </a:bodyPr>
          <a:lstStyle/>
          <a:p>
            <a:pPr algn="just">
              <a:lnSpc>
                <a:spcPts val="2520"/>
              </a:lnSpc>
            </a:pPr>
            <a:r>
              <a:rPr lang="en-US" sz="1800" b="1">
                <a:solidFill>
                  <a:srgbClr val="FFFFFF"/>
                </a:solidFill>
                <a:latin typeface="Quicksand Medium"/>
                <a:ea typeface="Quicksand Medium"/>
                <a:cs typeface="Quicksand Medium"/>
                <a:sym typeface="Quicksand Medium"/>
              </a:rPr>
              <a:t>1. Financial institutions operate more than 20 different security tools (including firewalls, scanners, EDRs) which are incompatible with each other </a:t>
            </a:r>
          </a:p>
          <a:p>
            <a:pPr algn="just">
              <a:lnSpc>
                <a:spcPts val="2520"/>
              </a:lnSpc>
            </a:pPr>
            <a:r>
              <a:rPr lang="en-US" sz="1800" b="1">
                <a:solidFill>
                  <a:srgbClr val="FFFFFF"/>
                </a:solidFill>
                <a:latin typeface="Quicksand Medium"/>
                <a:ea typeface="Quicksand Medium"/>
                <a:cs typeface="Quicksand Medium"/>
                <a:sym typeface="Quicksand Medium"/>
              </a:rPr>
              <a:t>2. Threats are categorized only as “High / Medium / Low”, without any financial value </a:t>
            </a:r>
          </a:p>
          <a:p>
            <a:pPr algn="just">
              <a:lnSpc>
                <a:spcPts val="2520"/>
              </a:lnSpc>
            </a:pPr>
            <a:r>
              <a:rPr lang="en-US" sz="1800" b="1">
                <a:solidFill>
                  <a:srgbClr val="FFFFFF"/>
                </a:solidFill>
                <a:latin typeface="Quicksand Medium"/>
                <a:ea typeface="Quicksand Medium"/>
                <a:cs typeface="Quicksand Medium"/>
                <a:sym typeface="Quicksand Medium"/>
              </a:rPr>
              <a:t>3. </a:t>
            </a:r>
            <a:r>
              <a:rPr lang="en-US" sz="1800" b="1">
                <a:solidFill>
                  <a:srgbClr val="FFFFFF"/>
                </a:solidFill>
                <a:latin typeface="Quicksand Bold"/>
                <a:ea typeface="Quicksand Bold"/>
                <a:cs typeface="Quicksand Bold"/>
                <a:sym typeface="Quicksand Bold"/>
              </a:rPr>
              <a:t>Incident correlations as well as reports from CERT-In or RBI are prepared manually in Excel. </a:t>
            </a:r>
          </a:p>
          <a:p>
            <a:pPr algn="just">
              <a:lnSpc>
                <a:spcPts val="2520"/>
              </a:lnSpc>
              <a:spcBef>
                <a:spcPct val="0"/>
              </a:spcBef>
            </a:pPr>
            <a:r>
              <a:rPr lang="en-US" sz="1800" b="1">
                <a:solidFill>
                  <a:srgbClr val="FFFFFF"/>
                </a:solidFill>
                <a:latin typeface="Quicksand Medium"/>
                <a:ea typeface="Quicksand Medium"/>
                <a:cs typeface="Quicksand Medium"/>
                <a:sym typeface="Quicksand Medium"/>
              </a:rPr>
              <a:t>4. As a consequence, this leads to slow reaction, uncertain reports, and budget decisions taken based on intuition</a:t>
            </a:r>
          </a:p>
        </p:txBody>
      </p:sp>
      <p:sp>
        <p:nvSpPr>
          <p:cNvPr id="37" name="TextBox 37"/>
          <p:cNvSpPr txBox="1"/>
          <p:nvPr/>
        </p:nvSpPr>
        <p:spPr>
          <a:xfrm>
            <a:off x="594007" y="6318272"/>
            <a:ext cx="12702590" cy="1878330"/>
          </a:xfrm>
          <a:prstGeom prst="rect">
            <a:avLst/>
          </a:prstGeom>
        </p:spPr>
        <p:txBody>
          <a:bodyPr lIns="0" tIns="0" rIns="0" bIns="0" rtlCol="0" anchor="t">
            <a:spAutoFit/>
          </a:bodyPr>
          <a:lstStyle/>
          <a:p>
            <a:pPr algn="l">
              <a:lnSpc>
                <a:spcPts val="2520"/>
              </a:lnSpc>
              <a:spcBef>
                <a:spcPct val="0"/>
              </a:spcBef>
            </a:pPr>
            <a:r>
              <a:rPr lang="en-US" sz="1800" b="1">
                <a:solidFill>
                  <a:srgbClr val="FFFFFF"/>
                </a:solidFill>
                <a:latin typeface="Quicksand Medium"/>
                <a:ea typeface="Quicksand Medium"/>
                <a:cs typeface="Quicksand Medium"/>
                <a:sym typeface="Quicksand Medium"/>
              </a:rPr>
              <a:t>1. Cyber incidents should be reported within 6 hours according to CERT-In and rapid reporting is also required by RBI. </a:t>
            </a:r>
          </a:p>
          <a:p>
            <a:pPr algn="l">
              <a:lnSpc>
                <a:spcPts val="2520"/>
              </a:lnSpc>
              <a:spcBef>
                <a:spcPct val="0"/>
              </a:spcBef>
            </a:pPr>
            <a:r>
              <a:rPr lang="en-US" sz="1800" b="1">
                <a:solidFill>
                  <a:srgbClr val="FFFFFF"/>
                </a:solidFill>
                <a:latin typeface="Quicksand Medium"/>
                <a:ea typeface="Quicksand Medium"/>
                <a:cs typeface="Quicksand Medium"/>
                <a:sym typeface="Quicksand Medium"/>
              </a:rPr>
              <a:t>2. Digital banking and UPI continue to see growth, and with this increase, the attack surface is expanding constantly. </a:t>
            </a:r>
          </a:p>
          <a:p>
            <a:pPr algn="l">
              <a:lnSpc>
                <a:spcPts val="2520"/>
              </a:lnSpc>
              <a:spcBef>
                <a:spcPct val="0"/>
              </a:spcBef>
            </a:pPr>
            <a:r>
              <a:rPr lang="en-US" sz="1800" b="1">
                <a:solidFill>
                  <a:srgbClr val="FFFFFF"/>
                </a:solidFill>
                <a:latin typeface="Quicksand Medium"/>
                <a:ea typeface="Quicksand Medium"/>
                <a:cs typeface="Quicksand Medium"/>
                <a:sym typeface="Quicksand Medium"/>
              </a:rPr>
              <a:t>3. Now, boards as well as regulators want to know “what is our financial exposure” and not only “are we safe?” </a:t>
            </a:r>
          </a:p>
          <a:p>
            <a:pPr algn="l">
              <a:lnSpc>
                <a:spcPts val="2520"/>
              </a:lnSpc>
              <a:spcBef>
                <a:spcPct val="0"/>
              </a:spcBef>
            </a:pPr>
            <a:r>
              <a:rPr lang="en-US" sz="1800" b="1">
                <a:solidFill>
                  <a:srgbClr val="FFFFFF"/>
                </a:solidFill>
                <a:latin typeface="Quicksand Medium"/>
                <a:ea typeface="Quicksand Medium"/>
                <a:cs typeface="Quicksand Medium"/>
                <a:sym typeface="Quicksand Medium"/>
              </a:rPr>
              <a:t>4. If the deadlines are missed, there are penalties, audit results, and erosion of trust from customers.</a:t>
            </a:r>
          </a:p>
          <a:p>
            <a:pPr algn="l">
              <a:lnSpc>
                <a:spcPts val="2520"/>
              </a:lnSpc>
              <a:spcBef>
                <a:spcPct val="0"/>
              </a:spcBef>
            </a:pPr>
            <a:r>
              <a:rPr lang="en-US" sz="1800" b="1">
                <a:solidFill>
                  <a:srgbClr val="FFFFFF"/>
                </a:solidFill>
                <a:latin typeface="Quicksand Medium"/>
                <a:ea typeface="Quicksand Medium"/>
                <a:cs typeface="Quicksand Medium"/>
                <a:sym typeface="Quicksand Medium"/>
              </a:rPr>
              <a:t>5. RBI’s 2026 Cybersecurity Directions make banks answerable for vendor security: written proof that software is free of known vulnerabilities and malware, renewed after every material change, plus source-code or escrow access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3623"/>
            <a:ext cx="15970577" cy="8938073"/>
            <a:chOff x="0" y="0"/>
            <a:chExt cx="21264118" cy="11900649"/>
          </a:xfrm>
        </p:grpSpPr>
        <p:sp>
          <p:nvSpPr>
            <p:cNvPr id="3" name="Freeform 3"/>
            <p:cNvSpPr/>
            <p:nvPr/>
          </p:nvSpPr>
          <p:spPr>
            <a:xfrm>
              <a:off x="0" y="0"/>
              <a:ext cx="21264118" cy="11900662"/>
            </a:xfrm>
            <a:custGeom>
              <a:avLst/>
              <a:gdLst/>
              <a:ahLst/>
              <a:cxnLst/>
              <a:rect l="l" t="t" r="r" b="b"/>
              <a:pathLst>
                <a:path w="21264118" h="11900662">
                  <a:moveTo>
                    <a:pt x="0" y="0"/>
                  </a:moveTo>
                  <a:lnTo>
                    <a:pt x="21264118" y="0"/>
                  </a:lnTo>
                  <a:lnTo>
                    <a:pt x="21264118" y="11900662"/>
                  </a:lnTo>
                  <a:lnTo>
                    <a:pt x="0" y="11900662"/>
                  </a:lnTo>
                  <a:lnTo>
                    <a:pt x="0" y="0"/>
                  </a:lnTo>
                  <a:close/>
                </a:path>
              </a:pathLst>
            </a:custGeom>
            <a:blipFill>
              <a:blip r:embed="rId2"/>
              <a:stretch>
                <a:fillRect/>
              </a:stretch>
            </a:blipFill>
          </p:spPr>
        </p:sp>
      </p:grpSp>
      <p:grpSp>
        <p:nvGrpSpPr>
          <p:cNvPr id="4" name="Group 4"/>
          <p:cNvGrpSpPr/>
          <p:nvPr/>
        </p:nvGrpSpPr>
        <p:grpSpPr>
          <a:xfrm>
            <a:off x="295275" y="6624061"/>
            <a:ext cx="11598924" cy="1683501"/>
            <a:chOff x="0" y="0"/>
            <a:chExt cx="3517324" cy="510514"/>
          </a:xfrm>
        </p:grpSpPr>
        <p:sp>
          <p:nvSpPr>
            <p:cNvPr id="5" name="Freeform 5"/>
            <p:cNvSpPr/>
            <p:nvPr/>
          </p:nvSpPr>
          <p:spPr>
            <a:xfrm>
              <a:off x="0" y="0"/>
              <a:ext cx="3517324" cy="510514"/>
            </a:xfrm>
            <a:custGeom>
              <a:avLst/>
              <a:gdLst/>
              <a:ahLst/>
              <a:cxnLst/>
              <a:rect l="l" t="t" r="r" b="b"/>
              <a:pathLst>
                <a:path w="3517324" h="510514">
                  <a:moveTo>
                    <a:pt x="0" y="0"/>
                  </a:moveTo>
                  <a:lnTo>
                    <a:pt x="3517324" y="0"/>
                  </a:lnTo>
                  <a:lnTo>
                    <a:pt x="3517324" y="510514"/>
                  </a:lnTo>
                  <a:lnTo>
                    <a:pt x="0" y="510514"/>
                  </a:lnTo>
                  <a:close/>
                </a:path>
              </a:pathLst>
            </a:custGeom>
            <a:solidFill>
              <a:srgbClr val="000000"/>
            </a:solidFill>
          </p:spPr>
        </p:sp>
        <p:sp>
          <p:nvSpPr>
            <p:cNvPr id="6" name="TextBox 6"/>
            <p:cNvSpPr txBox="1"/>
            <p:nvPr/>
          </p:nvSpPr>
          <p:spPr>
            <a:xfrm>
              <a:off x="0" y="-47625"/>
              <a:ext cx="3517324" cy="558139"/>
            </a:xfrm>
            <a:prstGeom prst="rect">
              <a:avLst/>
            </a:prstGeom>
          </p:spPr>
          <p:txBody>
            <a:bodyPr lIns="50800" tIns="50800" rIns="50800" bIns="50800" rtlCol="0" anchor="ctr"/>
            <a:lstStyle/>
            <a:p>
              <a:pPr algn="ctr">
                <a:lnSpc>
                  <a:spcPts val="2520"/>
                </a:lnSpc>
              </a:pPr>
              <a:endParaRPr/>
            </a:p>
          </p:txBody>
        </p:sp>
      </p:grpSp>
      <p:grpSp>
        <p:nvGrpSpPr>
          <p:cNvPr id="7" name="Group 7"/>
          <p:cNvGrpSpPr/>
          <p:nvPr/>
        </p:nvGrpSpPr>
        <p:grpSpPr>
          <a:xfrm>
            <a:off x="295275" y="4007937"/>
            <a:ext cx="11598924" cy="2549449"/>
            <a:chOff x="0" y="0"/>
            <a:chExt cx="3517324" cy="773109"/>
          </a:xfrm>
        </p:grpSpPr>
        <p:sp>
          <p:nvSpPr>
            <p:cNvPr id="8" name="Freeform 8"/>
            <p:cNvSpPr/>
            <p:nvPr/>
          </p:nvSpPr>
          <p:spPr>
            <a:xfrm>
              <a:off x="0" y="0"/>
              <a:ext cx="3517324" cy="773109"/>
            </a:xfrm>
            <a:custGeom>
              <a:avLst/>
              <a:gdLst/>
              <a:ahLst/>
              <a:cxnLst/>
              <a:rect l="l" t="t" r="r" b="b"/>
              <a:pathLst>
                <a:path w="3517324" h="773109">
                  <a:moveTo>
                    <a:pt x="0" y="0"/>
                  </a:moveTo>
                  <a:lnTo>
                    <a:pt x="3517324" y="0"/>
                  </a:lnTo>
                  <a:lnTo>
                    <a:pt x="3517324" y="773109"/>
                  </a:lnTo>
                  <a:lnTo>
                    <a:pt x="0" y="773109"/>
                  </a:lnTo>
                  <a:close/>
                </a:path>
              </a:pathLst>
            </a:custGeom>
            <a:solidFill>
              <a:srgbClr val="000000"/>
            </a:solidFill>
          </p:spPr>
        </p:sp>
        <p:sp>
          <p:nvSpPr>
            <p:cNvPr id="9" name="TextBox 9"/>
            <p:cNvSpPr txBox="1"/>
            <p:nvPr/>
          </p:nvSpPr>
          <p:spPr>
            <a:xfrm>
              <a:off x="0" y="-47625"/>
              <a:ext cx="3517324" cy="820734"/>
            </a:xfrm>
            <a:prstGeom prst="rect">
              <a:avLst/>
            </a:prstGeom>
          </p:spPr>
          <p:txBody>
            <a:bodyPr lIns="50800" tIns="50800" rIns="50800" bIns="50800" rtlCol="0" anchor="ctr"/>
            <a:lstStyle/>
            <a:p>
              <a:pPr algn="ctr">
                <a:lnSpc>
                  <a:spcPts val="2520"/>
                </a:lnSpc>
              </a:pPr>
              <a:endParaRPr/>
            </a:p>
          </p:txBody>
        </p:sp>
      </p:grpSp>
      <p:grpSp>
        <p:nvGrpSpPr>
          <p:cNvPr id="10" name="Group 10"/>
          <p:cNvGrpSpPr/>
          <p:nvPr/>
        </p:nvGrpSpPr>
        <p:grpSpPr>
          <a:xfrm>
            <a:off x="49216" y="1114015"/>
            <a:ext cx="15916275" cy="200025"/>
            <a:chOff x="0" y="0"/>
            <a:chExt cx="21221700" cy="266700"/>
          </a:xfrm>
        </p:grpSpPr>
        <p:sp>
          <p:nvSpPr>
            <p:cNvPr id="11" name="Freeform 11"/>
            <p:cNvSpPr/>
            <p:nvPr/>
          </p:nvSpPr>
          <p:spPr>
            <a:xfrm>
              <a:off x="0" y="0"/>
              <a:ext cx="21221700" cy="266700"/>
            </a:xfrm>
            <a:custGeom>
              <a:avLst/>
              <a:gdLst/>
              <a:ahLst/>
              <a:cxnLst/>
              <a:rect l="l" t="t" r="r" b="b"/>
              <a:pathLst>
                <a:path w="21221700" h="266700">
                  <a:moveTo>
                    <a:pt x="0" y="0"/>
                  </a:moveTo>
                  <a:lnTo>
                    <a:pt x="21221700" y="0"/>
                  </a:lnTo>
                  <a:lnTo>
                    <a:pt x="21221700" y="266700"/>
                  </a:lnTo>
                  <a:lnTo>
                    <a:pt x="0" y="266700"/>
                  </a:lnTo>
                  <a:lnTo>
                    <a:pt x="0" y="0"/>
                  </a:lnTo>
                  <a:close/>
                </a:path>
              </a:pathLst>
            </a:custGeom>
            <a:blipFill>
              <a:blip r:embed="rId3">
                <a:alphaModFix amt="68999"/>
              </a:blip>
              <a:stretch>
                <a:fillRect/>
              </a:stretch>
            </a:blipFill>
          </p:spPr>
        </p:sp>
      </p:grpSp>
      <p:grpSp>
        <p:nvGrpSpPr>
          <p:cNvPr id="12" name="Group 12"/>
          <p:cNvGrpSpPr/>
          <p:nvPr/>
        </p:nvGrpSpPr>
        <p:grpSpPr>
          <a:xfrm>
            <a:off x="49216" y="1314040"/>
            <a:ext cx="3609975" cy="561975"/>
            <a:chOff x="0" y="0"/>
            <a:chExt cx="4813300" cy="749300"/>
          </a:xfrm>
        </p:grpSpPr>
        <p:sp>
          <p:nvSpPr>
            <p:cNvPr id="13" name="Freeform 13"/>
            <p:cNvSpPr/>
            <p:nvPr/>
          </p:nvSpPr>
          <p:spPr>
            <a:xfrm>
              <a:off x="0" y="0"/>
              <a:ext cx="4813300" cy="749300"/>
            </a:xfrm>
            <a:custGeom>
              <a:avLst/>
              <a:gdLst/>
              <a:ahLst/>
              <a:cxnLst/>
              <a:rect l="l" t="t" r="r" b="b"/>
              <a:pathLst>
                <a:path w="4813300" h="749300">
                  <a:moveTo>
                    <a:pt x="0" y="0"/>
                  </a:moveTo>
                  <a:lnTo>
                    <a:pt x="4813300" y="0"/>
                  </a:lnTo>
                  <a:lnTo>
                    <a:pt x="4813300" y="749300"/>
                  </a:lnTo>
                  <a:lnTo>
                    <a:pt x="0" y="749300"/>
                  </a:lnTo>
                  <a:lnTo>
                    <a:pt x="0" y="0"/>
                  </a:lnTo>
                  <a:close/>
                </a:path>
              </a:pathLst>
            </a:custGeom>
            <a:blipFill>
              <a:blip r:embed="rId4"/>
              <a:stretch>
                <a:fillRect/>
              </a:stretch>
            </a:blipFill>
          </p:spPr>
        </p:sp>
      </p:grpSp>
      <p:grpSp>
        <p:nvGrpSpPr>
          <p:cNvPr id="14" name="Group 14"/>
          <p:cNvGrpSpPr/>
          <p:nvPr/>
        </p:nvGrpSpPr>
        <p:grpSpPr>
          <a:xfrm>
            <a:off x="49216" y="8017116"/>
            <a:ext cx="15916275" cy="390525"/>
            <a:chOff x="0" y="0"/>
            <a:chExt cx="21221700" cy="520700"/>
          </a:xfrm>
        </p:grpSpPr>
        <p:sp>
          <p:nvSpPr>
            <p:cNvPr id="15" name="Freeform 15"/>
            <p:cNvSpPr/>
            <p:nvPr/>
          </p:nvSpPr>
          <p:spPr>
            <a:xfrm>
              <a:off x="0" y="0"/>
              <a:ext cx="21221700" cy="520700"/>
            </a:xfrm>
            <a:custGeom>
              <a:avLst/>
              <a:gdLst/>
              <a:ahLst/>
              <a:cxnLst/>
              <a:rect l="l" t="t" r="r" b="b"/>
              <a:pathLst>
                <a:path w="21221700" h="520700">
                  <a:moveTo>
                    <a:pt x="0" y="0"/>
                  </a:moveTo>
                  <a:lnTo>
                    <a:pt x="21221700" y="0"/>
                  </a:lnTo>
                  <a:lnTo>
                    <a:pt x="21221700" y="520700"/>
                  </a:lnTo>
                  <a:lnTo>
                    <a:pt x="0" y="520700"/>
                  </a:lnTo>
                  <a:lnTo>
                    <a:pt x="0" y="0"/>
                  </a:lnTo>
                  <a:close/>
                </a:path>
              </a:pathLst>
            </a:custGeom>
            <a:blipFill>
              <a:blip r:embed="rId5"/>
              <a:stretch>
                <a:fillRect/>
              </a:stretch>
            </a:blipFill>
          </p:spPr>
        </p:sp>
      </p:grpSp>
      <p:grpSp>
        <p:nvGrpSpPr>
          <p:cNvPr id="16" name="Group 16"/>
          <p:cNvGrpSpPr/>
          <p:nvPr/>
        </p:nvGrpSpPr>
        <p:grpSpPr>
          <a:xfrm>
            <a:off x="14064891" y="8207550"/>
            <a:ext cx="962025" cy="200025"/>
            <a:chOff x="0" y="0"/>
            <a:chExt cx="1282700" cy="266700"/>
          </a:xfrm>
        </p:grpSpPr>
        <p:sp>
          <p:nvSpPr>
            <p:cNvPr id="17" name="Freeform 17"/>
            <p:cNvSpPr/>
            <p:nvPr/>
          </p:nvSpPr>
          <p:spPr>
            <a:xfrm>
              <a:off x="0" y="0"/>
              <a:ext cx="1282700" cy="266700"/>
            </a:xfrm>
            <a:custGeom>
              <a:avLst/>
              <a:gdLst/>
              <a:ahLst/>
              <a:cxnLst/>
              <a:rect l="l" t="t" r="r" b="b"/>
              <a:pathLst>
                <a:path w="1282700" h="266700">
                  <a:moveTo>
                    <a:pt x="0" y="0"/>
                  </a:moveTo>
                  <a:lnTo>
                    <a:pt x="1282700" y="0"/>
                  </a:lnTo>
                  <a:lnTo>
                    <a:pt x="1282700" y="266700"/>
                  </a:lnTo>
                  <a:lnTo>
                    <a:pt x="0" y="266700"/>
                  </a:lnTo>
                  <a:lnTo>
                    <a:pt x="0" y="0"/>
                  </a:lnTo>
                  <a:close/>
                </a:path>
              </a:pathLst>
            </a:custGeom>
            <a:blipFill>
              <a:blip r:embed="rId6"/>
              <a:stretch>
                <a:fillRect/>
              </a:stretch>
            </a:blipFill>
          </p:spPr>
        </p:sp>
      </p:grpSp>
      <p:grpSp>
        <p:nvGrpSpPr>
          <p:cNvPr id="18" name="Group 18"/>
          <p:cNvGrpSpPr/>
          <p:nvPr/>
        </p:nvGrpSpPr>
        <p:grpSpPr>
          <a:xfrm>
            <a:off x="842867" y="34623"/>
            <a:ext cx="1933575" cy="828675"/>
            <a:chOff x="0" y="0"/>
            <a:chExt cx="2578100" cy="1104900"/>
          </a:xfrm>
        </p:grpSpPr>
        <p:sp>
          <p:nvSpPr>
            <p:cNvPr id="19" name="Freeform 19"/>
            <p:cNvSpPr/>
            <p:nvPr/>
          </p:nvSpPr>
          <p:spPr>
            <a:xfrm>
              <a:off x="0" y="0"/>
              <a:ext cx="2578100" cy="1104900"/>
            </a:xfrm>
            <a:custGeom>
              <a:avLst/>
              <a:gdLst/>
              <a:ahLst/>
              <a:cxnLst/>
              <a:rect l="l" t="t" r="r" b="b"/>
              <a:pathLst>
                <a:path w="2578100" h="1104900">
                  <a:moveTo>
                    <a:pt x="0" y="0"/>
                  </a:moveTo>
                  <a:lnTo>
                    <a:pt x="2578100" y="0"/>
                  </a:lnTo>
                  <a:lnTo>
                    <a:pt x="2578100" y="1104900"/>
                  </a:lnTo>
                  <a:lnTo>
                    <a:pt x="0" y="1104900"/>
                  </a:lnTo>
                  <a:lnTo>
                    <a:pt x="0" y="0"/>
                  </a:lnTo>
                  <a:close/>
                </a:path>
              </a:pathLst>
            </a:custGeom>
            <a:blipFill>
              <a:blip r:embed="rId7"/>
              <a:stretch>
                <a:fillRect l="-2137" t="-27513" r="-4759" b="-42601"/>
              </a:stretch>
            </a:blipFill>
          </p:spPr>
        </p:sp>
      </p:grpSp>
      <p:grpSp>
        <p:nvGrpSpPr>
          <p:cNvPr id="20" name="Group 20"/>
          <p:cNvGrpSpPr/>
          <p:nvPr/>
        </p:nvGrpSpPr>
        <p:grpSpPr>
          <a:xfrm>
            <a:off x="0" y="27851"/>
            <a:ext cx="590550" cy="828675"/>
            <a:chOff x="0" y="0"/>
            <a:chExt cx="787400" cy="1104900"/>
          </a:xfrm>
        </p:grpSpPr>
        <p:sp>
          <p:nvSpPr>
            <p:cNvPr id="21" name="Freeform 21"/>
            <p:cNvSpPr/>
            <p:nvPr/>
          </p:nvSpPr>
          <p:spPr>
            <a:xfrm>
              <a:off x="0" y="0"/>
              <a:ext cx="787400" cy="1104900"/>
            </a:xfrm>
            <a:custGeom>
              <a:avLst/>
              <a:gdLst/>
              <a:ahLst/>
              <a:cxnLst/>
              <a:rect l="l" t="t" r="r" b="b"/>
              <a:pathLst>
                <a:path w="787400" h="1104900">
                  <a:moveTo>
                    <a:pt x="0" y="0"/>
                  </a:moveTo>
                  <a:lnTo>
                    <a:pt x="787400" y="0"/>
                  </a:lnTo>
                  <a:lnTo>
                    <a:pt x="787400" y="1104900"/>
                  </a:lnTo>
                  <a:lnTo>
                    <a:pt x="0" y="1104900"/>
                  </a:lnTo>
                  <a:lnTo>
                    <a:pt x="0" y="0"/>
                  </a:lnTo>
                  <a:close/>
                </a:path>
              </a:pathLst>
            </a:custGeom>
            <a:blipFill>
              <a:blip r:embed="rId8"/>
              <a:stretch>
                <a:fillRect/>
              </a:stretch>
            </a:blipFill>
          </p:spPr>
        </p:sp>
      </p:grpSp>
      <p:grpSp>
        <p:nvGrpSpPr>
          <p:cNvPr id="22" name="Group 22"/>
          <p:cNvGrpSpPr/>
          <p:nvPr/>
        </p:nvGrpSpPr>
        <p:grpSpPr>
          <a:xfrm>
            <a:off x="295275" y="1876015"/>
            <a:ext cx="11598924" cy="2058557"/>
            <a:chOff x="0" y="0"/>
            <a:chExt cx="3517324" cy="624249"/>
          </a:xfrm>
        </p:grpSpPr>
        <p:sp>
          <p:nvSpPr>
            <p:cNvPr id="23" name="Freeform 23"/>
            <p:cNvSpPr/>
            <p:nvPr/>
          </p:nvSpPr>
          <p:spPr>
            <a:xfrm>
              <a:off x="0" y="0"/>
              <a:ext cx="3517324" cy="624249"/>
            </a:xfrm>
            <a:custGeom>
              <a:avLst/>
              <a:gdLst/>
              <a:ahLst/>
              <a:cxnLst/>
              <a:rect l="l" t="t" r="r" b="b"/>
              <a:pathLst>
                <a:path w="3517324" h="624249">
                  <a:moveTo>
                    <a:pt x="0" y="0"/>
                  </a:moveTo>
                  <a:lnTo>
                    <a:pt x="3517324" y="0"/>
                  </a:lnTo>
                  <a:lnTo>
                    <a:pt x="3517324" y="624249"/>
                  </a:lnTo>
                  <a:lnTo>
                    <a:pt x="0" y="624249"/>
                  </a:lnTo>
                  <a:close/>
                </a:path>
              </a:pathLst>
            </a:custGeom>
            <a:solidFill>
              <a:srgbClr val="000000"/>
            </a:solidFill>
          </p:spPr>
        </p:sp>
        <p:sp>
          <p:nvSpPr>
            <p:cNvPr id="24" name="TextBox 24"/>
            <p:cNvSpPr txBox="1"/>
            <p:nvPr/>
          </p:nvSpPr>
          <p:spPr>
            <a:xfrm>
              <a:off x="0" y="-47625"/>
              <a:ext cx="3517324" cy="671874"/>
            </a:xfrm>
            <a:prstGeom prst="rect">
              <a:avLst/>
            </a:prstGeom>
          </p:spPr>
          <p:txBody>
            <a:bodyPr lIns="50800" tIns="50800" rIns="50800" bIns="50800" rtlCol="0" anchor="ctr"/>
            <a:lstStyle/>
            <a:p>
              <a:pPr algn="ctr">
                <a:lnSpc>
                  <a:spcPts val="2520"/>
                </a:lnSpc>
              </a:pPr>
              <a:endParaRPr/>
            </a:p>
          </p:txBody>
        </p:sp>
      </p:grpSp>
      <p:sp>
        <p:nvSpPr>
          <p:cNvPr id="25" name="Freeform 25"/>
          <p:cNvSpPr/>
          <p:nvPr/>
        </p:nvSpPr>
        <p:spPr>
          <a:xfrm>
            <a:off x="757990" y="68456"/>
            <a:ext cx="28575" cy="824970"/>
          </a:xfrm>
          <a:custGeom>
            <a:avLst/>
            <a:gdLst/>
            <a:ahLst/>
            <a:cxnLst/>
            <a:rect l="l" t="t" r="r" b="b"/>
            <a:pathLst>
              <a:path w="28575" h="824970">
                <a:moveTo>
                  <a:pt x="0" y="0"/>
                </a:moveTo>
                <a:lnTo>
                  <a:pt x="28575" y="0"/>
                </a:lnTo>
                <a:lnTo>
                  <a:pt x="28575" y="824970"/>
                </a:lnTo>
                <a:lnTo>
                  <a:pt x="0" y="824970"/>
                </a:lnTo>
                <a:lnTo>
                  <a:pt x="0" y="0"/>
                </a:lnTo>
                <a:close/>
              </a:path>
            </a:pathLst>
          </a:custGeom>
          <a:blipFill>
            <a:blip>
              <a:extLst>
                <a:ext uri="{96DAC541-7B7A-43D3-8B79-37D633B846F1}">
                  <asvg:svgBlip xmlns:asvg="http://schemas.microsoft.com/office/drawing/2016/SVG/main" r:embed="rId9"/>
                </a:ext>
              </a:extLst>
            </a:blip>
            <a:stretch>
              <a:fillRect/>
            </a:stretch>
          </a:blipFill>
        </p:spPr>
      </p:sp>
      <p:grpSp>
        <p:nvGrpSpPr>
          <p:cNvPr id="26" name="Group 26"/>
          <p:cNvGrpSpPr/>
          <p:nvPr/>
        </p:nvGrpSpPr>
        <p:grpSpPr>
          <a:xfrm>
            <a:off x="14064891" y="76733"/>
            <a:ext cx="1819275" cy="1038225"/>
            <a:chOff x="0" y="0"/>
            <a:chExt cx="2425700" cy="1384300"/>
          </a:xfrm>
        </p:grpSpPr>
        <p:sp>
          <p:nvSpPr>
            <p:cNvPr id="27" name="Freeform 27"/>
            <p:cNvSpPr/>
            <p:nvPr/>
          </p:nvSpPr>
          <p:spPr>
            <a:xfrm>
              <a:off x="0" y="0"/>
              <a:ext cx="2425700" cy="1384300"/>
            </a:xfrm>
            <a:custGeom>
              <a:avLst/>
              <a:gdLst/>
              <a:ahLst/>
              <a:cxnLst/>
              <a:rect l="l" t="t" r="r" b="b"/>
              <a:pathLst>
                <a:path w="2425700" h="1384300">
                  <a:moveTo>
                    <a:pt x="0" y="0"/>
                  </a:moveTo>
                  <a:lnTo>
                    <a:pt x="2425700" y="0"/>
                  </a:lnTo>
                  <a:lnTo>
                    <a:pt x="2425700" y="1384300"/>
                  </a:lnTo>
                  <a:lnTo>
                    <a:pt x="0" y="1384300"/>
                  </a:lnTo>
                  <a:lnTo>
                    <a:pt x="0" y="0"/>
                  </a:lnTo>
                  <a:close/>
                </a:path>
              </a:pathLst>
            </a:custGeom>
            <a:blipFill>
              <a:blip r:embed="rId10"/>
              <a:stretch>
                <a:fillRect/>
              </a:stretch>
            </a:blipFill>
          </p:spPr>
        </p:sp>
      </p:grpSp>
      <p:grpSp>
        <p:nvGrpSpPr>
          <p:cNvPr id="28" name="Group 28"/>
          <p:cNvGrpSpPr/>
          <p:nvPr/>
        </p:nvGrpSpPr>
        <p:grpSpPr>
          <a:xfrm>
            <a:off x="295275" y="3927588"/>
            <a:ext cx="390525" cy="381000"/>
            <a:chOff x="0" y="0"/>
            <a:chExt cx="520700" cy="508000"/>
          </a:xfrm>
        </p:grpSpPr>
        <p:sp>
          <p:nvSpPr>
            <p:cNvPr id="29" name="Freeform 29"/>
            <p:cNvSpPr/>
            <p:nvPr/>
          </p:nvSpPr>
          <p:spPr>
            <a:xfrm>
              <a:off x="0" y="0"/>
              <a:ext cx="520700" cy="508000"/>
            </a:xfrm>
            <a:custGeom>
              <a:avLst/>
              <a:gdLst/>
              <a:ahLst/>
              <a:cxnLst/>
              <a:rect l="l" t="t" r="r" b="b"/>
              <a:pathLst>
                <a:path w="520700" h="508000">
                  <a:moveTo>
                    <a:pt x="0" y="0"/>
                  </a:moveTo>
                  <a:lnTo>
                    <a:pt x="520700" y="0"/>
                  </a:lnTo>
                  <a:lnTo>
                    <a:pt x="520700" y="508000"/>
                  </a:lnTo>
                  <a:lnTo>
                    <a:pt x="0" y="508000"/>
                  </a:lnTo>
                  <a:lnTo>
                    <a:pt x="0" y="0"/>
                  </a:lnTo>
                  <a:close/>
                </a:path>
              </a:pathLst>
            </a:custGeom>
            <a:blipFill>
              <a:blip r:embed="rId11"/>
              <a:stretch>
                <a:fillRect/>
              </a:stretch>
            </a:blipFill>
          </p:spPr>
        </p:sp>
      </p:grpSp>
      <p:grpSp>
        <p:nvGrpSpPr>
          <p:cNvPr id="30" name="Group 30"/>
          <p:cNvGrpSpPr/>
          <p:nvPr/>
        </p:nvGrpSpPr>
        <p:grpSpPr>
          <a:xfrm>
            <a:off x="295275" y="1942690"/>
            <a:ext cx="390525" cy="381000"/>
            <a:chOff x="0" y="0"/>
            <a:chExt cx="520700" cy="508000"/>
          </a:xfrm>
        </p:grpSpPr>
        <p:sp>
          <p:nvSpPr>
            <p:cNvPr id="31" name="Freeform 31"/>
            <p:cNvSpPr/>
            <p:nvPr/>
          </p:nvSpPr>
          <p:spPr>
            <a:xfrm>
              <a:off x="0" y="0"/>
              <a:ext cx="520700" cy="508000"/>
            </a:xfrm>
            <a:custGeom>
              <a:avLst/>
              <a:gdLst/>
              <a:ahLst/>
              <a:cxnLst/>
              <a:rect l="l" t="t" r="r" b="b"/>
              <a:pathLst>
                <a:path w="520700" h="508000">
                  <a:moveTo>
                    <a:pt x="0" y="0"/>
                  </a:moveTo>
                  <a:lnTo>
                    <a:pt x="520700" y="0"/>
                  </a:lnTo>
                  <a:lnTo>
                    <a:pt x="520700" y="508000"/>
                  </a:lnTo>
                  <a:lnTo>
                    <a:pt x="0" y="508000"/>
                  </a:lnTo>
                  <a:lnTo>
                    <a:pt x="0" y="0"/>
                  </a:lnTo>
                  <a:close/>
                </a:path>
              </a:pathLst>
            </a:custGeom>
            <a:blipFill>
              <a:blip r:embed="rId11"/>
              <a:stretch>
                <a:fillRect/>
              </a:stretch>
            </a:blipFill>
          </p:spPr>
        </p:sp>
      </p:grpSp>
      <p:grpSp>
        <p:nvGrpSpPr>
          <p:cNvPr id="32" name="Group 32"/>
          <p:cNvGrpSpPr/>
          <p:nvPr/>
        </p:nvGrpSpPr>
        <p:grpSpPr>
          <a:xfrm>
            <a:off x="395288" y="6488554"/>
            <a:ext cx="390525" cy="381000"/>
            <a:chOff x="0" y="0"/>
            <a:chExt cx="520700" cy="508000"/>
          </a:xfrm>
        </p:grpSpPr>
        <p:sp>
          <p:nvSpPr>
            <p:cNvPr id="33" name="Freeform 33"/>
            <p:cNvSpPr/>
            <p:nvPr/>
          </p:nvSpPr>
          <p:spPr>
            <a:xfrm>
              <a:off x="0" y="0"/>
              <a:ext cx="520700" cy="508000"/>
            </a:xfrm>
            <a:custGeom>
              <a:avLst/>
              <a:gdLst/>
              <a:ahLst/>
              <a:cxnLst/>
              <a:rect l="l" t="t" r="r" b="b"/>
              <a:pathLst>
                <a:path w="520700" h="508000">
                  <a:moveTo>
                    <a:pt x="0" y="0"/>
                  </a:moveTo>
                  <a:lnTo>
                    <a:pt x="520700" y="0"/>
                  </a:lnTo>
                  <a:lnTo>
                    <a:pt x="520700" y="508000"/>
                  </a:lnTo>
                  <a:lnTo>
                    <a:pt x="0" y="508000"/>
                  </a:lnTo>
                  <a:lnTo>
                    <a:pt x="0" y="0"/>
                  </a:lnTo>
                  <a:close/>
                </a:path>
              </a:pathLst>
            </a:custGeom>
            <a:blipFill>
              <a:blip r:embed="rId11"/>
              <a:stretch>
                <a:fillRect/>
              </a:stretch>
            </a:blipFill>
          </p:spPr>
        </p:sp>
      </p:grpSp>
      <p:grpSp>
        <p:nvGrpSpPr>
          <p:cNvPr id="34" name="Group 34"/>
          <p:cNvGrpSpPr/>
          <p:nvPr/>
        </p:nvGrpSpPr>
        <p:grpSpPr>
          <a:xfrm>
            <a:off x="758000" y="68475"/>
            <a:ext cx="28575" cy="824970"/>
            <a:chOff x="0" y="0"/>
            <a:chExt cx="28575" cy="824979"/>
          </a:xfrm>
        </p:grpSpPr>
        <p:sp>
          <p:nvSpPr>
            <p:cNvPr id="35" name="Freeform 35"/>
            <p:cNvSpPr/>
            <p:nvPr/>
          </p:nvSpPr>
          <p:spPr>
            <a:xfrm>
              <a:off x="0" y="0"/>
              <a:ext cx="28575" cy="824997"/>
            </a:xfrm>
            <a:custGeom>
              <a:avLst/>
              <a:gdLst/>
              <a:ahLst/>
              <a:cxnLst/>
              <a:rect l="l" t="t" r="r" b="b"/>
              <a:pathLst>
                <a:path w="28575" h="824997">
                  <a:moveTo>
                    <a:pt x="0" y="824997"/>
                  </a:moveTo>
                  <a:lnTo>
                    <a:pt x="28575" y="824997"/>
                  </a:lnTo>
                  <a:lnTo>
                    <a:pt x="28575" y="0"/>
                  </a:lnTo>
                  <a:lnTo>
                    <a:pt x="0" y="0"/>
                  </a:lnTo>
                  <a:close/>
                </a:path>
              </a:pathLst>
            </a:custGeom>
            <a:solidFill>
              <a:srgbClr val="000000">
                <a:alpha val="0"/>
              </a:srgbClr>
            </a:solidFill>
          </p:spPr>
        </p:sp>
      </p:grpSp>
      <p:sp>
        <p:nvSpPr>
          <p:cNvPr id="36" name="Freeform 36"/>
          <p:cNvSpPr/>
          <p:nvPr/>
        </p:nvSpPr>
        <p:spPr>
          <a:xfrm>
            <a:off x="12396081" y="1463542"/>
            <a:ext cx="2683899" cy="2576543"/>
          </a:xfrm>
          <a:custGeom>
            <a:avLst/>
            <a:gdLst/>
            <a:ahLst/>
            <a:cxnLst/>
            <a:rect l="l" t="t" r="r" b="b"/>
            <a:pathLst>
              <a:path w="2683899" h="2576543">
                <a:moveTo>
                  <a:pt x="0" y="0"/>
                </a:moveTo>
                <a:lnTo>
                  <a:pt x="2683899" y="0"/>
                </a:lnTo>
                <a:lnTo>
                  <a:pt x="2683899" y="2576544"/>
                </a:lnTo>
                <a:lnTo>
                  <a:pt x="0" y="2576544"/>
                </a:lnTo>
                <a:lnTo>
                  <a:pt x="0" y="0"/>
                </a:lnTo>
                <a:close/>
              </a:path>
            </a:pathLst>
          </a:custGeom>
          <a:blipFill>
            <a:blip>
              <a:extLst>
                <a:ext uri="{96DAC541-7B7A-43D3-8B79-37D633B846F1}">
                  <asvg:svgBlip xmlns:asvg="http://schemas.microsoft.com/office/drawing/2016/SVG/main" r:embed="rId12"/>
                </a:ext>
              </a:extLst>
            </a:blip>
            <a:stretch>
              <a:fillRect/>
            </a:stretch>
          </a:blipFill>
        </p:spPr>
      </p:sp>
      <p:sp>
        <p:nvSpPr>
          <p:cNvPr id="37" name="TextBox 37"/>
          <p:cNvSpPr txBox="1"/>
          <p:nvPr/>
        </p:nvSpPr>
        <p:spPr>
          <a:xfrm>
            <a:off x="757990" y="1018765"/>
            <a:ext cx="10039179" cy="710708"/>
          </a:xfrm>
          <a:prstGeom prst="rect">
            <a:avLst/>
          </a:prstGeom>
        </p:spPr>
        <p:txBody>
          <a:bodyPr lIns="0" tIns="0" rIns="0" bIns="0" rtlCol="0" anchor="t">
            <a:spAutoFit/>
          </a:bodyPr>
          <a:lstStyle/>
          <a:p>
            <a:pPr algn="l">
              <a:lnSpc>
                <a:spcPts val="5840"/>
              </a:lnSpc>
            </a:pPr>
            <a:r>
              <a:rPr lang="en-US" sz="4171">
                <a:solidFill>
                  <a:srgbClr val="4AF66D"/>
                </a:solidFill>
                <a:latin typeface="Bank Gothic Medium"/>
                <a:ea typeface="Bank Gothic Medium"/>
                <a:cs typeface="Bank Gothic Medium"/>
                <a:sym typeface="Bank Gothic Medium"/>
              </a:rPr>
              <a:t>Proposed Solution &amp; Innovation</a:t>
            </a:r>
          </a:p>
        </p:txBody>
      </p:sp>
      <p:sp>
        <p:nvSpPr>
          <p:cNvPr id="38" name="TextBox 38"/>
          <p:cNvSpPr txBox="1"/>
          <p:nvPr/>
        </p:nvSpPr>
        <p:spPr>
          <a:xfrm>
            <a:off x="685800" y="3890226"/>
            <a:ext cx="3014310" cy="439684"/>
          </a:xfrm>
          <a:prstGeom prst="rect">
            <a:avLst/>
          </a:prstGeom>
        </p:spPr>
        <p:txBody>
          <a:bodyPr lIns="0" tIns="0" rIns="0" bIns="0" rtlCol="0" anchor="t">
            <a:spAutoFit/>
          </a:bodyPr>
          <a:lstStyle/>
          <a:p>
            <a:pPr algn="l">
              <a:lnSpc>
                <a:spcPts val="3629"/>
              </a:lnSpc>
            </a:pPr>
            <a:r>
              <a:rPr lang="en-US" sz="2592">
                <a:solidFill>
                  <a:srgbClr val="FFFFFF"/>
                </a:solidFill>
                <a:latin typeface="Bank Gothic Medium"/>
                <a:ea typeface="Bank Gothic Medium"/>
                <a:cs typeface="Bank Gothic Medium"/>
                <a:sym typeface="Bank Gothic Medium"/>
              </a:rPr>
              <a:t>Core mechanism</a:t>
            </a:r>
          </a:p>
        </p:txBody>
      </p:sp>
      <p:sp>
        <p:nvSpPr>
          <p:cNvPr id="39" name="TextBox 39"/>
          <p:cNvSpPr txBox="1"/>
          <p:nvPr/>
        </p:nvSpPr>
        <p:spPr>
          <a:xfrm>
            <a:off x="757990" y="1884007"/>
            <a:ext cx="4525851" cy="439684"/>
          </a:xfrm>
          <a:prstGeom prst="rect">
            <a:avLst/>
          </a:prstGeom>
        </p:spPr>
        <p:txBody>
          <a:bodyPr lIns="0" tIns="0" rIns="0" bIns="0" rtlCol="0" anchor="t">
            <a:spAutoFit/>
          </a:bodyPr>
          <a:lstStyle/>
          <a:p>
            <a:pPr algn="l">
              <a:lnSpc>
                <a:spcPts val="3629"/>
              </a:lnSpc>
            </a:pPr>
            <a:r>
              <a:rPr lang="en-US" sz="2592">
                <a:solidFill>
                  <a:srgbClr val="FFFFFF"/>
                </a:solidFill>
                <a:latin typeface="Bank Gothic Medium"/>
                <a:ea typeface="Bank Gothic Medium"/>
                <a:cs typeface="Bank Gothic Medium"/>
                <a:sym typeface="Bank Gothic Medium"/>
              </a:rPr>
              <a:t>What makes it different</a:t>
            </a:r>
          </a:p>
        </p:txBody>
      </p:sp>
      <p:sp>
        <p:nvSpPr>
          <p:cNvPr id="40" name="TextBox 40"/>
          <p:cNvSpPr txBox="1"/>
          <p:nvPr/>
        </p:nvSpPr>
        <p:spPr>
          <a:xfrm>
            <a:off x="786575" y="6500236"/>
            <a:ext cx="6442891" cy="439684"/>
          </a:xfrm>
          <a:prstGeom prst="rect">
            <a:avLst/>
          </a:prstGeom>
        </p:spPr>
        <p:txBody>
          <a:bodyPr lIns="0" tIns="0" rIns="0" bIns="0" rtlCol="0" anchor="t">
            <a:spAutoFit/>
          </a:bodyPr>
          <a:lstStyle/>
          <a:p>
            <a:pPr algn="l">
              <a:lnSpc>
                <a:spcPts val="3629"/>
              </a:lnSpc>
            </a:pPr>
            <a:r>
              <a:rPr lang="en-US" sz="2592">
                <a:solidFill>
                  <a:srgbClr val="FFFFFF"/>
                </a:solidFill>
                <a:latin typeface="Bank Gothic Medium"/>
                <a:ea typeface="Bank Gothic Medium"/>
                <a:cs typeface="Bank Gothic Medium"/>
                <a:sym typeface="Bank Gothic Medium"/>
              </a:rPr>
              <a:t>Why it's feasible in this timeframe</a:t>
            </a:r>
          </a:p>
        </p:txBody>
      </p:sp>
      <p:sp>
        <p:nvSpPr>
          <p:cNvPr id="41" name="TextBox 41"/>
          <p:cNvSpPr txBox="1"/>
          <p:nvPr/>
        </p:nvSpPr>
        <p:spPr>
          <a:xfrm>
            <a:off x="490537" y="2380093"/>
            <a:ext cx="11073409" cy="1461770"/>
          </a:xfrm>
          <a:prstGeom prst="rect">
            <a:avLst/>
          </a:prstGeom>
        </p:spPr>
        <p:txBody>
          <a:bodyPr lIns="0" tIns="0" rIns="0" bIns="0" rtlCol="0" anchor="t">
            <a:spAutoFit/>
          </a:bodyPr>
          <a:lstStyle/>
          <a:p>
            <a:pPr algn="just">
              <a:lnSpc>
                <a:spcPts val="2380"/>
              </a:lnSpc>
              <a:spcBef>
                <a:spcPct val="0"/>
              </a:spcBef>
            </a:pPr>
            <a:r>
              <a:rPr lang="en-US" sz="1700" b="1">
                <a:solidFill>
                  <a:srgbClr val="FFFFFF"/>
                </a:solidFill>
                <a:latin typeface="Quicksand Medium"/>
                <a:ea typeface="Quicksand Medium"/>
                <a:cs typeface="Quicksand Medium"/>
                <a:sym typeface="Quicksand Medium"/>
              </a:rPr>
              <a:t>1. It does not substitute the tools that are already in place. Its purpose is to link all the tools together into one cogitative center, the brain.</a:t>
            </a:r>
          </a:p>
          <a:p>
            <a:pPr algn="just">
              <a:lnSpc>
                <a:spcPts val="2380"/>
              </a:lnSpc>
              <a:spcBef>
                <a:spcPct val="0"/>
              </a:spcBef>
            </a:pPr>
            <a:r>
              <a:rPr lang="en-US" sz="1700" b="1">
                <a:solidFill>
                  <a:srgbClr val="FFFFFF"/>
                </a:solidFill>
                <a:latin typeface="Quicksand Medium"/>
                <a:ea typeface="Quicksand Medium"/>
                <a:cs typeface="Quicksand Medium"/>
                <a:sym typeface="Quicksand Medium"/>
              </a:rPr>
              <a:t>2. It also uses Open FAIR to assess the threats in monetary terms.</a:t>
            </a:r>
          </a:p>
          <a:p>
            <a:pPr algn="just">
              <a:lnSpc>
                <a:spcPts val="2380"/>
              </a:lnSpc>
              <a:spcBef>
                <a:spcPct val="0"/>
              </a:spcBef>
            </a:pPr>
            <a:r>
              <a:rPr lang="en-US" sz="1700" b="1">
                <a:solidFill>
                  <a:srgbClr val="FFFFFF"/>
                </a:solidFill>
                <a:latin typeface="Quicksand Medium"/>
                <a:ea typeface="Quicksand Medium"/>
                <a:cs typeface="Quicksand Medium"/>
                <a:sym typeface="Quicksand Medium"/>
              </a:rPr>
              <a:t>3. It makes use of the tools to calculate the least expensive way to save the greatest amount of money.</a:t>
            </a:r>
          </a:p>
          <a:p>
            <a:pPr algn="just">
              <a:lnSpc>
                <a:spcPts val="2380"/>
              </a:lnSpc>
              <a:spcBef>
                <a:spcPct val="0"/>
              </a:spcBef>
            </a:pPr>
            <a:r>
              <a:rPr lang="en-US" sz="1700" b="1">
                <a:solidFill>
                  <a:srgbClr val="FFFFFF"/>
                </a:solidFill>
                <a:latin typeface="Quicksand Medium"/>
                <a:ea typeface="Quicksand Medium"/>
                <a:cs typeface="Quicksand Medium"/>
                <a:sym typeface="Quicksand Medium"/>
              </a:rPr>
              <a:t>4. It was designed specifically for India.</a:t>
            </a:r>
          </a:p>
        </p:txBody>
      </p:sp>
      <p:sp>
        <p:nvSpPr>
          <p:cNvPr id="42" name="TextBox 42"/>
          <p:cNvSpPr txBox="1"/>
          <p:nvPr/>
        </p:nvSpPr>
        <p:spPr>
          <a:xfrm>
            <a:off x="490537" y="4387059"/>
            <a:ext cx="11225090" cy="2052320"/>
          </a:xfrm>
          <a:prstGeom prst="rect">
            <a:avLst/>
          </a:prstGeom>
        </p:spPr>
        <p:txBody>
          <a:bodyPr lIns="0" tIns="0" rIns="0" bIns="0" rtlCol="0" anchor="t">
            <a:spAutoFit/>
          </a:bodyPr>
          <a:lstStyle/>
          <a:p>
            <a:pPr algn="just">
              <a:lnSpc>
                <a:spcPts val="2380"/>
              </a:lnSpc>
              <a:spcBef>
                <a:spcPct val="0"/>
              </a:spcBef>
            </a:pPr>
            <a:r>
              <a:rPr lang="en-US" sz="1700" b="1">
                <a:solidFill>
                  <a:srgbClr val="FFFFFF"/>
                </a:solidFill>
                <a:latin typeface="Quicksand Medium"/>
                <a:ea typeface="Quicksand Medium"/>
                <a:cs typeface="Quicksand Medium"/>
                <a:sym typeface="Quicksand Medium"/>
              </a:rPr>
              <a:t>1. Webhooks take in the feed of live data from scanners, firewalls, and EDR and crystallizes it into one standardized schema</a:t>
            </a:r>
          </a:p>
          <a:p>
            <a:pPr algn="just">
              <a:lnSpc>
                <a:spcPts val="2380"/>
              </a:lnSpc>
              <a:spcBef>
                <a:spcPct val="0"/>
              </a:spcBef>
            </a:pPr>
            <a:r>
              <a:rPr lang="en-US" sz="1700" b="1">
                <a:solidFill>
                  <a:srgbClr val="FFFFFF"/>
                </a:solidFill>
                <a:latin typeface="Quicksand Medium"/>
                <a:ea typeface="Quicksand Medium"/>
                <a:cs typeface="Quicksand Medium"/>
                <a:sym typeface="Quicksand Medium"/>
              </a:rPr>
              <a:t>2. Monte Carlo simulation (Open FAIR) evaluates the expected financial loss per threat</a:t>
            </a:r>
          </a:p>
          <a:p>
            <a:pPr algn="just">
              <a:lnSpc>
                <a:spcPts val="2380"/>
              </a:lnSpc>
              <a:spcBef>
                <a:spcPct val="0"/>
              </a:spcBef>
            </a:pPr>
            <a:r>
              <a:rPr lang="en-US" sz="1700" b="1">
                <a:solidFill>
                  <a:srgbClr val="FFFFFF"/>
                </a:solidFill>
                <a:latin typeface="Quicksand Medium"/>
                <a:ea typeface="Quicksand Medium"/>
                <a:cs typeface="Quicksand Medium"/>
                <a:sym typeface="Quicksand Medium"/>
              </a:rPr>
              <a:t>3. MILP solver searches for optimal fixes within the limitations of the bank's finance</a:t>
            </a:r>
          </a:p>
          <a:p>
            <a:pPr algn="just">
              <a:lnSpc>
                <a:spcPts val="2380"/>
              </a:lnSpc>
              <a:spcBef>
                <a:spcPct val="0"/>
              </a:spcBef>
            </a:pPr>
            <a:r>
              <a:rPr lang="en-US" sz="1700" b="1">
                <a:solidFill>
                  <a:srgbClr val="FFFFFF"/>
                </a:solidFill>
                <a:latin typeface="Quicksand Medium"/>
                <a:ea typeface="Quicksand Medium"/>
                <a:cs typeface="Quicksand Medium"/>
                <a:sym typeface="Quicksand Medium"/>
              </a:rPr>
              <a:t>4. Async queue (Redis + Celery) sends out notifications on Slack or by email as soon as the risk threshold is breached</a:t>
            </a:r>
          </a:p>
          <a:p>
            <a:pPr algn="just">
              <a:lnSpc>
                <a:spcPts val="2380"/>
              </a:lnSpc>
              <a:spcBef>
                <a:spcPct val="0"/>
              </a:spcBef>
            </a:pPr>
            <a:r>
              <a:rPr lang="en-US" sz="1700" b="1">
                <a:solidFill>
                  <a:srgbClr val="FFFFFF"/>
                </a:solidFill>
                <a:latin typeface="Quicksand Medium"/>
                <a:ea typeface="Quicksand Medium"/>
                <a:cs typeface="Quicksand Medium"/>
                <a:sym typeface="Quicksand Medium"/>
              </a:rPr>
              <a:t>5. Generates compliance reports automatically within the 6-hour requirement</a:t>
            </a:r>
          </a:p>
        </p:txBody>
      </p:sp>
      <p:sp>
        <p:nvSpPr>
          <p:cNvPr id="43" name="TextBox 43"/>
          <p:cNvSpPr txBox="1"/>
          <p:nvPr/>
        </p:nvSpPr>
        <p:spPr>
          <a:xfrm>
            <a:off x="490537" y="6967395"/>
            <a:ext cx="11111098" cy="1166495"/>
          </a:xfrm>
          <a:prstGeom prst="rect">
            <a:avLst/>
          </a:prstGeom>
        </p:spPr>
        <p:txBody>
          <a:bodyPr lIns="0" tIns="0" rIns="0" bIns="0" rtlCol="0" anchor="t">
            <a:spAutoFit/>
          </a:bodyPr>
          <a:lstStyle/>
          <a:p>
            <a:pPr algn="l">
              <a:lnSpc>
                <a:spcPts val="2380"/>
              </a:lnSpc>
              <a:spcBef>
                <a:spcPct val="0"/>
              </a:spcBef>
            </a:pPr>
            <a:r>
              <a:rPr lang="en-US" sz="1700" b="1">
                <a:solidFill>
                  <a:srgbClr val="FFFFFF"/>
                </a:solidFill>
                <a:latin typeface="Quicksand Medium"/>
                <a:ea typeface="Quicksand Medium"/>
                <a:cs typeface="Quicksand Medium"/>
                <a:sym typeface="Quicksand Medium"/>
              </a:rPr>
              <a:t>1. Tested, open-source stack: FastAPI, Celery, Redis, PuLP / OR-Tools, PostgreSQL</a:t>
            </a:r>
          </a:p>
          <a:p>
            <a:pPr algn="l">
              <a:lnSpc>
                <a:spcPts val="2380"/>
              </a:lnSpc>
              <a:spcBef>
                <a:spcPct val="0"/>
              </a:spcBef>
            </a:pPr>
            <a:r>
              <a:rPr lang="en-US" sz="1700" b="1">
                <a:solidFill>
                  <a:srgbClr val="FFFFFF"/>
                </a:solidFill>
                <a:latin typeface="Quicksand Medium"/>
                <a:ea typeface="Quicksand Medium"/>
                <a:cs typeface="Quicksand Medium"/>
                <a:sym typeface="Quicksand Medium"/>
              </a:rPr>
              <a:t>2. Simulator script simulates alerts from 3 different tools, eliminating reliance on actual integrations</a:t>
            </a:r>
          </a:p>
          <a:p>
            <a:pPr algn="l">
              <a:lnSpc>
                <a:spcPts val="2380"/>
              </a:lnSpc>
              <a:spcBef>
                <a:spcPct val="0"/>
              </a:spcBef>
            </a:pPr>
            <a:r>
              <a:rPr lang="en-US" sz="1700" b="1">
                <a:solidFill>
                  <a:srgbClr val="FFFFFF"/>
                </a:solidFill>
                <a:latin typeface="Quicksand Medium"/>
                <a:ea typeface="Quicksand Medium"/>
                <a:cs typeface="Quicksand Medium"/>
                <a:sym typeface="Quicksand Medium"/>
              </a:rPr>
              <a:t>3. One seamless end-to-end process: alert → risk amount in rupees → optimizer → notification → PDF</a:t>
            </a:r>
          </a:p>
          <a:p>
            <a:pPr algn="l">
              <a:lnSpc>
                <a:spcPts val="2380"/>
              </a:lnSpc>
              <a:spcBef>
                <a:spcPct val="0"/>
              </a:spcBef>
            </a:pPr>
            <a:r>
              <a:rPr lang="en-US" sz="1700" b="1">
                <a:solidFill>
                  <a:srgbClr val="FFFFFF"/>
                </a:solidFill>
                <a:latin typeface="Quicksand Medium"/>
                <a:ea typeface="Quicksand Medium"/>
                <a:cs typeface="Quicksand Medium"/>
                <a:sym typeface="Quicksand Medium"/>
              </a:rPr>
              <a:t>4. Verified by actual input from IT manager of a reputed public sector bank.</a:t>
            </a:r>
          </a:p>
        </p:txBody>
      </p:sp>
      <p:grpSp>
        <p:nvGrpSpPr>
          <p:cNvPr id="44" name="Group 44"/>
          <p:cNvGrpSpPr/>
          <p:nvPr/>
        </p:nvGrpSpPr>
        <p:grpSpPr>
          <a:xfrm>
            <a:off x="11998974" y="4243303"/>
            <a:ext cx="3667757" cy="3773813"/>
            <a:chOff x="0" y="0"/>
            <a:chExt cx="1112231" cy="1144393"/>
          </a:xfrm>
        </p:grpSpPr>
        <p:sp>
          <p:nvSpPr>
            <p:cNvPr id="45" name="Freeform 45"/>
            <p:cNvSpPr/>
            <p:nvPr/>
          </p:nvSpPr>
          <p:spPr>
            <a:xfrm>
              <a:off x="0" y="0"/>
              <a:ext cx="1112231" cy="1144393"/>
            </a:xfrm>
            <a:custGeom>
              <a:avLst/>
              <a:gdLst/>
              <a:ahLst/>
              <a:cxnLst/>
              <a:rect l="l" t="t" r="r" b="b"/>
              <a:pathLst>
                <a:path w="1112231" h="1144393">
                  <a:moveTo>
                    <a:pt x="0" y="0"/>
                  </a:moveTo>
                  <a:lnTo>
                    <a:pt x="1112231" y="0"/>
                  </a:lnTo>
                  <a:lnTo>
                    <a:pt x="1112231" y="1144393"/>
                  </a:lnTo>
                  <a:lnTo>
                    <a:pt x="0" y="1144393"/>
                  </a:lnTo>
                  <a:close/>
                </a:path>
              </a:pathLst>
            </a:custGeom>
            <a:solidFill>
              <a:srgbClr val="000000"/>
            </a:solidFill>
          </p:spPr>
        </p:sp>
        <p:sp>
          <p:nvSpPr>
            <p:cNvPr id="46" name="TextBox 46"/>
            <p:cNvSpPr txBox="1"/>
            <p:nvPr/>
          </p:nvSpPr>
          <p:spPr>
            <a:xfrm>
              <a:off x="0" y="-57150"/>
              <a:ext cx="1112231" cy="1201543"/>
            </a:xfrm>
            <a:prstGeom prst="rect">
              <a:avLst/>
            </a:prstGeom>
          </p:spPr>
          <p:txBody>
            <a:bodyPr lIns="50800" tIns="50800" rIns="50800" bIns="50800" rtlCol="0" anchor="ctr"/>
            <a:lstStyle/>
            <a:p>
              <a:pPr algn="ctr">
                <a:lnSpc>
                  <a:spcPts val="3359"/>
                </a:lnSpc>
              </a:pPr>
              <a:r>
                <a:rPr lang="en-US" sz="2399" spc="278">
                  <a:solidFill>
                    <a:srgbClr val="4AF66D"/>
                  </a:solidFill>
                  <a:latin typeface="Bank Gothic Medium"/>
                  <a:ea typeface="Bank Gothic Medium"/>
                  <a:cs typeface="Bank Gothic Medium"/>
                  <a:sym typeface="Bank Gothic Medium"/>
                </a:rPr>
                <a:t>RBI Notification</a:t>
              </a:r>
            </a:p>
            <a:p>
              <a:pPr algn="ctr">
                <a:lnSpc>
                  <a:spcPts val="3359"/>
                </a:lnSpc>
              </a:pPr>
              <a:endParaRPr lang="en-US" sz="2399" spc="278">
                <a:solidFill>
                  <a:srgbClr val="4AF66D"/>
                </a:solidFill>
                <a:latin typeface="Bank Gothic Medium"/>
                <a:ea typeface="Bank Gothic Medium"/>
                <a:cs typeface="Bank Gothic Medium"/>
                <a:sym typeface="Bank Gothic Medium"/>
              </a:endParaRPr>
            </a:p>
            <a:p>
              <a:pPr algn="ctr">
                <a:lnSpc>
                  <a:spcPts val="2520"/>
                </a:lnSpc>
              </a:pPr>
              <a:endParaRPr lang="en-US" sz="2399" spc="278">
                <a:solidFill>
                  <a:srgbClr val="4AF66D"/>
                </a:solidFill>
                <a:latin typeface="Bank Gothic Medium"/>
                <a:ea typeface="Bank Gothic Medium"/>
                <a:cs typeface="Bank Gothic Medium"/>
                <a:sym typeface="Bank Gothic Medium"/>
              </a:endParaRPr>
            </a:p>
            <a:p>
              <a:pPr algn="ctr">
                <a:lnSpc>
                  <a:spcPts val="2520"/>
                </a:lnSpc>
              </a:pPr>
              <a:endParaRPr lang="en-US" sz="2399" spc="278">
                <a:solidFill>
                  <a:srgbClr val="4AF66D"/>
                </a:solidFill>
                <a:latin typeface="Bank Gothic Medium"/>
                <a:ea typeface="Bank Gothic Medium"/>
                <a:cs typeface="Bank Gothic Medium"/>
                <a:sym typeface="Bank Gothic Medium"/>
              </a:endParaRPr>
            </a:p>
          </p:txBody>
        </p:sp>
      </p:grpSp>
      <p:sp>
        <p:nvSpPr>
          <p:cNvPr id="47" name="TextBox 47"/>
          <p:cNvSpPr txBox="1"/>
          <p:nvPr/>
        </p:nvSpPr>
        <p:spPr>
          <a:xfrm>
            <a:off x="11692280" y="5941615"/>
            <a:ext cx="4281145" cy="398145"/>
          </a:xfrm>
          <a:prstGeom prst="rect">
            <a:avLst/>
          </a:prstGeom>
        </p:spPr>
        <p:txBody>
          <a:bodyPr lIns="0" tIns="0" rIns="0" bIns="0" rtlCol="0" anchor="t">
            <a:spAutoFit/>
          </a:bodyPr>
          <a:lstStyle/>
          <a:p>
            <a:pPr algn="ctr">
              <a:lnSpc>
                <a:spcPts val="1679"/>
              </a:lnSpc>
              <a:spcBef>
                <a:spcPct val="0"/>
              </a:spcBef>
            </a:pPr>
            <a:r>
              <a:rPr lang="en-US" sz="1200" b="1" u="sng">
                <a:solidFill>
                  <a:srgbClr val="FFFFFF"/>
                </a:solidFill>
                <a:latin typeface="Quicksand Bold"/>
                <a:ea typeface="Quicksand Bold"/>
                <a:cs typeface="Quicksand Bold"/>
                <a:sym typeface="Quicksand Bold"/>
                <a:hlinkClick r:id="rId13" tooltip="https://rbi.org.in/scripts/NotificationUser.aspx?Id=13643&amp;Mode=0"/>
              </a:rPr>
              <a:t>https://rbi.org.in/scripts/NotificationUser.aspx?Id=13643&amp;Mode=0</a:t>
            </a:r>
          </a:p>
        </p:txBody>
      </p:sp>
      <p:sp>
        <p:nvSpPr>
          <p:cNvPr id="48" name="TextBox 48"/>
          <p:cNvSpPr txBox="1"/>
          <p:nvPr/>
        </p:nvSpPr>
        <p:spPr>
          <a:xfrm>
            <a:off x="11998974" y="6682660"/>
            <a:ext cx="3667757" cy="817245"/>
          </a:xfrm>
          <a:prstGeom prst="rect">
            <a:avLst/>
          </a:prstGeom>
        </p:spPr>
        <p:txBody>
          <a:bodyPr lIns="0" tIns="0" rIns="0" bIns="0" rtlCol="0" anchor="t">
            <a:spAutoFit/>
          </a:bodyPr>
          <a:lstStyle/>
          <a:p>
            <a:pPr algn="ctr">
              <a:lnSpc>
                <a:spcPts val="1679"/>
              </a:lnSpc>
              <a:spcBef>
                <a:spcPct val="0"/>
              </a:spcBef>
            </a:pPr>
            <a:r>
              <a:rPr lang="en-US" sz="1200" b="1">
                <a:solidFill>
                  <a:srgbClr val="FFFFFF"/>
                </a:solidFill>
                <a:latin typeface="Quicksand Bold"/>
                <a:ea typeface="Quicksand Bold"/>
                <a:cs typeface="Quicksand Bold"/>
                <a:sym typeface="Quicksand Bold"/>
              </a:rPr>
              <a:t>Report on vendor complience  done by RBI  is as per the latest rules passed by them. CyberQ provides all the required technology to bank for complience purposes as mandated by RBI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2118" y="-8095"/>
            <a:ext cx="15938563" cy="8934450"/>
            <a:chOff x="0" y="0"/>
            <a:chExt cx="21251418" cy="11912600"/>
          </a:xfrm>
        </p:grpSpPr>
        <p:sp>
          <p:nvSpPr>
            <p:cNvPr id="3" name="Freeform 3"/>
            <p:cNvSpPr/>
            <p:nvPr/>
          </p:nvSpPr>
          <p:spPr>
            <a:xfrm>
              <a:off x="0" y="0"/>
              <a:ext cx="21251418" cy="11912600"/>
            </a:xfrm>
            <a:custGeom>
              <a:avLst/>
              <a:gdLst/>
              <a:ahLst/>
              <a:cxnLst/>
              <a:rect l="l" t="t" r="r" b="b"/>
              <a:pathLst>
                <a:path w="21251418" h="11912600">
                  <a:moveTo>
                    <a:pt x="0" y="0"/>
                  </a:moveTo>
                  <a:lnTo>
                    <a:pt x="21251418" y="0"/>
                  </a:lnTo>
                  <a:lnTo>
                    <a:pt x="21251418" y="11912600"/>
                  </a:lnTo>
                  <a:lnTo>
                    <a:pt x="0" y="11912600"/>
                  </a:lnTo>
                  <a:lnTo>
                    <a:pt x="0" y="0"/>
                  </a:lnTo>
                  <a:close/>
                </a:path>
              </a:pathLst>
            </a:custGeom>
            <a:blipFill>
              <a:blip r:embed="rId2"/>
              <a:stretch>
                <a:fillRect/>
              </a:stretch>
            </a:blipFill>
          </p:spPr>
        </p:sp>
      </p:grpSp>
      <p:grpSp>
        <p:nvGrpSpPr>
          <p:cNvPr id="4" name="Group 4"/>
          <p:cNvGrpSpPr/>
          <p:nvPr/>
        </p:nvGrpSpPr>
        <p:grpSpPr>
          <a:xfrm>
            <a:off x="49216" y="1114015"/>
            <a:ext cx="15916275" cy="200025"/>
            <a:chOff x="0" y="0"/>
            <a:chExt cx="21221700" cy="266700"/>
          </a:xfrm>
        </p:grpSpPr>
        <p:sp>
          <p:nvSpPr>
            <p:cNvPr id="5" name="Freeform 5"/>
            <p:cNvSpPr/>
            <p:nvPr/>
          </p:nvSpPr>
          <p:spPr>
            <a:xfrm>
              <a:off x="0" y="0"/>
              <a:ext cx="21221700" cy="266700"/>
            </a:xfrm>
            <a:custGeom>
              <a:avLst/>
              <a:gdLst/>
              <a:ahLst/>
              <a:cxnLst/>
              <a:rect l="l" t="t" r="r" b="b"/>
              <a:pathLst>
                <a:path w="21221700" h="266700">
                  <a:moveTo>
                    <a:pt x="0" y="0"/>
                  </a:moveTo>
                  <a:lnTo>
                    <a:pt x="21221700" y="0"/>
                  </a:lnTo>
                  <a:lnTo>
                    <a:pt x="21221700" y="266700"/>
                  </a:lnTo>
                  <a:lnTo>
                    <a:pt x="0" y="266700"/>
                  </a:lnTo>
                  <a:lnTo>
                    <a:pt x="0" y="0"/>
                  </a:lnTo>
                  <a:close/>
                </a:path>
              </a:pathLst>
            </a:custGeom>
            <a:blipFill>
              <a:blip r:embed="rId3">
                <a:alphaModFix amt="61000"/>
              </a:blip>
              <a:stretch>
                <a:fillRect/>
              </a:stretch>
            </a:blipFill>
          </p:spPr>
        </p:sp>
      </p:grpSp>
      <p:grpSp>
        <p:nvGrpSpPr>
          <p:cNvPr id="6" name="Group 6"/>
          <p:cNvGrpSpPr/>
          <p:nvPr/>
        </p:nvGrpSpPr>
        <p:grpSpPr>
          <a:xfrm>
            <a:off x="2511847" y="371065"/>
            <a:ext cx="3609975" cy="561975"/>
            <a:chOff x="0" y="0"/>
            <a:chExt cx="4813300" cy="749300"/>
          </a:xfrm>
        </p:grpSpPr>
        <p:sp>
          <p:nvSpPr>
            <p:cNvPr id="7" name="Freeform 7"/>
            <p:cNvSpPr/>
            <p:nvPr/>
          </p:nvSpPr>
          <p:spPr>
            <a:xfrm>
              <a:off x="0" y="0"/>
              <a:ext cx="4813300" cy="749300"/>
            </a:xfrm>
            <a:custGeom>
              <a:avLst/>
              <a:gdLst/>
              <a:ahLst/>
              <a:cxnLst/>
              <a:rect l="l" t="t" r="r" b="b"/>
              <a:pathLst>
                <a:path w="4813300" h="749300">
                  <a:moveTo>
                    <a:pt x="0" y="0"/>
                  </a:moveTo>
                  <a:lnTo>
                    <a:pt x="4813300" y="0"/>
                  </a:lnTo>
                  <a:lnTo>
                    <a:pt x="4813300" y="749300"/>
                  </a:lnTo>
                  <a:lnTo>
                    <a:pt x="0" y="749300"/>
                  </a:lnTo>
                  <a:lnTo>
                    <a:pt x="0" y="0"/>
                  </a:lnTo>
                  <a:close/>
                </a:path>
              </a:pathLst>
            </a:custGeom>
            <a:blipFill>
              <a:blip r:embed="rId4"/>
              <a:stretch>
                <a:fillRect/>
              </a:stretch>
            </a:blipFill>
          </p:spPr>
        </p:sp>
      </p:grpSp>
      <p:grpSp>
        <p:nvGrpSpPr>
          <p:cNvPr id="8" name="Group 8"/>
          <p:cNvGrpSpPr/>
          <p:nvPr/>
        </p:nvGrpSpPr>
        <p:grpSpPr>
          <a:xfrm>
            <a:off x="49216" y="8017116"/>
            <a:ext cx="15916275" cy="390525"/>
            <a:chOff x="0" y="0"/>
            <a:chExt cx="21221700" cy="520700"/>
          </a:xfrm>
        </p:grpSpPr>
        <p:sp>
          <p:nvSpPr>
            <p:cNvPr id="9" name="Freeform 9"/>
            <p:cNvSpPr/>
            <p:nvPr/>
          </p:nvSpPr>
          <p:spPr>
            <a:xfrm>
              <a:off x="0" y="0"/>
              <a:ext cx="21221700" cy="520700"/>
            </a:xfrm>
            <a:custGeom>
              <a:avLst/>
              <a:gdLst/>
              <a:ahLst/>
              <a:cxnLst/>
              <a:rect l="l" t="t" r="r" b="b"/>
              <a:pathLst>
                <a:path w="21221700" h="520700">
                  <a:moveTo>
                    <a:pt x="0" y="0"/>
                  </a:moveTo>
                  <a:lnTo>
                    <a:pt x="21221700" y="0"/>
                  </a:lnTo>
                  <a:lnTo>
                    <a:pt x="21221700" y="520700"/>
                  </a:lnTo>
                  <a:lnTo>
                    <a:pt x="0" y="520700"/>
                  </a:lnTo>
                  <a:lnTo>
                    <a:pt x="0" y="0"/>
                  </a:lnTo>
                  <a:close/>
                </a:path>
              </a:pathLst>
            </a:custGeom>
            <a:blipFill>
              <a:blip r:embed="rId5"/>
              <a:stretch>
                <a:fillRect/>
              </a:stretch>
            </a:blipFill>
          </p:spPr>
        </p:sp>
      </p:grpSp>
      <p:grpSp>
        <p:nvGrpSpPr>
          <p:cNvPr id="10" name="Group 10"/>
          <p:cNvGrpSpPr/>
          <p:nvPr/>
        </p:nvGrpSpPr>
        <p:grpSpPr>
          <a:xfrm>
            <a:off x="14064891" y="8207550"/>
            <a:ext cx="962025" cy="200025"/>
            <a:chOff x="0" y="0"/>
            <a:chExt cx="1282700" cy="266700"/>
          </a:xfrm>
        </p:grpSpPr>
        <p:sp>
          <p:nvSpPr>
            <p:cNvPr id="11" name="Freeform 11"/>
            <p:cNvSpPr/>
            <p:nvPr/>
          </p:nvSpPr>
          <p:spPr>
            <a:xfrm>
              <a:off x="0" y="0"/>
              <a:ext cx="1282700" cy="266700"/>
            </a:xfrm>
            <a:custGeom>
              <a:avLst/>
              <a:gdLst/>
              <a:ahLst/>
              <a:cxnLst/>
              <a:rect l="l" t="t" r="r" b="b"/>
              <a:pathLst>
                <a:path w="1282700" h="266700">
                  <a:moveTo>
                    <a:pt x="0" y="0"/>
                  </a:moveTo>
                  <a:lnTo>
                    <a:pt x="1282700" y="0"/>
                  </a:lnTo>
                  <a:lnTo>
                    <a:pt x="1282700" y="266700"/>
                  </a:lnTo>
                  <a:lnTo>
                    <a:pt x="0" y="266700"/>
                  </a:lnTo>
                  <a:lnTo>
                    <a:pt x="0" y="0"/>
                  </a:lnTo>
                  <a:close/>
                </a:path>
              </a:pathLst>
            </a:custGeom>
            <a:blipFill>
              <a:blip r:embed="rId6"/>
              <a:stretch>
                <a:fillRect/>
              </a:stretch>
            </a:blipFill>
          </p:spPr>
        </p:sp>
      </p:grpSp>
      <p:grpSp>
        <p:nvGrpSpPr>
          <p:cNvPr id="12" name="Group 12"/>
          <p:cNvGrpSpPr/>
          <p:nvPr/>
        </p:nvGrpSpPr>
        <p:grpSpPr>
          <a:xfrm>
            <a:off x="842867" y="34623"/>
            <a:ext cx="1933575" cy="828675"/>
            <a:chOff x="0" y="0"/>
            <a:chExt cx="2578100" cy="1104900"/>
          </a:xfrm>
        </p:grpSpPr>
        <p:sp>
          <p:nvSpPr>
            <p:cNvPr id="13" name="Freeform 13"/>
            <p:cNvSpPr/>
            <p:nvPr/>
          </p:nvSpPr>
          <p:spPr>
            <a:xfrm>
              <a:off x="0" y="0"/>
              <a:ext cx="2578100" cy="1104900"/>
            </a:xfrm>
            <a:custGeom>
              <a:avLst/>
              <a:gdLst/>
              <a:ahLst/>
              <a:cxnLst/>
              <a:rect l="l" t="t" r="r" b="b"/>
              <a:pathLst>
                <a:path w="2578100" h="1104900">
                  <a:moveTo>
                    <a:pt x="0" y="0"/>
                  </a:moveTo>
                  <a:lnTo>
                    <a:pt x="2578100" y="0"/>
                  </a:lnTo>
                  <a:lnTo>
                    <a:pt x="2578100" y="1104900"/>
                  </a:lnTo>
                  <a:lnTo>
                    <a:pt x="0" y="1104900"/>
                  </a:lnTo>
                  <a:lnTo>
                    <a:pt x="0" y="0"/>
                  </a:lnTo>
                  <a:close/>
                </a:path>
              </a:pathLst>
            </a:custGeom>
            <a:blipFill>
              <a:blip r:embed="rId7"/>
              <a:stretch>
                <a:fillRect l="-2137" t="-27513" r="-4759" b="-42601"/>
              </a:stretch>
            </a:blipFill>
          </p:spPr>
        </p:sp>
      </p:grpSp>
      <p:grpSp>
        <p:nvGrpSpPr>
          <p:cNvPr id="14" name="Group 14"/>
          <p:cNvGrpSpPr/>
          <p:nvPr/>
        </p:nvGrpSpPr>
        <p:grpSpPr>
          <a:xfrm>
            <a:off x="0" y="27851"/>
            <a:ext cx="590550" cy="828675"/>
            <a:chOff x="0" y="0"/>
            <a:chExt cx="787400" cy="1104900"/>
          </a:xfrm>
        </p:grpSpPr>
        <p:sp>
          <p:nvSpPr>
            <p:cNvPr id="15" name="Freeform 15"/>
            <p:cNvSpPr/>
            <p:nvPr/>
          </p:nvSpPr>
          <p:spPr>
            <a:xfrm>
              <a:off x="0" y="0"/>
              <a:ext cx="787400" cy="1104900"/>
            </a:xfrm>
            <a:custGeom>
              <a:avLst/>
              <a:gdLst/>
              <a:ahLst/>
              <a:cxnLst/>
              <a:rect l="l" t="t" r="r" b="b"/>
              <a:pathLst>
                <a:path w="787400" h="1104900">
                  <a:moveTo>
                    <a:pt x="0" y="0"/>
                  </a:moveTo>
                  <a:lnTo>
                    <a:pt x="787400" y="0"/>
                  </a:lnTo>
                  <a:lnTo>
                    <a:pt x="787400" y="1104900"/>
                  </a:lnTo>
                  <a:lnTo>
                    <a:pt x="0" y="1104900"/>
                  </a:lnTo>
                  <a:lnTo>
                    <a:pt x="0" y="0"/>
                  </a:lnTo>
                  <a:close/>
                </a:path>
              </a:pathLst>
            </a:custGeom>
            <a:blipFill>
              <a:blip r:embed="rId8"/>
              <a:stretch>
                <a:fillRect/>
              </a:stretch>
            </a:blipFill>
          </p:spPr>
        </p:sp>
      </p:grpSp>
      <p:sp>
        <p:nvSpPr>
          <p:cNvPr id="16" name="Freeform 16"/>
          <p:cNvSpPr/>
          <p:nvPr/>
        </p:nvSpPr>
        <p:spPr>
          <a:xfrm>
            <a:off x="757990" y="68456"/>
            <a:ext cx="28575" cy="824970"/>
          </a:xfrm>
          <a:custGeom>
            <a:avLst/>
            <a:gdLst/>
            <a:ahLst/>
            <a:cxnLst/>
            <a:rect l="l" t="t" r="r" b="b"/>
            <a:pathLst>
              <a:path w="28575" h="824970">
                <a:moveTo>
                  <a:pt x="0" y="0"/>
                </a:moveTo>
                <a:lnTo>
                  <a:pt x="28575" y="0"/>
                </a:lnTo>
                <a:lnTo>
                  <a:pt x="28575" y="824970"/>
                </a:lnTo>
                <a:lnTo>
                  <a:pt x="0" y="824970"/>
                </a:lnTo>
                <a:lnTo>
                  <a:pt x="0" y="0"/>
                </a:lnTo>
                <a:close/>
              </a:path>
            </a:pathLst>
          </a:custGeom>
          <a:blipFill>
            <a:blip>
              <a:extLst>
                <a:ext uri="{96DAC541-7B7A-43D3-8B79-37D633B846F1}">
                  <asvg:svgBlip xmlns:asvg="http://schemas.microsoft.com/office/drawing/2016/SVG/main" r:embed="rId9"/>
                </a:ext>
              </a:extLst>
            </a:blip>
            <a:stretch>
              <a:fillRect/>
            </a:stretch>
          </a:blipFill>
        </p:spPr>
      </p:sp>
      <p:grpSp>
        <p:nvGrpSpPr>
          <p:cNvPr id="17" name="Group 17"/>
          <p:cNvGrpSpPr/>
          <p:nvPr/>
        </p:nvGrpSpPr>
        <p:grpSpPr>
          <a:xfrm>
            <a:off x="14064891" y="76733"/>
            <a:ext cx="1819275" cy="1038225"/>
            <a:chOff x="0" y="0"/>
            <a:chExt cx="2425700" cy="1384300"/>
          </a:xfrm>
        </p:grpSpPr>
        <p:sp>
          <p:nvSpPr>
            <p:cNvPr id="18" name="Freeform 18"/>
            <p:cNvSpPr/>
            <p:nvPr/>
          </p:nvSpPr>
          <p:spPr>
            <a:xfrm>
              <a:off x="0" y="0"/>
              <a:ext cx="2425700" cy="1384300"/>
            </a:xfrm>
            <a:custGeom>
              <a:avLst/>
              <a:gdLst/>
              <a:ahLst/>
              <a:cxnLst/>
              <a:rect l="l" t="t" r="r" b="b"/>
              <a:pathLst>
                <a:path w="2425700" h="1384300">
                  <a:moveTo>
                    <a:pt x="0" y="0"/>
                  </a:moveTo>
                  <a:lnTo>
                    <a:pt x="2425700" y="0"/>
                  </a:lnTo>
                  <a:lnTo>
                    <a:pt x="2425700" y="1384300"/>
                  </a:lnTo>
                  <a:lnTo>
                    <a:pt x="0" y="1384300"/>
                  </a:lnTo>
                  <a:lnTo>
                    <a:pt x="0" y="0"/>
                  </a:lnTo>
                  <a:close/>
                </a:path>
              </a:pathLst>
            </a:custGeom>
            <a:blipFill>
              <a:blip r:embed="rId10"/>
              <a:stretch>
                <a:fillRect/>
              </a:stretch>
            </a:blipFill>
          </p:spPr>
        </p:sp>
      </p:grpSp>
      <p:grpSp>
        <p:nvGrpSpPr>
          <p:cNvPr id="19" name="Group 19"/>
          <p:cNvGrpSpPr/>
          <p:nvPr/>
        </p:nvGrpSpPr>
        <p:grpSpPr>
          <a:xfrm>
            <a:off x="758000" y="68475"/>
            <a:ext cx="28575" cy="824970"/>
            <a:chOff x="0" y="0"/>
            <a:chExt cx="28575" cy="824979"/>
          </a:xfrm>
        </p:grpSpPr>
        <p:sp>
          <p:nvSpPr>
            <p:cNvPr id="20" name="Freeform 20"/>
            <p:cNvSpPr/>
            <p:nvPr/>
          </p:nvSpPr>
          <p:spPr>
            <a:xfrm>
              <a:off x="0" y="0"/>
              <a:ext cx="28575" cy="824997"/>
            </a:xfrm>
            <a:custGeom>
              <a:avLst/>
              <a:gdLst/>
              <a:ahLst/>
              <a:cxnLst/>
              <a:rect l="l" t="t" r="r" b="b"/>
              <a:pathLst>
                <a:path w="28575" h="824997">
                  <a:moveTo>
                    <a:pt x="0" y="824997"/>
                  </a:moveTo>
                  <a:lnTo>
                    <a:pt x="28575" y="824997"/>
                  </a:lnTo>
                  <a:lnTo>
                    <a:pt x="28575" y="0"/>
                  </a:lnTo>
                  <a:lnTo>
                    <a:pt x="0" y="0"/>
                  </a:lnTo>
                  <a:close/>
                </a:path>
              </a:pathLst>
            </a:custGeom>
            <a:solidFill>
              <a:srgbClr val="000000">
                <a:alpha val="0"/>
              </a:srgbClr>
            </a:solidFill>
          </p:spPr>
        </p:sp>
      </p:grpSp>
      <p:grpSp>
        <p:nvGrpSpPr>
          <p:cNvPr id="21" name="Group 21"/>
          <p:cNvGrpSpPr/>
          <p:nvPr/>
        </p:nvGrpSpPr>
        <p:grpSpPr>
          <a:xfrm>
            <a:off x="6279007" y="1841554"/>
            <a:ext cx="1728161" cy="3322652"/>
            <a:chOff x="0" y="0"/>
            <a:chExt cx="766233" cy="1473200"/>
          </a:xfrm>
        </p:grpSpPr>
        <p:sp>
          <p:nvSpPr>
            <p:cNvPr id="22" name="Freeform 22"/>
            <p:cNvSpPr/>
            <p:nvPr/>
          </p:nvSpPr>
          <p:spPr>
            <a:xfrm>
              <a:off x="0" y="0"/>
              <a:ext cx="766233" cy="1473200"/>
            </a:xfrm>
            <a:custGeom>
              <a:avLst/>
              <a:gdLst/>
              <a:ahLst/>
              <a:cxnLst/>
              <a:rect l="l" t="t" r="r" b="b"/>
              <a:pathLst>
                <a:path w="766233" h="1473200">
                  <a:moveTo>
                    <a:pt x="0" y="0"/>
                  </a:moveTo>
                  <a:lnTo>
                    <a:pt x="766233" y="0"/>
                  </a:lnTo>
                  <a:lnTo>
                    <a:pt x="766233" y="1473200"/>
                  </a:lnTo>
                  <a:lnTo>
                    <a:pt x="0" y="1473200"/>
                  </a:lnTo>
                  <a:close/>
                </a:path>
              </a:pathLst>
            </a:custGeom>
            <a:solidFill>
              <a:srgbClr val="CAF5F7"/>
            </a:solidFill>
          </p:spPr>
        </p:sp>
        <p:sp>
          <p:nvSpPr>
            <p:cNvPr id="23" name="TextBox 23"/>
            <p:cNvSpPr txBox="1"/>
            <p:nvPr/>
          </p:nvSpPr>
          <p:spPr>
            <a:xfrm>
              <a:off x="0" y="-19050"/>
              <a:ext cx="766233" cy="1492250"/>
            </a:xfrm>
            <a:prstGeom prst="rect">
              <a:avLst/>
            </a:prstGeom>
          </p:spPr>
          <p:txBody>
            <a:bodyPr lIns="50800" tIns="50800" rIns="50800" bIns="50800" rtlCol="0" anchor="ctr"/>
            <a:lstStyle/>
            <a:p>
              <a:pPr algn="ctr">
                <a:lnSpc>
                  <a:spcPts val="1679"/>
                </a:lnSpc>
              </a:pPr>
              <a:r>
                <a:rPr lang="en-US" sz="1200" b="1">
                  <a:solidFill>
                    <a:srgbClr val="000000"/>
                  </a:solidFill>
                  <a:latin typeface="Canva Sans Bold"/>
                  <a:ea typeface="Canva Sans Bold"/>
                  <a:cs typeface="Canva Sans Bold"/>
                  <a:sym typeface="Canva Sans Bold"/>
                </a:rPr>
                <a:t>Bank Security Tools</a:t>
              </a:r>
            </a:p>
            <a:p>
              <a:pPr algn="ctr">
                <a:lnSpc>
                  <a:spcPts val="1679"/>
                </a:lnSpc>
              </a:pPr>
              <a:endParaRPr lang="en-US" sz="1200" b="1">
                <a:solidFill>
                  <a:srgbClr val="000000"/>
                </a:solidFill>
                <a:latin typeface="Canva Sans Bold"/>
                <a:ea typeface="Canva Sans Bold"/>
                <a:cs typeface="Canva Sans Bold"/>
                <a:sym typeface="Canva Sans Bold"/>
              </a:endParaRPr>
            </a:p>
            <a:p>
              <a:pPr algn="ctr">
                <a:lnSpc>
                  <a:spcPts val="1679"/>
                </a:lnSpc>
              </a:pPr>
              <a:endParaRPr lang="en-US" sz="1200" b="1">
                <a:solidFill>
                  <a:srgbClr val="000000"/>
                </a:solidFill>
                <a:latin typeface="Canva Sans Bold"/>
                <a:ea typeface="Canva Sans Bold"/>
                <a:cs typeface="Canva Sans Bold"/>
                <a:sym typeface="Canva Sans Bold"/>
              </a:endParaRPr>
            </a:p>
            <a:p>
              <a:pPr algn="ctr">
                <a:lnSpc>
                  <a:spcPts val="1679"/>
                </a:lnSpc>
              </a:pPr>
              <a:endParaRPr lang="en-US" sz="1200" b="1">
                <a:solidFill>
                  <a:srgbClr val="000000"/>
                </a:solidFill>
                <a:latin typeface="Canva Sans Bold"/>
                <a:ea typeface="Canva Sans Bold"/>
                <a:cs typeface="Canva Sans Bold"/>
                <a:sym typeface="Canva Sans Bold"/>
              </a:endParaRPr>
            </a:p>
            <a:p>
              <a:pPr algn="ctr">
                <a:lnSpc>
                  <a:spcPts val="1679"/>
                </a:lnSpc>
              </a:pPr>
              <a:endParaRPr lang="en-US" sz="1200" b="1">
                <a:solidFill>
                  <a:srgbClr val="000000"/>
                </a:solidFill>
                <a:latin typeface="Canva Sans Bold"/>
                <a:ea typeface="Canva Sans Bold"/>
                <a:cs typeface="Canva Sans Bold"/>
                <a:sym typeface="Canva Sans Bold"/>
              </a:endParaRPr>
            </a:p>
            <a:p>
              <a:pPr algn="ctr">
                <a:lnSpc>
                  <a:spcPts val="1679"/>
                </a:lnSpc>
              </a:pPr>
              <a:endParaRPr lang="en-US" sz="1200" b="1">
                <a:solidFill>
                  <a:srgbClr val="000000"/>
                </a:solidFill>
                <a:latin typeface="Canva Sans Bold"/>
                <a:ea typeface="Canva Sans Bold"/>
                <a:cs typeface="Canva Sans Bold"/>
                <a:sym typeface="Canva Sans Bold"/>
              </a:endParaRPr>
            </a:p>
            <a:p>
              <a:pPr algn="ctr">
                <a:lnSpc>
                  <a:spcPts val="1679"/>
                </a:lnSpc>
              </a:pPr>
              <a:endParaRPr lang="en-US" sz="1200" b="1">
                <a:solidFill>
                  <a:srgbClr val="000000"/>
                </a:solidFill>
                <a:latin typeface="Canva Sans Bold"/>
                <a:ea typeface="Canva Sans Bold"/>
                <a:cs typeface="Canva Sans Bold"/>
                <a:sym typeface="Canva Sans Bold"/>
              </a:endParaRPr>
            </a:p>
            <a:p>
              <a:pPr algn="ctr">
                <a:lnSpc>
                  <a:spcPts val="1679"/>
                </a:lnSpc>
              </a:pPr>
              <a:endParaRPr lang="en-US" sz="1200" b="1">
                <a:solidFill>
                  <a:srgbClr val="000000"/>
                </a:solidFill>
                <a:latin typeface="Canva Sans Bold"/>
                <a:ea typeface="Canva Sans Bold"/>
                <a:cs typeface="Canva Sans Bold"/>
                <a:sym typeface="Canva Sans Bold"/>
              </a:endParaRPr>
            </a:p>
            <a:p>
              <a:pPr algn="ctr">
                <a:lnSpc>
                  <a:spcPts val="1679"/>
                </a:lnSpc>
              </a:pPr>
              <a:endParaRPr lang="en-US" sz="1200" b="1">
                <a:solidFill>
                  <a:srgbClr val="000000"/>
                </a:solidFill>
                <a:latin typeface="Canva Sans Bold"/>
                <a:ea typeface="Canva Sans Bold"/>
                <a:cs typeface="Canva Sans Bold"/>
                <a:sym typeface="Canva Sans Bold"/>
              </a:endParaRPr>
            </a:p>
            <a:p>
              <a:pPr algn="ctr">
                <a:lnSpc>
                  <a:spcPts val="1679"/>
                </a:lnSpc>
              </a:pPr>
              <a:endParaRPr lang="en-US" sz="1200" b="1">
                <a:solidFill>
                  <a:srgbClr val="000000"/>
                </a:solidFill>
                <a:latin typeface="Canva Sans Bold"/>
                <a:ea typeface="Canva Sans Bold"/>
                <a:cs typeface="Canva Sans Bold"/>
                <a:sym typeface="Canva Sans Bold"/>
              </a:endParaRPr>
            </a:p>
            <a:p>
              <a:pPr algn="ctr">
                <a:lnSpc>
                  <a:spcPts val="1679"/>
                </a:lnSpc>
              </a:pPr>
              <a:endParaRPr lang="en-US" sz="1200" b="1">
                <a:solidFill>
                  <a:srgbClr val="000000"/>
                </a:solidFill>
                <a:latin typeface="Canva Sans Bold"/>
                <a:ea typeface="Canva Sans Bold"/>
                <a:cs typeface="Canva Sans Bold"/>
                <a:sym typeface="Canva Sans Bold"/>
              </a:endParaRPr>
            </a:p>
            <a:p>
              <a:pPr algn="ctr">
                <a:lnSpc>
                  <a:spcPts val="1679"/>
                </a:lnSpc>
              </a:pPr>
              <a:endParaRPr lang="en-US" sz="1200" b="1">
                <a:solidFill>
                  <a:srgbClr val="000000"/>
                </a:solidFill>
                <a:latin typeface="Canva Sans Bold"/>
                <a:ea typeface="Canva Sans Bold"/>
                <a:cs typeface="Canva Sans Bold"/>
                <a:sym typeface="Canva Sans Bold"/>
              </a:endParaRPr>
            </a:p>
            <a:p>
              <a:pPr algn="ctr">
                <a:lnSpc>
                  <a:spcPts val="1679"/>
                </a:lnSpc>
              </a:pPr>
              <a:endParaRPr lang="en-US" sz="1200" b="1">
                <a:solidFill>
                  <a:srgbClr val="000000"/>
                </a:solidFill>
                <a:latin typeface="Canva Sans Bold"/>
                <a:ea typeface="Canva Sans Bold"/>
                <a:cs typeface="Canva Sans Bold"/>
                <a:sym typeface="Canva Sans Bold"/>
              </a:endParaRPr>
            </a:p>
            <a:p>
              <a:pPr algn="ctr">
                <a:lnSpc>
                  <a:spcPts val="1679"/>
                </a:lnSpc>
                <a:spcBef>
                  <a:spcPct val="0"/>
                </a:spcBef>
              </a:pPr>
              <a:endParaRPr lang="en-US" sz="1200" b="1">
                <a:solidFill>
                  <a:srgbClr val="000000"/>
                </a:solidFill>
                <a:latin typeface="Canva Sans Bold"/>
                <a:ea typeface="Canva Sans Bold"/>
                <a:cs typeface="Canva Sans Bold"/>
                <a:sym typeface="Canva Sans Bold"/>
              </a:endParaRPr>
            </a:p>
          </p:txBody>
        </p:sp>
      </p:grpSp>
      <p:grpSp>
        <p:nvGrpSpPr>
          <p:cNvPr id="24" name="Group 24"/>
          <p:cNvGrpSpPr/>
          <p:nvPr/>
        </p:nvGrpSpPr>
        <p:grpSpPr>
          <a:xfrm>
            <a:off x="6465190" y="2347590"/>
            <a:ext cx="1355795" cy="553775"/>
            <a:chOff x="0" y="0"/>
            <a:chExt cx="601133" cy="245533"/>
          </a:xfrm>
        </p:grpSpPr>
        <p:sp>
          <p:nvSpPr>
            <p:cNvPr id="25" name="Freeform 25"/>
            <p:cNvSpPr/>
            <p:nvPr/>
          </p:nvSpPr>
          <p:spPr>
            <a:xfrm>
              <a:off x="0" y="0"/>
              <a:ext cx="601133" cy="245533"/>
            </a:xfrm>
            <a:custGeom>
              <a:avLst/>
              <a:gdLst/>
              <a:ahLst/>
              <a:cxnLst/>
              <a:rect l="l" t="t" r="r" b="b"/>
              <a:pathLst>
                <a:path w="601133" h="245533">
                  <a:moveTo>
                    <a:pt x="0" y="0"/>
                  </a:moveTo>
                  <a:lnTo>
                    <a:pt x="601133" y="0"/>
                  </a:lnTo>
                  <a:lnTo>
                    <a:pt x="601133" y="245533"/>
                  </a:lnTo>
                  <a:lnTo>
                    <a:pt x="0" y="245533"/>
                  </a:lnTo>
                  <a:close/>
                </a:path>
              </a:pathLst>
            </a:custGeom>
            <a:solidFill>
              <a:srgbClr val="99DAFF"/>
            </a:solidFill>
          </p:spPr>
        </p:sp>
        <p:sp>
          <p:nvSpPr>
            <p:cNvPr id="26" name="TextBox 26"/>
            <p:cNvSpPr txBox="1"/>
            <p:nvPr/>
          </p:nvSpPr>
          <p:spPr>
            <a:xfrm>
              <a:off x="0" y="-19050"/>
              <a:ext cx="601133" cy="264583"/>
            </a:xfrm>
            <a:prstGeom prst="rect">
              <a:avLst/>
            </a:prstGeom>
          </p:spPr>
          <p:txBody>
            <a:bodyPr lIns="50800" tIns="50800" rIns="50800" bIns="50800" rtlCol="0" anchor="ctr"/>
            <a:lstStyle/>
            <a:p>
              <a:pPr algn="ctr">
                <a:lnSpc>
                  <a:spcPts val="1679"/>
                </a:lnSpc>
              </a:pPr>
              <a:r>
                <a:rPr lang="en-US" sz="1200" b="1">
                  <a:solidFill>
                    <a:srgbClr val="000000"/>
                  </a:solidFill>
                  <a:latin typeface="Canva Sans Bold"/>
                  <a:ea typeface="Canva Sans Bold"/>
                  <a:cs typeface="Canva Sans Bold"/>
                  <a:sym typeface="Canva Sans Bold"/>
                </a:rPr>
                <a:t>SIEM</a:t>
              </a:r>
            </a:p>
          </p:txBody>
        </p:sp>
      </p:grpSp>
      <p:grpSp>
        <p:nvGrpSpPr>
          <p:cNvPr id="27" name="Group 27"/>
          <p:cNvGrpSpPr/>
          <p:nvPr/>
        </p:nvGrpSpPr>
        <p:grpSpPr>
          <a:xfrm>
            <a:off x="6465190" y="3052221"/>
            <a:ext cx="1355795" cy="553775"/>
            <a:chOff x="0" y="0"/>
            <a:chExt cx="601133" cy="245533"/>
          </a:xfrm>
        </p:grpSpPr>
        <p:sp>
          <p:nvSpPr>
            <p:cNvPr id="28" name="Freeform 28"/>
            <p:cNvSpPr/>
            <p:nvPr/>
          </p:nvSpPr>
          <p:spPr>
            <a:xfrm>
              <a:off x="0" y="0"/>
              <a:ext cx="601133" cy="245533"/>
            </a:xfrm>
            <a:custGeom>
              <a:avLst/>
              <a:gdLst/>
              <a:ahLst/>
              <a:cxnLst/>
              <a:rect l="l" t="t" r="r" b="b"/>
              <a:pathLst>
                <a:path w="601133" h="245533">
                  <a:moveTo>
                    <a:pt x="0" y="0"/>
                  </a:moveTo>
                  <a:lnTo>
                    <a:pt x="601133" y="0"/>
                  </a:lnTo>
                  <a:lnTo>
                    <a:pt x="601133" y="245533"/>
                  </a:lnTo>
                  <a:lnTo>
                    <a:pt x="0" y="245533"/>
                  </a:lnTo>
                  <a:close/>
                </a:path>
              </a:pathLst>
            </a:custGeom>
            <a:solidFill>
              <a:srgbClr val="99DAFF"/>
            </a:solidFill>
          </p:spPr>
        </p:sp>
        <p:sp>
          <p:nvSpPr>
            <p:cNvPr id="29" name="TextBox 29"/>
            <p:cNvSpPr txBox="1"/>
            <p:nvPr/>
          </p:nvSpPr>
          <p:spPr>
            <a:xfrm>
              <a:off x="0" y="-19050"/>
              <a:ext cx="601133" cy="264583"/>
            </a:xfrm>
            <a:prstGeom prst="rect">
              <a:avLst/>
            </a:prstGeom>
          </p:spPr>
          <p:txBody>
            <a:bodyPr lIns="50800" tIns="50800" rIns="50800" bIns="50800" rtlCol="0" anchor="ctr"/>
            <a:lstStyle/>
            <a:p>
              <a:pPr algn="ctr">
                <a:lnSpc>
                  <a:spcPts val="1679"/>
                </a:lnSpc>
              </a:pPr>
              <a:r>
                <a:rPr lang="en-US" sz="1200" b="1">
                  <a:solidFill>
                    <a:srgbClr val="000000"/>
                  </a:solidFill>
                  <a:latin typeface="Canva Sans Bold"/>
                  <a:ea typeface="Canva Sans Bold"/>
                  <a:cs typeface="Canva Sans Bold"/>
                  <a:sym typeface="Canva Sans Bold"/>
                </a:rPr>
                <a:t>EDR</a:t>
              </a:r>
            </a:p>
          </p:txBody>
        </p:sp>
      </p:grpSp>
      <p:grpSp>
        <p:nvGrpSpPr>
          <p:cNvPr id="30" name="Group 30"/>
          <p:cNvGrpSpPr/>
          <p:nvPr/>
        </p:nvGrpSpPr>
        <p:grpSpPr>
          <a:xfrm>
            <a:off x="6465190" y="3758762"/>
            <a:ext cx="1355795" cy="553775"/>
            <a:chOff x="0" y="0"/>
            <a:chExt cx="601133" cy="245533"/>
          </a:xfrm>
        </p:grpSpPr>
        <p:sp>
          <p:nvSpPr>
            <p:cNvPr id="31" name="Freeform 31"/>
            <p:cNvSpPr/>
            <p:nvPr/>
          </p:nvSpPr>
          <p:spPr>
            <a:xfrm>
              <a:off x="0" y="0"/>
              <a:ext cx="601133" cy="245533"/>
            </a:xfrm>
            <a:custGeom>
              <a:avLst/>
              <a:gdLst/>
              <a:ahLst/>
              <a:cxnLst/>
              <a:rect l="l" t="t" r="r" b="b"/>
              <a:pathLst>
                <a:path w="601133" h="245533">
                  <a:moveTo>
                    <a:pt x="0" y="0"/>
                  </a:moveTo>
                  <a:lnTo>
                    <a:pt x="601133" y="0"/>
                  </a:lnTo>
                  <a:lnTo>
                    <a:pt x="601133" y="245533"/>
                  </a:lnTo>
                  <a:lnTo>
                    <a:pt x="0" y="245533"/>
                  </a:lnTo>
                  <a:close/>
                </a:path>
              </a:pathLst>
            </a:custGeom>
            <a:solidFill>
              <a:srgbClr val="99DAFF"/>
            </a:solidFill>
          </p:spPr>
        </p:sp>
        <p:sp>
          <p:nvSpPr>
            <p:cNvPr id="32" name="TextBox 32"/>
            <p:cNvSpPr txBox="1"/>
            <p:nvPr/>
          </p:nvSpPr>
          <p:spPr>
            <a:xfrm>
              <a:off x="0" y="-19050"/>
              <a:ext cx="601133" cy="264583"/>
            </a:xfrm>
            <a:prstGeom prst="rect">
              <a:avLst/>
            </a:prstGeom>
          </p:spPr>
          <p:txBody>
            <a:bodyPr lIns="50800" tIns="50800" rIns="50800" bIns="50800" rtlCol="0" anchor="ctr"/>
            <a:lstStyle/>
            <a:p>
              <a:pPr algn="ctr">
                <a:lnSpc>
                  <a:spcPts val="1679"/>
                </a:lnSpc>
              </a:pPr>
              <a:r>
                <a:rPr lang="en-US" sz="1200" b="1">
                  <a:solidFill>
                    <a:srgbClr val="000000"/>
                  </a:solidFill>
                  <a:latin typeface="Canva Sans Bold"/>
                  <a:ea typeface="Canva Sans Bold"/>
                  <a:cs typeface="Canva Sans Bold"/>
                  <a:sym typeface="Canva Sans Bold"/>
                </a:rPr>
                <a:t>VULNERABILITY SCANNER</a:t>
              </a:r>
            </a:p>
          </p:txBody>
        </p:sp>
      </p:grpSp>
      <p:grpSp>
        <p:nvGrpSpPr>
          <p:cNvPr id="33" name="Group 33"/>
          <p:cNvGrpSpPr/>
          <p:nvPr/>
        </p:nvGrpSpPr>
        <p:grpSpPr>
          <a:xfrm>
            <a:off x="6465190" y="4465303"/>
            <a:ext cx="1355795" cy="553775"/>
            <a:chOff x="0" y="0"/>
            <a:chExt cx="601133" cy="245533"/>
          </a:xfrm>
        </p:grpSpPr>
        <p:sp>
          <p:nvSpPr>
            <p:cNvPr id="34" name="Freeform 34"/>
            <p:cNvSpPr/>
            <p:nvPr/>
          </p:nvSpPr>
          <p:spPr>
            <a:xfrm>
              <a:off x="0" y="0"/>
              <a:ext cx="601133" cy="245533"/>
            </a:xfrm>
            <a:custGeom>
              <a:avLst/>
              <a:gdLst/>
              <a:ahLst/>
              <a:cxnLst/>
              <a:rect l="l" t="t" r="r" b="b"/>
              <a:pathLst>
                <a:path w="601133" h="245533">
                  <a:moveTo>
                    <a:pt x="0" y="0"/>
                  </a:moveTo>
                  <a:lnTo>
                    <a:pt x="601133" y="0"/>
                  </a:lnTo>
                  <a:lnTo>
                    <a:pt x="601133" y="245533"/>
                  </a:lnTo>
                  <a:lnTo>
                    <a:pt x="0" y="245533"/>
                  </a:lnTo>
                  <a:close/>
                </a:path>
              </a:pathLst>
            </a:custGeom>
            <a:solidFill>
              <a:srgbClr val="99DAFF"/>
            </a:solidFill>
          </p:spPr>
        </p:sp>
        <p:sp>
          <p:nvSpPr>
            <p:cNvPr id="35" name="TextBox 35"/>
            <p:cNvSpPr txBox="1"/>
            <p:nvPr/>
          </p:nvSpPr>
          <p:spPr>
            <a:xfrm>
              <a:off x="0" y="-19050"/>
              <a:ext cx="601133" cy="264583"/>
            </a:xfrm>
            <a:prstGeom prst="rect">
              <a:avLst/>
            </a:prstGeom>
          </p:spPr>
          <p:txBody>
            <a:bodyPr lIns="50800" tIns="50800" rIns="50800" bIns="50800" rtlCol="0" anchor="ctr"/>
            <a:lstStyle/>
            <a:p>
              <a:pPr algn="ctr">
                <a:lnSpc>
                  <a:spcPts val="1679"/>
                </a:lnSpc>
              </a:pPr>
              <a:r>
                <a:rPr lang="en-US" sz="1200" b="1">
                  <a:solidFill>
                    <a:srgbClr val="000000"/>
                  </a:solidFill>
                  <a:latin typeface="Canva Sans Bold"/>
                  <a:ea typeface="Canva Sans Bold"/>
                  <a:cs typeface="Canva Sans Bold"/>
                  <a:sym typeface="Canva Sans Bold"/>
                </a:rPr>
                <a:t>CLOUD SOC ALERTS</a:t>
              </a:r>
            </a:p>
          </p:txBody>
        </p:sp>
      </p:grpSp>
      <p:grpSp>
        <p:nvGrpSpPr>
          <p:cNvPr id="36" name="Group 36"/>
          <p:cNvGrpSpPr/>
          <p:nvPr/>
        </p:nvGrpSpPr>
        <p:grpSpPr>
          <a:xfrm>
            <a:off x="8235644" y="1841554"/>
            <a:ext cx="4964882" cy="4162862"/>
            <a:chOff x="0" y="0"/>
            <a:chExt cx="2201333" cy="1845733"/>
          </a:xfrm>
        </p:grpSpPr>
        <p:sp>
          <p:nvSpPr>
            <p:cNvPr id="37" name="Freeform 37"/>
            <p:cNvSpPr/>
            <p:nvPr/>
          </p:nvSpPr>
          <p:spPr>
            <a:xfrm>
              <a:off x="0" y="0"/>
              <a:ext cx="2201333" cy="1845733"/>
            </a:xfrm>
            <a:custGeom>
              <a:avLst/>
              <a:gdLst/>
              <a:ahLst/>
              <a:cxnLst/>
              <a:rect l="l" t="t" r="r" b="b"/>
              <a:pathLst>
                <a:path w="2201333" h="1845733">
                  <a:moveTo>
                    <a:pt x="0" y="0"/>
                  </a:moveTo>
                  <a:lnTo>
                    <a:pt x="2201333" y="0"/>
                  </a:lnTo>
                  <a:lnTo>
                    <a:pt x="2201333" y="1845733"/>
                  </a:lnTo>
                  <a:lnTo>
                    <a:pt x="0" y="1845733"/>
                  </a:lnTo>
                  <a:close/>
                </a:path>
              </a:pathLst>
            </a:custGeom>
            <a:solidFill>
              <a:srgbClr val="1800AD"/>
            </a:solidFill>
          </p:spPr>
        </p:sp>
        <p:sp>
          <p:nvSpPr>
            <p:cNvPr id="38" name="TextBox 38"/>
            <p:cNvSpPr txBox="1"/>
            <p:nvPr/>
          </p:nvSpPr>
          <p:spPr>
            <a:xfrm>
              <a:off x="0" y="-19050"/>
              <a:ext cx="2201333" cy="1864783"/>
            </a:xfrm>
            <a:prstGeom prst="rect">
              <a:avLst/>
            </a:prstGeom>
          </p:spPr>
          <p:txBody>
            <a:bodyPr lIns="50800" tIns="50800" rIns="50800" bIns="50800" rtlCol="0" anchor="ctr"/>
            <a:lstStyle/>
            <a:p>
              <a:pPr algn="ctr">
                <a:lnSpc>
                  <a:spcPts val="1679"/>
                </a:lnSpc>
              </a:pPr>
              <a:endParaRPr/>
            </a:p>
          </p:txBody>
        </p:sp>
      </p:grpSp>
      <p:grpSp>
        <p:nvGrpSpPr>
          <p:cNvPr id="39" name="Group 39"/>
          <p:cNvGrpSpPr/>
          <p:nvPr/>
        </p:nvGrpSpPr>
        <p:grpSpPr>
          <a:xfrm>
            <a:off x="8412279" y="2347590"/>
            <a:ext cx="1355795" cy="553775"/>
            <a:chOff x="0" y="0"/>
            <a:chExt cx="601133" cy="245533"/>
          </a:xfrm>
        </p:grpSpPr>
        <p:sp>
          <p:nvSpPr>
            <p:cNvPr id="40" name="Freeform 40"/>
            <p:cNvSpPr/>
            <p:nvPr/>
          </p:nvSpPr>
          <p:spPr>
            <a:xfrm>
              <a:off x="0" y="0"/>
              <a:ext cx="601133" cy="245533"/>
            </a:xfrm>
            <a:custGeom>
              <a:avLst/>
              <a:gdLst/>
              <a:ahLst/>
              <a:cxnLst/>
              <a:rect l="l" t="t" r="r" b="b"/>
              <a:pathLst>
                <a:path w="601133" h="245533">
                  <a:moveTo>
                    <a:pt x="0" y="0"/>
                  </a:moveTo>
                  <a:lnTo>
                    <a:pt x="601133" y="0"/>
                  </a:lnTo>
                  <a:lnTo>
                    <a:pt x="601133" y="245533"/>
                  </a:lnTo>
                  <a:lnTo>
                    <a:pt x="0" y="245533"/>
                  </a:lnTo>
                  <a:close/>
                </a:path>
              </a:pathLst>
            </a:custGeom>
            <a:solidFill>
              <a:srgbClr val="99DAFF"/>
            </a:solidFill>
          </p:spPr>
        </p:sp>
        <p:sp>
          <p:nvSpPr>
            <p:cNvPr id="41" name="TextBox 41"/>
            <p:cNvSpPr txBox="1"/>
            <p:nvPr/>
          </p:nvSpPr>
          <p:spPr>
            <a:xfrm>
              <a:off x="0" y="-19050"/>
              <a:ext cx="601133" cy="264583"/>
            </a:xfrm>
            <a:prstGeom prst="rect">
              <a:avLst/>
            </a:prstGeom>
          </p:spPr>
          <p:txBody>
            <a:bodyPr lIns="50800" tIns="50800" rIns="50800" bIns="50800" rtlCol="0" anchor="ctr"/>
            <a:lstStyle/>
            <a:p>
              <a:pPr algn="ctr">
                <a:lnSpc>
                  <a:spcPts val="1679"/>
                </a:lnSpc>
              </a:pPr>
              <a:r>
                <a:rPr lang="en-US" sz="1200" b="1">
                  <a:solidFill>
                    <a:srgbClr val="000000"/>
                  </a:solidFill>
                  <a:latin typeface="Canva Sans Bold"/>
                  <a:ea typeface="Canva Sans Bold"/>
                  <a:cs typeface="Canva Sans Bold"/>
                  <a:sym typeface="Canva Sans Bold"/>
                </a:rPr>
                <a:t>Intake Adapters</a:t>
              </a:r>
            </a:p>
          </p:txBody>
        </p:sp>
      </p:grpSp>
      <p:grpSp>
        <p:nvGrpSpPr>
          <p:cNvPr id="42" name="Group 42"/>
          <p:cNvGrpSpPr/>
          <p:nvPr/>
        </p:nvGrpSpPr>
        <p:grpSpPr>
          <a:xfrm>
            <a:off x="9930387" y="2347590"/>
            <a:ext cx="3093503" cy="553775"/>
            <a:chOff x="0" y="0"/>
            <a:chExt cx="1371600" cy="245533"/>
          </a:xfrm>
        </p:grpSpPr>
        <p:sp>
          <p:nvSpPr>
            <p:cNvPr id="43" name="Freeform 43"/>
            <p:cNvSpPr/>
            <p:nvPr/>
          </p:nvSpPr>
          <p:spPr>
            <a:xfrm>
              <a:off x="0" y="0"/>
              <a:ext cx="1371600" cy="245533"/>
            </a:xfrm>
            <a:custGeom>
              <a:avLst/>
              <a:gdLst/>
              <a:ahLst/>
              <a:cxnLst/>
              <a:rect l="l" t="t" r="r" b="b"/>
              <a:pathLst>
                <a:path w="1371600" h="245533">
                  <a:moveTo>
                    <a:pt x="0" y="0"/>
                  </a:moveTo>
                  <a:lnTo>
                    <a:pt x="1371600" y="0"/>
                  </a:lnTo>
                  <a:lnTo>
                    <a:pt x="1371600" y="245533"/>
                  </a:lnTo>
                  <a:lnTo>
                    <a:pt x="0" y="245533"/>
                  </a:lnTo>
                  <a:close/>
                </a:path>
              </a:pathLst>
            </a:custGeom>
            <a:solidFill>
              <a:srgbClr val="99DAFF"/>
            </a:solidFill>
          </p:spPr>
        </p:sp>
        <p:sp>
          <p:nvSpPr>
            <p:cNvPr id="44" name="TextBox 44"/>
            <p:cNvSpPr txBox="1"/>
            <p:nvPr/>
          </p:nvSpPr>
          <p:spPr>
            <a:xfrm>
              <a:off x="0" y="-19050"/>
              <a:ext cx="1371600" cy="264583"/>
            </a:xfrm>
            <a:prstGeom prst="rect">
              <a:avLst/>
            </a:prstGeom>
          </p:spPr>
          <p:txBody>
            <a:bodyPr lIns="50800" tIns="50800" rIns="50800" bIns="50800" rtlCol="0" anchor="ctr"/>
            <a:lstStyle/>
            <a:p>
              <a:pPr algn="ctr">
                <a:lnSpc>
                  <a:spcPts val="1679"/>
                </a:lnSpc>
              </a:pPr>
              <a:r>
                <a:rPr lang="en-US" sz="1200" b="1">
                  <a:solidFill>
                    <a:srgbClr val="000000"/>
                  </a:solidFill>
                  <a:latin typeface="Canva Sans Bold"/>
                  <a:ea typeface="Canva Sans Bold"/>
                  <a:cs typeface="Canva Sans Bold"/>
                  <a:sym typeface="Canva Sans Bold"/>
                </a:rPr>
                <a:t>PII gaurd</a:t>
              </a:r>
            </a:p>
            <a:p>
              <a:pPr algn="ctr">
                <a:lnSpc>
                  <a:spcPts val="1679"/>
                </a:lnSpc>
              </a:pPr>
              <a:r>
                <a:rPr lang="en-US" sz="1200" b="1">
                  <a:solidFill>
                    <a:srgbClr val="000000"/>
                  </a:solidFill>
                  <a:latin typeface="Canva Sans Bold"/>
                  <a:ea typeface="Canva Sans Bold"/>
                  <a:cs typeface="Canva Sans Bold"/>
                  <a:sym typeface="Canva Sans Bold"/>
                </a:rPr>
                <a:t>(redacts aadhar and PAN card numbers)</a:t>
              </a:r>
            </a:p>
          </p:txBody>
        </p:sp>
      </p:grpSp>
      <p:grpSp>
        <p:nvGrpSpPr>
          <p:cNvPr id="45" name="Group 45"/>
          <p:cNvGrpSpPr/>
          <p:nvPr/>
        </p:nvGrpSpPr>
        <p:grpSpPr>
          <a:xfrm>
            <a:off x="8412279" y="3052221"/>
            <a:ext cx="1355795" cy="553775"/>
            <a:chOff x="0" y="0"/>
            <a:chExt cx="601133" cy="245533"/>
          </a:xfrm>
        </p:grpSpPr>
        <p:sp>
          <p:nvSpPr>
            <p:cNvPr id="46" name="Freeform 46"/>
            <p:cNvSpPr/>
            <p:nvPr/>
          </p:nvSpPr>
          <p:spPr>
            <a:xfrm>
              <a:off x="0" y="0"/>
              <a:ext cx="601133" cy="245533"/>
            </a:xfrm>
            <a:custGeom>
              <a:avLst/>
              <a:gdLst/>
              <a:ahLst/>
              <a:cxnLst/>
              <a:rect l="l" t="t" r="r" b="b"/>
              <a:pathLst>
                <a:path w="601133" h="245533">
                  <a:moveTo>
                    <a:pt x="0" y="0"/>
                  </a:moveTo>
                  <a:lnTo>
                    <a:pt x="601133" y="0"/>
                  </a:lnTo>
                  <a:lnTo>
                    <a:pt x="601133" y="245533"/>
                  </a:lnTo>
                  <a:lnTo>
                    <a:pt x="0" y="245533"/>
                  </a:lnTo>
                  <a:close/>
                </a:path>
              </a:pathLst>
            </a:custGeom>
            <a:solidFill>
              <a:srgbClr val="99DAFF"/>
            </a:solidFill>
          </p:spPr>
        </p:sp>
        <p:sp>
          <p:nvSpPr>
            <p:cNvPr id="47" name="TextBox 47"/>
            <p:cNvSpPr txBox="1"/>
            <p:nvPr/>
          </p:nvSpPr>
          <p:spPr>
            <a:xfrm>
              <a:off x="0" y="-19050"/>
              <a:ext cx="601133" cy="264583"/>
            </a:xfrm>
            <a:prstGeom prst="rect">
              <a:avLst/>
            </a:prstGeom>
          </p:spPr>
          <p:txBody>
            <a:bodyPr lIns="50800" tIns="50800" rIns="50800" bIns="50800" rtlCol="0" anchor="ctr"/>
            <a:lstStyle/>
            <a:p>
              <a:pPr algn="ctr">
                <a:lnSpc>
                  <a:spcPts val="1679"/>
                </a:lnSpc>
              </a:pPr>
              <a:r>
                <a:rPr lang="en-US" sz="1200" b="1">
                  <a:solidFill>
                    <a:srgbClr val="000000"/>
                  </a:solidFill>
                  <a:latin typeface="Canva Sans Bold"/>
                  <a:ea typeface="Canva Sans Bold"/>
                  <a:cs typeface="Canva Sans Bold"/>
                  <a:sym typeface="Canva Sans Bold"/>
                </a:rPr>
                <a:t>Incident Service (State Machine)</a:t>
              </a:r>
            </a:p>
          </p:txBody>
        </p:sp>
      </p:grpSp>
      <p:grpSp>
        <p:nvGrpSpPr>
          <p:cNvPr id="48" name="Group 48"/>
          <p:cNvGrpSpPr/>
          <p:nvPr/>
        </p:nvGrpSpPr>
        <p:grpSpPr>
          <a:xfrm>
            <a:off x="9930387" y="3052221"/>
            <a:ext cx="1355795" cy="553775"/>
            <a:chOff x="0" y="0"/>
            <a:chExt cx="601133" cy="245533"/>
          </a:xfrm>
        </p:grpSpPr>
        <p:sp>
          <p:nvSpPr>
            <p:cNvPr id="49" name="Freeform 49"/>
            <p:cNvSpPr/>
            <p:nvPr/>
          </p:nvSpPr>
          <p:spPr>
            <a:xfrm>
              <a:off x="0" y="0"/>
              <a:ext cx="601133" cy="245533"/>
            </a:xfrm>
            <a:custGeom>
              <a:avLst/>
              <a:gdLst/>
              <a:ahLst/>
              <a:cxnLst/>
              <a:rect l="l" t="t" r="r" b="b"/>
              <a:pathLst>
                <a:path w="601133" h="245533">
                  <a:moveTo>
                    <a:pt x="0" y="0"/>
                  </a:moveTo>
                  <a:lnTo>
                    <a:pt x="601133" y="0"/>
                  </a:lnTo>
                  <a:lnTo>
                    <a:pt x="601133" y="245533"/>
                  </a:lnTo>
                  <a:lnTo>
                    <a:pt x="0" y="245533"/>
                  </a:lnTo>
                  <a:close/>
                </a:path>
              </a:pathLst>
            </a:custGeom>
            <a:solidFill>
              <a:srgbClr val="99DAFF"/>
            </a:solidFill>
          </p:spPr>
        </p:sp>
        <p:sp>
          <p:nvSpPr>
            <p:cNvPr id="50" name="TextBox 50"/>
            <p:cNvSpPr txBox="1"/>
            <p:nvPr/>
          </p:nvSpPr>
          <p:spPr>
            <a:xfrm>
              <a:off x="0" y="-19050"/>
              <a:ext cx="601133" cy="264583"/>
            </a:xfrm>
            <a:prstGeom prst="rect">
              <a:avLst/>
            </a:prstGeom>
          </p:spPr>
          <p:txBody>
            <a:bodyPr lIns="50800" tIns="50800" rIns="50800" bIns="50800" rtlCol="0" anchor="ctr"/>
            <a:lstStyle/>
            <a:p>
              <a:pPr algn="ctr">
                <a:lnSpc>
                  <a:spcPts val="1679"/>
                </a:lnSpc>
              </a:pPr>
              <a:r>
                <a:rPr lang="en-US" sz="1200" b="1">
                  <a:solidFill>
                    <a:srgbClr val="000000"/>
                  </a:solidFill>
                  <a:latin typeface="Canva Sans Bold"/>
                  <a:ea typeface="Canva Sans Bold"/>
                  <a:cs typeface="Canva Sans Bold"/>
                  <a:sym typeface="Canva Sans Bold"/>
                </a:rPr>
                <a:t>Clock Engine</a:t>
              </a:r>
            </a:p>
          </p:txBody>
        </p:sp>
      </p:grpSp>
      <p:grpSp>
        <p:nvGrpSpPr>
          <p:cNvPr id="51" name="Group 51"/>
          <p:cNvGrpSpPr/>
          <p:nvPr/>
        </p:nvGrpSpPr>
        <p:grpSpPr>
          <a:xfrm>
            <a:off x="11448495" y="3052221"/>
            <a:ext cx="1575395" cy="553775"/>
            <a:chOff x="0" y="0"/>
            <a:chExt cx="698500" cy="245533"/>
          </a:xfrm>
        </p:grpSpPr>
        <p:sp>
          <p:nvSpPr>
            <p:cNvPr id="52" name="Freeform 52"/>
            <p:cNvSpPr/>
            <p:nvPr/>
          </p:nvSpPr>
          <p:spPr>
            <a:xfrm>
              <a:off x="0" y="0"/>
              <a:ext cx="698500" cy="245533"/>
            </a:xfrm>
            <a:custGeom>
              <a:avLst/>
              <a:gdLst/>
              <a:ahLst/>
              <a:cxnLst/>
              <a:rect l="l" t="t" r="r" b="b"/>
              <a:pathLst>
                <a:path w="698500" h="245533">
                  <a:moveTo>
                    <a:pt x="0" y="0"/>
                  </a:moveTo>
                  <a:lnTo>
                    <a:pt x="698500" y="0"/>
                  </a:lnTo>
                  <a:lnTo>
                    <a:pt x="698500" y="245533"/>
                  </a:lnTo>
                  <a:lnTo>
                    <a:pt x="0" y="245533"/>
                  </a:lnTo>
                  <a:close/>
                </a:path>
              </a:pathLst>
            </a:custGeom>
            <a:solidFill>
              <a:srgbClr val="99DAFF"/>
            </a:solidFill>
          </p:spPr>
        </p:sp>
        <p:sp>
          <p:nvSpPr>
            <p:cNvPr id="53" name="TextBox 53"/>
            <p:cNvSpPr txBox="1"/>
            <p:nvPr/>
          </p:nvSpPr>
          <p:spPr>
            <a:xfrm>
              <a:off x="0" y="-19050"/>
              <a:ext cx="698500" cy="264583"/>
            </a:xfrm>
            <a:prstGeom prst="rect">
              <a:avLst/>
            </a:prstGeom>
          </p:spPr>
          <p:txBody>
            <a:bodyPr lIns="50800" tIns="50800" rIns="50800" bIns="50800" rtlCol="0" anchor="ctr"/>
            <a:lstStyle/>
            <a:p>
              <a:pPr algn="ctr">
                <a:lnSpc>
                  <a:spcPts val="1540"/>
                </a:lnSpc>
              </a:pPr>
              <a:r>
                <a:rPr lang="en-US" sz="1100" b="1">
                  <a:solidFill>
                    <a:srgbClr val="000000"/>
                  </a:solidFill>
                  <a:latin typeface="Canva Sans Bold"/>
                  <a:ea typeface="Canva Sans Bold"/>
                  <a:cs typeface="Canva Sans Bold"/>
                  <a:sym typeface="Canva Sans Bold"/>
                </a:rPr>
                <a:t>Obligation Packs (CERT-in, RBI, DPDP)</a:t>
              </a:r>
            </a:p>
          </p:txBody>
        </p:sp>
      </p:grpSp>
      <p:grpSp>
        <p:nvGrpSpPr>
          <p:cNvPr id="54" name="Group 54"/>
          <p:cNvGrpSpPr/>
          <p:nvPr/>
        </p:nvGrpSpPr>
        <p:grpSpPr>
          <a:xfrm>
            <a:off x="8412279" y="3758762"/>
            <a:ext cx="1355795" cy="553775"/>
            <a:chOff x="0" y="0"/>
            <a:chExt cx="601133" cy="245533"/>
          </a:xfrm>
        </p:grpSpPr>
        <p:sp>
          <p:nvSpPr>
            <p:cNvPr id="55" name="Freeform 55"/>
            <p:cNvSpPr/>
            <p:nvPr/>
          </p:nvSpPr>
          <p:spPr>
            <a:xfrm>
              <a:off x="0" y="0"/>
              <a:ext cx="601133" cy="245533"/>
            </a:xfrm>
            <a:custGeom>
              <a:avLst/>
              <a:gdLst/>
              <a:ahLst/>
              <a:cxnLst/>
              <a:rect l="l" t="t" r="r" b="b"/>
              <a:pathLst>
                <a:path w="601133" h="245533">
                  <a:moveTo>
                    <a:pt x="0" y="0"/>
                  </a:moveTo>
                  <a:lnTo>
                    <a:pt x="601133" y="0"/>
                  </a:lnTo>
                  <a:lnTo>
                    <a:pt x="601133" y="245533"/>
                  </a:lnTo>
                  <a:lnTo>
                    <a:pt x="0" y="245533"/>
                  </a:lnTo>
                  <a:close/>
                </a:path>
              </a:pathLst>
            </a:custGeom>
            <a:solidFill>
              <a:srgbClr val="99DAFF"/>
            </a:solidFill>
          </p:spPr>
        </p:sp>
        <p:sp>
          <p:nvSpPr>
            <p:cNvPr id="56" name="TextBox 56"/>
            <p:cNvSpPr txBox="1"/>
            <p:nvPr/>
          </p:nvSpPr>
          <p:spPr>
            <a:xfrm>
              <a:off x="0" y="-19050"/>
              <a:ext cx="601133" cy="264583"/>
            </a:xfrm>
            <a:prstGeom prst="rect">
              <a:avLst/>
            </a:prstGeom>
          </p:spPr>
          <p:txBody>
            <a:bodyPr lIns="50800" tIns="50800" rIns="50800" bIns="50800" rtlCol="0" anchor="ctr"/>
            <a:lstStyle/>
            <a:p>
              <a:pPr algn="ctr">
                <a:lnSpc>
                  <a:spcPts val="1260"/>
                </a:lnSpc>
              </a:pPr>
              <a:r>
                <a:rPr lang="en-US" sz="900" b="1">
                  <a:solidFill>
                    <a:srgbClr val="000000"/>
                  </a:solidFill>
                  <a:latin typeface="Canva Sans Bold"/>
                  <a:ea typeface="Canva Sans Bold"/>
                  <a:cs typeface="Canva Sans Bold"/>
                  <a:sym typeface="Canva Sans Bold"/>
                </a:rPr>
                <a:t>Applicability Check (Compliance Approval)</a:t>
              </a:r>
            </a:p>
          </p:txBody>
        </p:sp>
      </p:grpSp>
      <p:grpSp>
        <p:nvGrpSpPr>
          <p:cNvPr id="57" name="Group 57"/>
          <p:cNvGrpSpPr/>
          <p:nvPr/>
        </p:nvGrpSpPr>
        <p:grpSpPr>
          <a:xfrm>
            <a:off x="9930387" y="3758762"/>
            <a:ext cx="1355795" cy="553775"/>
            <a:chOff x="0" y="0"/>
            <a:chExt cx="601133" cy="245533"/>
          </a:xfrm>
        </p:grpSpPr>
        <p:sp>
          <p:nvSpPr>
            <p:cNvPr id="58" name="Freeform 58"/>
            <p:cNvSpPr/>
            <p:nvPr/>
          </p:nvSpPr>
          <p:spPr>
            <a:xfrm>
              <a:off x="0" y="0"/>
              <a:ext cx="601133" cy="245533"/>
            </a:xfrm>
            <a:custGeom>
              <a:avLst/>
              <a:gdLst/>
              <a:ahLst/>
              <a:cxnLst/>
              <a:rect l="l" t="t" r="r" b="b"/>
              <a:pathLst>
                <a:path w="601133" h="245533">
                  <a:moveTo>
                    <a:pt x="0" y="0"/>
                  </a:moveTo>
                  <a:lnTo>
                    <a:pt x="601133" y="0"/>
                  </a:lnTo>
                  <a:lnTo>
                    <a:pt x="601133" y="245533"/>
                  </a:lnTo>
                  <a:lnTo>
                    <a:pt x="0" y="245533"/>
                  </a:lnTo>
                  <a:close/>
                </a:path>
              </a:pathLst>
            </a:custGeom>
            <a:solidFill>
              <a:srgbClr val="99DAFF"/>
            </a:solidFill>
          </p:spPr>
        </p:sp>
        <p:sp>
          <p:nvSpPr>
            <p:cNvPr id="59" name="TextBox 59"/>
            <p:cNvSpPr txBox="1"/>
            <p:nvPr/>
          </p:nvSpPr>
          <p:spPr>
            <a:xfrm>
              <a:off x="0" y="-28575"/>
              <a:ext cx="601133" cy="274108"/>
            </a:xfrm>
            <a:prstGeom prst="rect">
              <a:avLst/>
            </a:prstGeom>
          </p:spPr>
          <p:txBody>
            <a:bodyPr lIns="50800" tIns="50800" rIns="50800" bIns="50800" rtlCol="0" anchor="ctr"/>
            <a:lstStyle/>
            <a:p>
              <a:pPr algn="ctr">
                <a:lnSpc>
                  <a:spcPts val="1400"/>
                </a:lnSpc>
              </a:pPr>
              <a:r>
                <a:rPr lang="en-US" sz="1000" b="1">
                  <a:solidFill>
                    <a:srgbClr val="000000"/>
                  </a:solidFill>
                  <a:latin typeface="Canva Sans Bold"/>
                  <a:ea typeface="Canva Sans Bold"/>
                  <a:cs typeface="Canva Sans Bold"/>
                  <a:sym typeface="Canva Sans Bold"/>
                </a:rPr>
                <a:t>Filling Packet (maker-checker)</a:t>
              </a:r>
            </a:p>
          </p:txBody>
        </p:sp>
      </p:grpSp>
      <p:grpSp>
        <p:nvGrpSpPr>
          <p:cNvPr id="60" name="Group 60"/>
          <p:cNvGrpSpPr/>
          <p:nvPr/>
        </p:nvGrpSpPr>
        <p:grpSpPr>
          <a:xfrm>
            <a:off x="11448495" y="3758762"/>
            <a:ext cx="1575395" cy="553775"/>
            <a:chOff x="0" y="0"/>
            <a:chExt cx="698500" cy="245533"/>
          </a:xfrm>
        </p:grpSpPr>
        <p:sp>
          <p:nvSpPr>
            <p:cNvPr id="61" name="Freeform 61"/>
            <p:cNvSpPr/>
            <p:nvPr/>
          </p:nvSpPr>
          <p:spPr>
            <a:xfrm>
              <a:off x="0" y="0"/>
              <a:ext cx="698500" cy="245533"/>
            </a:xfrm>
            <a:custGeom>
              <a:avLst/>
              <a:gdLst/>
              <a:ahLst/>
              <a:cxnLst/>
              <a:rect l="l" t="t" r="r" b="b"/>
              <a:pathLst>
                <a:path w="698500" h="245533">
                  <a:moveTo>
                    <a:pt x="0" y="0"/>
                  </a:moveTo>
                  <a:lnTo>
                    <a:pt x="698500" y="0"/>
                  </a:lnTo>
                  <a:lnTo>
                    <a:pt x="698500" y="245533"/>
                  </a:lnTo>
                  <a:lnTo>
                    <a:pt x="0" y="245533"/>
                  </a:lnTo>
                  <a:close/>
                </a:path>
              </a:pathLst>
            </a:custGeom>
            <a:solidFill>
              <a:srgbClr val="99DAFF"/>
            </a:solidFill>
          </p:spPr>
        </p:sp>
        <p:sp>
          <p:nvSpPr>
            <p:cNvPr id="62" name="TextBox 62"/>
            <p:cNvSpPr txBox="1"/>
            <p:nvPr/>
          </p:nvSpPr>
          <p:spPr>
            <a:xfrm>
              <a:off x="0" y="-28575"/>
              <a:ext cx="698500" cy="274108"/>
            </a:xfrm>
            <a:prstGeom prst="rect">
              <a:avLst/>
            </a:prstGeom>
          </p:spPr>
          <p:txBody>
            <a:bodyPr lIns="50800" tIns="50800" rIns="50800" bIns="50800" rtlCol="0" anchor="ctr"/>
            <a:lstStyle/>
            <a:p>
              <a:pPr algn="ctr">
                <a:lnSpc>
                  <a:spcPts val="1400"/>
                </a:lnSpc>
              </a:pPr>
              <a:r>
                <a:rPr lang="en-US" sz="1000" b="1">
                  <a:solidFill>
                    <a:srgbClr val="000000"/>
                  </a:solidFill>
                  <a:latin typeface="Canva Sans Bold"/>
                  <a:ea typeface="Canva Sans Bold"/>
                  <a:cs typeface="Canva Sans Bold"/>
                  <a:sym typeface="Canva Sans Bold"/>
                </a:rPr>
                <a:t>Decision Ledger</a:t>
              </a:r>
            </a:p>
          </p:txBody>
        </p:sp>
      </p:grpSp>
      <p:grpSp>
        <p:nvGrpSpPr>
          <p:cNvPr id="63" name="Group 63"/>
          <p:cNvGrpSpPr/>
          <p:nvPr/>
        </p:nvGrpSpPr>
        <p:grpSpPr>
          <a:xfrm>
            <a:off x="8412279" y="4465303"/>
            <a:ext cx="1355795" cy="553775"/>
            <a:chOff x="0" y="0"/>
            <a:chExt cx="601133" cy="245533"/>
          </a:xfrm>
        </p:grpSpPr>
        <p:sp>
          <p:nvSpPr>
            <p:cNvPr id="64" name="Freeform 64"/>
            <p:cNvSpPr/>
            <p:nvPr/>
          </p:nvSpPr>
          <p:spPr>
            <a:xfrm>
              <a:off x="0" y="0"/>
              <a:ext cx="601133" cy="245533"/>
            </a:xfrm>
            <a:custGeom>
              <a:avLst/>
              <a:gdLst/>
              <a:ahLst/>
              <a:cxnLst/>
              <a:rect l="l" t="t" r="r" b="b"/>
              <a:pathLst>
                <a:path w="601133" h="245533">
                  <a:moveTo>
                    <a:pt x="0" y="0"/>
                  </a:moveTo>
                  <a:lnTo>
                    <a:pt x="601133" y="0"/>
                  </a:lnTo>
                  <a:lnTo>
                    <a:pt x="601133" y="245533"/>
                  </a:lnTo>
                  <a:lnTo>
                    <a:pt x="0" y="245533"/>
                  </a:lnTo>
                  <a:close/>
                </a:path>
              </a:pathLst>
            </a:custGeom>
            <a:solidFill>
              <a:srgbClr val="99DAFF"/>
            </a:solidFill>
          </p:spPr>
        </p:sp>
        <p:sp>
          <p:nvSpPr>
            <p:cNvPr id="65" name="TextBox 65"/>
            <p:cNvSpPr txBox="1"/>
            <p:nvPr/>
          </p:nvSpPr>
          <p:spPr>
            <a:xfrm>
              <a:off x="0" y="-19050"/>
              <a:ext cx="601133" cy="264583"/>
            </a:xfrm>
            <a:prstGeom prst="rect">
              <a:avLst/>
            </a:prstGeom>
          </p:spPr>
          <p:txBody>
            <a:bodyPr lIns="50800" tIns="50800" rIns="50800" bIns="50800" rtlCol="0" anchor="ctr"/>
            <a:lstStyle/>
            <a:p>
              <a:pPr algn="ctr">
                <a:lnSpc>
                  <a:spcPts val="1260"/>
                </a:lnSpc>
              </a:pPr>
              <a:r>
                <a:rPr lang="en-US" sz="900" b="1">
                  <a:solidFill>
                    <a:srgbClr val="000000"/>
                  </a:solidFill>
                  <a:latin typeface="Canva Sans Bold"/>
                  <a:ea typeface="Canva Sans Bold"/>
                  <a:cs typeface="Canva Sans Bold"/>
                  <a:sym typeface="Canva Sans Bold"/>
                </a:rPr>
                <a:t>Worker (Durable Timers, Escalations)</a:t>
              </a:r>
            </a:p>
          </p:txBody>
        </p:sp>
      </p:grpSp>
      <p:grpSp>
        <p:nvGrpSpPr>
          <p:cNvPr id="66" name="Group 66"/>
          <p:cNvGrpSpPr/>
          <p:nvPr/>
        </p:nvGrpSpPr>
        <p:grpSpPr>
          <a:xfrm>
            <a:off x="9930387" y="4465303"/>
            <a:ext cx="1355795" cy="553775"/>
            <a:chOff x="0" y="0"/>
            <a:chExt cx="601133" cy="245533"/>
          </a:xfrm>
        </p:grpSpPr>
        <p:sp>
          <p:nvSpPr>
            <p:cNvPr id="67" name="Freeform 67"/>
            <p:cNvSpPr/>
            <p:nvPr/>
          </p:nvSpPr>
          <p:spPr>
            <a:xfrm>
              <a:off x="0" y="0"/>
              <a:ext cx="601133" cy="245533"/>
            </a:xfrm>
            <a:custGeom>
              <a:avLst/>
              <a:gdLst/>
              <a:ahLst/>
              <a:cxnLst/>
              <a:rect l="l" t="t" r="r" b="b"/>
              <a:pathLst>
                <a:path w="601133" h="245533">
                  <a:moveTo>
                    <a:pt x="0" y="0"/>
                  </a:moveTo>
                  <a:lnTo>
                    <a:pt x="601133" y="0"/>
                  </a:lnTo>
                  <a:lnTo>
                    <a:pt x="601133" y="245533"/>
                  </a:lnTo>
                  <a:lnTo>
                    <a:pt x="0" y="245533"/>
                  </a:lnTo>
                  <a:close/>
                </a:path>
              </a:pathLst>
            </a:custGeom>
            <a:solidFill>
              <a:srgbClr val="99DAFF"/>
            </a:solidFill>
          </p:spPr>
        </p:sp>
        <p:sp>
          <p:nvSpPr>
            <p:cNvPr id="68" name="TextBox 68"/>
            <p:cNvSpPr txBox="1"/>
            <p:nvPr/>
          </p:nvSpPr>
          <p:spPr>
            <a:xfrm>
              <a:off x="0" y="-28575"/>
              <a:ext cx="601133" cy="274108"/>
            </a:xfrm>
            <a:prstGeom prst="rect">
              <a:avLst/>
            </a:prstGeom>
          </p:spPr>
          <p:txBody>
            <a:bodyPr lIns="50800" tIns="50800" rIns="50800" bIns="50800" rtlCol="0" anchor="ctr"/>
            <a:lstStyle/>
            <a:p>
              <a:pPr algn="ctr">
                <a:lnSpc>
                  <a:spcPts val="1400"/>
                </a:lnSpc>
              </a:pPr>
              <a:r>
                <a:rPr lang="en-US" sz="1000" b="1">
                  <a:solidFill>
                    <a:srgbClr val="000000"/>
                  </a:solidFill>
                  <a:latin typeface="Canva Sans Bold"/>
                  <a:ea typeface="Canva Sans Bold"/>
                  <a:cs typeface="Canva Sans Bold"/>
                  <a:sym typeface="Canva Sans Bold"/>
                </a:rPr>
                <a:t>Notification Outbox</a:t>
              </a:r>
            </a:p>
          </p:txBody>
        </p:sp>
      </p:grpSp>
      <p:grpSp>
        <p:nvGrpSpPr>
          <p:cNvPr id="69" name="Group 69"/>
          <p:cNvGrpSpPr/>
          <p:nvPr/>
        </p:nvGrpSpPr>
        <p:grpSpPr>
          <a:xfrm>
            <a:off x="11448495" y="4465303"/>
            <a:ext cx="1575395" cy="612567"/>
            <a:chOff x="0" y="0"/>
            <a:chExt cx="698500" cy="271600"/>
          </a:xfrm>
        </p:grpSpPr>
        <p:sp>
          <p:nvSpPr>
            <p:cNvPr id="70" name="Freeform 70"/>
            <p:cNvSpPr/>
            <p:nvPr/>
          </p:nvSpPr>
          <p:spPr>
            <a:xfrm>
              <a:off x="0" y="0"/>
              <a:ext cx="698500" cy="271600"/>
            </a:xfrm>
            <a:custGeom>
              <a:avLst/>
              <a:gdLst/>
              <a:ahLst/>
              <a:cxnLst/>
              <a:rect l="l" t="t" r="r" b="b"/>
              <a:pathLst>
                <a:path w="698500" h="271600">
                  <a:moveTo>
                    <a:pt x="0" y="0"/>
                  </a:moveTo>
                  <a:lnTo>
                    <a:pt x="698500" y="0"/>
                  </a:lnTo>
                  <a:lnTo>
                    <a:pt x="698500" y="271600"/>
                  </a:lnTo>
                  <a:lnTo>
                    <a:pt x="0" y="271600"/>
                  </a:lnTo>
                  <a:close/>
                </a:path>
              </a:pathLst>
            </a:custGeom>
            <a:solidFill>
              <a:srgbClr val="99DAFF"/>
            </a:solidFill>
          </p:spPr>
        </p:sp>
        <p:sp>
          <p:nvSpPr>
            <p:cNvPr id="71" name="TextBox 71"/>
            <p:cNvSpPr txBox="1"/>
            <p:nvPr/>
          </p:nvSpPr>
          <p:spPr>
            <a:xfrm>
              <a:off x="0" y="-28575"/>
              <a:ext cx="698500" cy="300175"/>
            </a:xfrm>
            <a:prstGeom prst="rect">
              <a:avLst/>
            </a:prstGeom>
          </p:spPr>
          <p:txBody>
            <a:bodyPr lIns="50800" tIns="50800" rIns="50800" bIns="50800" rtlCol="0" anchor="ctr"/>
            <a:lstStyle/>
            <a:p>
              <a:pPr algn="ctr">
                <a:lnSpc>
                  <a:spcPts val="1400"/>
                </a:lnSpc>
              </a:pPr>
              <a:r>
                <a:rPr lang="en-US" sz="1000" b="1">
                  <a:solidFill>
                    <a:srgbClr val="000000"/>
                  </a:solidFill>
                  <a:latin typeface="Canva Sans Bold"/>
                  <a:ea typeface="Canva Sans Bold"/>
                  <a:cs typeface="Canva Sans Bold"/>
                  <a:sym typeface="Canva Sans Bold"/>
                </a:rPr>
                <a:t>Audit Chain (Hash-Linked, Signed Checkpoints)</a:t>
              </a:r>
            </a:p>
          </p:txBody>
        </p:sp>
      </p:grpSp>
      <p:grpSp>
        <p:nvGrpSpPr>
          <p:cNvPr id="72" name="Group 72"/>
          <p:cNvGrpSpPr/>
          <p:nvPr/>
        </p:nvGrpSpPr>
        <p:grpSpPr>
          <a:xfrm>
            <a:off x="9930387" y="5238679"/>
            <a:ext cx="1355795" cy="612567"/>
            <a:chOff x="0" y="0"/>
            <a:chExt cx="601133" cy="271600"/>
          </a:xfrm>
        </p:grpSpPr>
        <p:sp>
          <p:nvSpPr>
            <p:cNvPr id="73" name="Freeform 73"/>
            <p:cNvSpPr/>
            <p:nvPr/>
          </p:nvSpPr>
          <p:spPr>
            <a:xfrm>
              <a:off x="0" y="0"/>
              <a:ext cx="601133" cy="271600"/>
            </a:xfrm>
            <a:custGeom>
              <a:avLst/>
              <a:gdLst/>
              <a:ahLst/>
              <a:cxnLst/>
              <a:rect l="l" t="t" r="r" b="b"/>
              <a:pathLst>
                <a:path w="601133" h="271600">
                  <a:moveTo>
                    <a:pt x="0" y="0"/>
                  </a:moveTo>
                  <a:lnTo>
                    <a:pt x="601133" y="0"/>
                  </a:lnTo>
                  <a:lnTo>
                    <a:pt x="601133" y="271600"/>
                  </a:lnTo>
                  <a:lnTo>
                    <a:pt x="0" y="271600"/>
                  </a:lnTo>
                  <a:close/>
                </a:path>
              </a:pathLst>
            </a:custGeom>
            <a:solidFill>
              <a:srgbClr val="99DAFF"/>
            </a:solidFill>
          </p:spPr>
        </p:sp>
        <p:sp>
          <p:nvSpPr>
            <p:cNvPr id="74" name="TextBox 74"/>
            <p:cNvSpPr txBox="1"/>
            <p:nvPr/>
          </p:nvSpPr>
          <p:spPr>
            <a:xfrm>
              <a:off x="0" y="-28575"/>
              <a:ext cx="601133" cy="300175"/>
            </a:xfrm>
            <a:prstGeom prst="rect">
              <a:avLst/>
            </a:prstGeom>
          </p:spPr>
          <p:txBody>
            <a:bodyPr lIns="50800" tIns="50800" rIns="50800" bIns="50800" rtlCol="0" anchor="ctr"/>
            <a:lstStyle/>
            <a:p>
              <a:pPr algn="ctr">
                <a:lnSpc>
                  <a:spcPts val="1400"/>
                </a:lnSpc>
              </a:pPr>
              <a:r>
                <a:rPr lang="en-US" sz="1000" b="1">
                  <a:solidFill>
                    <a:srgbClr val="000000"/>
                  </a:solidFill>
                  <a:latin typeface="Canva Sans Bold"/>
                  <a:ea typeface="Canva Sans Bold"/>
                  <a:cs typeface="Canva Sans Bold"/>
                  <a:sym typeface="Canva Sans Bold"/>
                </a:rPr>
                <a:t>Exposure Engine and Model Governance</a:t>
              </a:r>
            </a:p>
          </p:txBody>
        </p:sp>
      </p:grpSp>
      <p:grpSp>
        <p:nvGrpSpPr>
          <p:cNvPr id="75" name="Group 75"/>
          <p:cNvGrpSpPr/>
          <p:nvPr/>
        </p:nvGrpSpPr>
        <p:grpSpPr>
          <a:xfrm>
            <a:off x="8851480" y="6338591"/>
            <a:ext cx="1833187" cy="353270"/>
            <a:chOff x="0" y="0"/>
            <a:chExt cx="812800" cy="156633"/>
          </a:xfrm>
        </p:grpSpPr>
        <p:sp>
          <p:nvSpPr>
            <p:cNvPr id="76" name="Freeform 76"/>
            <p:cNvSpPr/>
            <p:nvPr/>
          </p:nvSpPr>
          <p:spPr>
            <a:xfrm>
              <a:off x="0" y="0"/>
              <a:ext cx="812800" cy="156633"/>
            </a:xfrm>
            <a:custGeom>
              <a:avLst/>
              <a:gdLst/>
              <a:ahLst/>
              <a:cxnLst/>
              <a:rect l="l" t="t" r="r" b="b"/>
              <a:pathLst>
                <a:path w="812800" h="156633">
                  <a:moveTo>
                    <a:pt x="0" y="0"/>
                  </a:moveTo>
                  <a:lnTo>
                    <a:pt x="812800" y="0"/>
                  </a:lnTo>
                  <a:lnTo>
                    <a:pt x="812800" y="156633"/>
                  </a:lnTo>
                  <a:lnTo>
                    <a:pt x="0" y="156633"/>
                  </a:lnTo>
                  <a:close/>
                </a:path>
              </a:pathLst>
            </a:custGeom>
            <a:solidFill>
              <a:srgbClr val="99DAFF"/>
            </a:solidFill>
          </p:spPr>
        </p:sp>
        <p:sp>
          <p:nvSpPr>
            <p:cNvPr id="77" name="TextBox 77"/>
            <p:cNvSpPr txBox="1"/>
            <p:nvPr/>
          </p:nvSpPr>
          <p:spPr>
            <a:xfrm>
              <a:off x="0" y="-19050"/>
              <a:ext cx="812800" cy="175683"/>
            </a:xfrm>
            <a:prstGeom prst="rect">
              <a:avLst/>
            </a:prstGeom>
          </p:spPr>
          <p:txBody>
            <a:bodyPr lIns="50800" tIns="50800" rIns="50800" bIns="50800" rtlCol="0" anchor="ctr"/>
            <a:lstStyle/>
            <a:p>
              <a:pPr algn="ctr">
                <a:lnSpc>
                  <a:spcPts val="1679"/>
                </a:lnSpc>
              </a:pPr>
              <a:r>
                <a:rPr lang="en-US" sz="1200" b="1">
                  <a:solidFill>
                    <a:srgbClr val="000000"/>
                  </a:solidFill>
                  <a:latin typeface="Canva Sans Bold"/>
                  <a:ea typeface="Canva Sans Bold"/>
                  <a:cs typeface="Canva Sans Bold"/>
                  <a:sym typeface="Canva Sans Bold"/>
                </a:rPr>
                <a:t>PostgreSQL</a:t>
              </a:r>
            </a:p>
          </p:txBody>
        </p:sp>
      </p:grpSp>
      <p:grpSp>
        <p:nvGrpSpPr>
          <p:cNvPr id="78" name="Group 78"/>
          <p:cNvGrpSpPr/>
          <p:nvPr/>
        </p:nvGrpSpPr>
        <p:grpSpPr>
          <a:xfrm>
            <a:off x="13945258" y="1841554"/>
            <a:ext cx="1938908" cy="3177733"/>
            <a:chOff x="0" y="0"/>
            <a:chExt cx="859675" cy="1408946"/>
          </a:xfrm>
        </p:grpSpPr>
        <p:sp>
          <p:nvSpPr>
            <p:cNvPr id="79" name="Freeform 79"/>
            <p:cNvSpPr/>
            <p:nvPr/>
          </p:nvSpPr>
          <p:spPr>
            <a:xfrm>
              <a:off x="0" y="0"/>
              <a:ext cx="859675" cy="1408946"/>
            </a:xfrm>
            <a:custGeom>
              <a:avLst/>
              <a:gdLst/>
              <a:ahLst/>
              <a:cxnLst/>
              <a:rect l="l" t="t" r="r" b="b"/>
              <a:pathLst>
                <a:path w="859675" h="1408946">
                  <a:moveTo>
                    <a:pt x="0" y="0"/>
                  </a:moveTo>
                  <a:lnTo>
                    <a:pt x="859675" y="0"/>
                  </a:lnTo>
                  <a:lnTo>
                    <a:pt x="859675" y="1408946"/>
                  </a:lnTo>
                  <a:lnTo>
                    <a:pt x="0" y="1408946"/>
                  </a:lnTo>
                  <a:close/>
                </a:path>
              </a:pathLst>
            </a:custGeom>
            <a:solidFill>
              <a:srgbClr val="CAF5F7"/>
            </a:solidFill>
          </p:spPr>
        </p:sp>
        <p:sp>
          <p:nvSpPr>
            <p:cNvPr id="80" name="TextBox 80"/>
            <p:cNvSpPr txBox="1"/>
            <p:nvPr/>
          </p:nvSpPr>
          <p:spPr>
            <a:xfrm>
              <a:off x="0" y="-19050"/>
              <a:ext cx="859675" cy="1427996"/>
            </a:xfrm>
            <a:prstGeom prst="rect">
              <a:avLst/>
            </a:prstGeom>
          </p:spPr>
          <p:txBody>
            <a:bodyPr lIns="50800" tIns="50800" rIns="50800" bIns="50800" rtlCol="0" anchor="ctr"/>
            <a:lstStyle/>
            <a:p>
              <a:pPr algn="ctr">
                <a:lnSpc>
                  <a:spcPts val="1679"/>
                </a:lnSpc>
              </a:pPr>
              <a:r>
                <a:rPr lang="en-US" sz="1200" b="1">
                  <a:solidFill>
                    <a:srgbClr val="000000"/>
                  </a:solidFill>
                  <a:latin typeface="Canva Sans Bold"/>
                  <a:ea typeface="Canva Sans Bold"/>
                  <a:cs typeface="Canva Sans Bold"/>
                  <a:sym typeface="Canva Sans Bold"/>
                </a:rPr>
                <a:t>Web Console</a:t>
              </a:r>
            </a:p>
            <a:p>
              <a:pPr algn="ctr">
                <a:lnSpc>
                  <a:spcPts val="1679"/>
                </a:lnSpc>
              </a:pPr>
              <a:endParaRPr lang="en-US" sz="1200" b="1">
                <a:solidFill>
                  <a:srgbClr val="000000"/>
                </a:solidFill>
                <a:latin typeface="Canva Sans Bold"/>
                <a:ea typeface="Canva Sans Bold"/>
                <a:cs typeface="Canva Sans Bold"/>
                <a:sym typeface="Canva Sans Bold"/>
              </a:endParaRPr>
            </a:p>
            <a:p>
              <a:pPr algn="ctr">
                <a:lnSpc>
                  <a:spcPts val="1679"/>
                </a:lnSpc>
              </a:pPr>
              <a:endParaRPr lang="en-US" sz="1200" b="1">
                <a:solidFill>
                  <a:srgbClr val="000000"/>
                </a:solidFill>
                <a:latin typeface="Canva Sans Bold"/>
                <a:ea typeface="Canva Sans Bold"/>
                <a:cs typeface="Canva Sans Bold"/>
                <a:sym typeface="Canva Sans Bold"/>
              </a:endParaRPr>
            </a:p>
            <a:p>
              <a:pPr algn="ctr">
                <a:lnSpc>
                  <a:spcPts val="1679"/>
                </a:lnSpc>
              </a:pPr>
              <a:endParaRPr lang="en-US" sz="1200" b="1">
                <a:solidFill>
                  <a:srgbClr val="000000"/>
                </a:solidFill>
                <a:latin typeface="Canva Sans Bold"/>
                <a:ea typeface="Canva Sans Bold"/>
                <a:cs typeface="Canva Sans Bold"/>
                <a:sym typeface="Canva Sans Bold"/>
              </a:endParaRPr>
            </a:p>
            <a:p>
              <a:pPr algn="ctr">
                <a:lnSpc>
                  <a:spcPts val="1679"/>
                </a:lnSpc>
              </a:pPr>
              <a:endParaRPr lang="en-US" sz="1200" b="1">
                <a:solidFill>
                  <a:srgbClr val="000000"/>
                </a:solidFill>
                <a:latin typeface="Canva Sans Bold"/>
                <a:ea typeface="Canva Sans Bold"/>
                <a:cs typeface="Canva Sans Bold"/>
                <a:sym typeface="Canva Sans Bold"/>
              </a:endParaRPr>
            </a:p>
            <a:p>
              <a:pPr algn="ctr">
                <a:lnSpc>
                  <a:spcPts val="1679"/>
                </a:lnSpc>
              </a:pPr>
              <a:endParaRPr lang="en-US" sz="1200" b="1">
                <a:solidFill>
                  <a:srgbClr val="000000"/>
                </a:solidFill>
                <a:latin typeface="Canva Sans Bold"/>
                <a:ea typeface="Canva Sans Bold"/>
                <a:cs typeface="Canva Sans Bold"/>
                <a:sym typeface="Canva Sans Bold"/>
              </a:endParaRPr>
            </a:p>
            <a:p>
              <a:pPr algn="ctr">
                <a:lnSpc>
                  <a:spcPts val="1679"/>
                </a:lnSpc>
              </a:pPr>
              <a:endParaRPr lang="en-US" sz="1200" b="1">
                <a:solidFill>
                  <a:srgbClr val="000000"/>
                </a:solidFill>
                <a:latin typeface="Canva Sans Bold"/>
                <a:ea typeface="Canva Sans Bold"/>
                <a:cs typeface="Canva Sans Bold"/>
                <a:sym typeface="Canva Sans Bold"/>
              </a:endParaRPr>
            </a:p>
            <a:p>
              <a:pPr algn="ctr">
                <a:lnSpc>
                  <a:spcPts val="1679"/>
                </a:lnSpc>
              </a:pPr>
              <a:endParaRPr lang="en-US" sz="1200" b="1">
                <a:solidFill>
                  <a:srgbClr val="000000"/>
                </a:solidFill>
                <a:latin typeface="Canva Sans Bold"/>
                <a:ea typeface="Canva Sans Bold"/>
                <a:cs typeface="Canva Sans Bold"/>
                <a:sym typeface="Canva Sans Bold"/>
              </a:endParaRPr>
            </a:p>
            <a:p>
              <a:pPr algn="ctr">
                <a:lnSpc>
                  <a:spcPts val="1679"/>
                </a:lnSpc>
              </a:pPr>
              <a:endParaRPr lang="en-US" sz="1200" b="1">
                <a:solidFill>
                  <a:srgbClr val="000000"/>
                </a:solidFill>
                <a:latin typeface="Canva Sans Bold"/>
                <a:ea typeface="Canva Sans Bold"/>
                <a:cs typeface="Canva Sans Bold"/>
                <a:sym typeface="Canva Sans Bold"/>
              </a:endParaRPr>
            </a:p>
            <a:p>
              <a:pPr algn="ctr">
                <a:lnSpc>
                  <a:spcPts val="1679"/>
                </a:lnSpc>
              </a:pPr>
              <a:endParaRPr lang="en-US" sz="1200" b="1">
                <a:solidFill>
                  <a:srgbClr val="000000"/>
                </a:solidFill>
                <a:latin typeface="Canva Sans Bold"/>
                <a:ea typeface="Canva Sans Bold"/>
                <a:cs typeface="Canva Sans Bold"/>
                <a:sym typeface="Canva Sans Bold"/>
              </a:endParaRPr>
            </a:p>
            <a:p>
              <a:pPr algn="ctr">
                <a:lnSpc>
                  <a:spcPts val="1679"/>
                </a:lnSpc>
              </a:pPr>
              <a:endParaRPr lang="en-US" sz="1200" b="1">
                <a:solidFill>
                  <a:srgbClr val="000000"/>
                </a:solidFill>
                <a:latin typeface="Canva Sans Bold"/>
                <a:ea typeface="Canva Sans Bold"/>
                <a:cs typeface="Canva Sans Bold"/>
                <a:sym typeface="Canva Sans Bold"/>
              </a:endParaRPr>
            </a:p>
            <a:p>
              <a:pPr algn="ctr">
                <a:lnSpc>
                  <a:spcPts val="1679"/>
                </a:lnSpc>
              </a:pPr>
              <a:endParaRPr lang="en-US" sz="1200" b="1">
                <a:solidFill>
                  <a:srgbClr val="000000"/>
                </a:solidFill>
                <a:latin typeface="Canva Sans Bold"/>
                <a:ea typeface="Canva Sans Bold"/>
                <a:cs typeface="Canva Sans Bold"/>
                <a:sym typeface="Canva Sans Bold"/>
              </a:endParaRPr>
            </a:p>
            <a:p>
              <a:pPr algn="ctr">
                <a:lnSpc>
                  <a:spcPts val="1679"/>
                </a:lnSpc>
                <a:spcBef>
                  <a:spcPct val="0"/>
                </a:spcBef>
              </a:pPr>
              <a:endParaRPr lang="en-US" sz="1200" b="1">
                <a:solidFill>
                  <a:srgbClr val="000000"/>
                </a:solidFill>
                <a:latin typeface="Canva Sans Bold"/>
                <a:ea typeface="Canva Sans Bold"/>
                <a:cs typeface="Canva Sans Bold"/>
                <a:sym typeface="Canva Sans Bold"/>
              </a:endParaRPr>
            </a:p>
          </p:txBody>
        </p:sp>
      </p:grpSp>
      <p:grpSp>
        <p:nvGrpSpPr>
          <p:cNvPr id="81" name="Group 81"/>
          <p:cNvGrpSpPr/>
          <p:nvPr/>
        </p:nvGrpSpPr>
        <p:grpSpPr>
          <a:xfrm>
            <a:off x="14067999" y="2355437"/>
            <a:ext cx="1671600" cy="401010"/>
            <a:chOff x="0" y="0"/>
            <a:chExt cx="741156" cy="177800"/>
          </a:xfrm>
        </p:grpSpPr>
        <p:sp>
          <p:nvSpPr>
            <p:cNvPr id="82" name="Freeform 82"/>
            <p:cNvSpPr/>
            <p:nvPr/>
          </p:nvSpPr>
          <p:spPr>
            <a:xfrm>
              <a:off x="0" y="0"/>
              <a:ext cx="741156" cy="177800"/>
            </a:xfrm>
            <a:custGeom>
              <a:avLst/>
              <a:gdLst/>
              <a:ahLst/>
              <a:cxnLst/>
              <a:rect l="l" t="t" r="r" b="b"/>
              <a:pathLst>
                <a:path w="741156" h="177800">
                  <a:moveTo>
                    <a:pt x="0" y="0"/>
                  </a:moveTo>
                  <a:lnTo>
                    <a:pt x="741156" y="0"/>
                  </a:lnTo>
                  <a:lnTo>
                    <a:pt x="741156" y="177800"/>
                  </a:lnTo>
                  <a:lnTo>
                    <a:pt x="0" y="177800"/>
                  </a:lnTo>
                  <a:close/>
                </a:path>
              </a:pathLst>
            </a:custGeom>
            <a:solidFill>
              <a:srgbClr val="99DAFF"/>
            </a:solidFill>
          </p:spPr>
        </p:sp>
        <p:sp>
          <p:nvSpPr>
            <p:cNvPr id="83" name="TextBox 83"/>
            <p:cNvSpPr txBox="1"/>
            <p:nvPr/>
          </p:nvSpPr>
          <p:spPr>
            <a:xfrm>
              <a:off x="0" y="-19050"/>
              <a:ext cx="741156" cy="196850"/>
            </a:xfrm>
            <a:prstGeom prst="rect">
              <a:avLst/>
            </a:prstGeom>
          </p:spPr>
          <p:txBody>
            <a:bodyPr lIns="50800" tIns="50800" rIns="50800" bIns="50800" rtlCol="0" anchor="ctr"/>
            <a:lstStyle/>
            <a:p>
              <a:pPr algn="ctr">
                <a:lnSpc>
                  <a:spcPts val="1679"/>
                </a:lnSpc>
              </a:pPr>
              <a:r>
                <a:rPr lang="en-US" sz="1200" b="1">
                  <a:solidFill>
                    <a:srgbClr val="000000"/>
                  </a:solidFill>
                  <a:latin typeface="Canva Sans Bold"/>
                  <a:ea typeface="Canva Sans Bold"/>
                  <a:cs typeface="Canva Sans Bold"/>
                  <a:sym typeface="Canva Sans Bold"/>
                </a:rPr>
                <a:t>Command Center</a:t>
              </a:r>
            </a:p>
          </p:txBody>
        </p:sp>
      </p:grpSp>
      <p:grpSp>
        <p:nvGrpSpPr>
          <p:cNvPr id="84" name="Group 84"/>
          <p:cNvGrpSpPr/>
          <p:nvPr/>
        </p:nvGrpSpPr>
        <p:grpSpPr>
          <a:xfrm>
            <a:off x="14067999" y="2907303"/>
            <a:ext cx="1671600" cy="401010"/>
            <a:chOff x="0" y="0"/>
            <a:chExt cx="741156" cy="177800"/>
          </a:xfrm>
        </p:grpSpPr>
        <p:sp>
          <p:nvSpPr>
            <p:cNvPr id="85" name="Freeform 85"/>
            <p:cNvSpPr/>
            <p:nvPr/>
          </p:nvSpPr>
          <p:spPr>
            <a:xfrm>
              <a:off x="0" y="0"/>
              <a:ext cx="741156" cy="177800"/>
            </a:xfrm>
            <a:custGeom>
              <a:avLst/>
              <a:gdLst/>
              <a:ahLst/>
              <a:cxnLst/>
              <a:rect l="l" t="t" r="r" b="b"/>
              <a:pathLst>
                <a:path w="741156" h="177800">
                  <a:moveTo>
                    <a:pt x="0" y="0"/>
                  </a:moveTo>
                  <a:lnTo>
                    <a:pt x="741156" y="0"/>
                  </a:lnTo>
                  <a:lnTo>
                    <a:pt x="741156" y="177800"/>
                  </a:lnTo>
                  <a:lnTo>
                    <a:pt x="0" y="177800"/>
                  </a:lnTo>
                  <a:close/>
                </a:path>
              </a:pathLst>
            </a:custGeom>
            <a:solidFill>
              <a:srgbClr val="99DAFF"/>
            </a:solidFill>
          </p:spPr>
        </p:sp>
        <p:sp>
          <p:nvSpPr>
            <p:cNvPr id="86" name="TextBox 86"/>
            <p:cNvSpPr txBox="1"/>
            <p:nvPr/>
          </p:nvSpPr>
          <p:spPr>
            <a:xfrm>
              <a:off x="0" y="-19050"/>
              <a:ext cx="741156" cy="196850"/>
            </a:xfrm>
            <a:prstGeom prst="rect">
              <a:avLst/>
            </a:prstGeom>
          </p:spPr>
          <p:txBody>
            <a:bodyPr lIns="50800" tIns="50800" rIns="50800" bIns="50800" rtlCol="0" anchor="ctr"/>
            <a:lstStyle/>
            <a:p>
              <a:pPr algn="ctr">
                <a:lnSpc>
                  <a:spcPts val="1679"/>
                </a:lnSpc>
              </a:pPr>
              <a:r>
                <a:rPr lang="en-US" sz="1200" b="1">
                  <a:solidFill>
                    <a:srgbClr val="000000"/>
                  </a:solidFill>
                  <a:latin typeface="Canva Sans Bold"/>
                  <a:ea typeface="Canva Sans Bold"/>
                  <a:cs typeface="Canva Sans Bold"/>
                  <a:sym typeface="Canva Sans Bold"/>
                </a:rPr>
                <a:t>Deadline Corridor</a:t>
              </a:r>
            </a:p>
          </p:txBody>
        </p:sp>
      </p:grpSp>
      <p:grpSp>
        <p:nvGrpSpPr>
          <p:cNvPr id="87" name="Group 87"/>
          <p:cNvGrpSpPr/>
          <p:nvPr/>
        </p:nvGrpSpPr>
        <p:grpSpPr>
          <a:xfrm>
            <a:off x="14067999" y="3461078"/>
            <a:ext cx="1671600" cy="401010"/>
            <a:chOff x="0" y="0"/>
            <a:chExt cx="741156" cy="177800"/>
          </a:xfrm>
        </p:grpSpPr>
        <p:sp>
          <p:nvSpPr>
            <p:cNvPr id="88" name="Freeform 88"/>
            <p:cNvSpPr/>
            <p:nvPr/>
          </p:nvSpPr>
          <p:spPr>
            <a:xfrm>
              <a:off x="0" y="0"/>
              <a:ext cx="741156" cy="177800"/>
            </a:xfrm>
            <a:custGeom>
              <a:avLst/>
              <a:gdLst/>
              <a:ahLst/>
              <a:cxnLst/>
              <a:rect l="l" t="t" r="r" b="b"/>
              <a:pathLst>
                <a:path w="741156" h="177800">
                  <a:moveTo>
                    <a:pt x="0" y="0"/>
                  </a:moveTo>
                  <a:lnTo>
                    <a:pt x="741156" y="0"/>
                  </a:lnTo>
                  <a:lnTo>
                    <a:pt x="741156" y="177800"/>
                  </a:lnTo>
                  <a:lnTo>
                    <a:pt x="0" y="177800"/>
                  </a:lnTo>
                  <a:close/>
                </a:path>
              </a:pathLst>
            </a:custGeom>
            <a:solidFill>
              <a:srgbClr val="99DAFF"/>
            </a:solidFill>
          </p:spPr>
        </p:sp>
        <p:sp>
          <p:nvSpPr>
            <p:cNvPr id="89" name="TextBox 89"/>
            <p:cNvSpPr txBox="1"/>
            <p:nvPr/>
          </p:nvSpPr>
          <p:spPr>
            <a:xfrm>
              <a:off x="0" y="-19050"/>
              <a:ext cx="741156" cy="196850"/>
            </a:xfrm>
            <a:prstGeom prst="rect">
              <a:avLst/>
            </a:prstGeom>
          </p:spPr>
          <p:txBody>
            <a:bodyPr lIns="50800" tIns="50800" rIns="50800" bIns="50800" rtlCol="0" anchor="ctr"/>
            <a:lstStyle/>
            <a:p>
              <a:pPr algn="ctr">
                <a:lnSpc>
                  <a:spcPts val="1679"/>
                </a:lnSpc>
              </a:pPr>
              <a:r>
                <a:rPr lang="en-US" sz="1200" b="1">
                  <a:solidFill>
                    <a:srgbClr val="000000"/>
                  </a:solidFill>
                  <a:latin typeface="Canva Sans Bold"/>
                  <a:ea typeface="Canva Sans Bold"/>
                  <a:cs typeface="Canva Sans Bold"/>
                  <a:sym typeface="Canva Sans Bold"/>
                </a:rPr>
                <a:t>Filing Packets</a:t>
              </a:r>
            </a:p>
          </p:txBody>
        </p:sp>
      </p:grpSp>
      <p:grpSp>
        <p:nvGrpSpPr>
          <p:cNvPr id="90" name="Group 90"/>
          <p:cNvGrpSpPr/>
          <p:nvPr/>
        </p:nvGrpSpPr>
        <p:grpSpPr>
          <a:xfrm>
            <a:off x="14067999" y="4014854"/>
            <a:ext cx="1671600" cy="401010"/>
            <a:chOff x="0" y="0"/>
            <a:chExt cx="741156" cy="177800"/>
          </a:xfrm>
        </p:grpSpPr>
        <p:sp>
          <p:nvSpPr>
            <p:cNvPr id="91" name="Freeform 91"/>
            <p:cNvSpPr/>
            <p:nvPr/>
          </p:nvSpPr>
          <p:spPr>
            <a:xfrm>
              <a:off x="0" y="0"/>
              <a:ext cx="741156" cy="177800"/>
            </a:xfrm>
            <a:custGeom>
              <a:avLst/>
              <a:gdLst/>
              <a:ahLst/>
              <a:cxnLst/>
              <a:rect l="l" t="t" r="r" b="b"/>
              <a:pathLst>
                <a:path w="741156" h="177800">
                  <a:moveTo>
                    <a:pt x="0" y="0"/>
                  </a:moveTo>
                  <a:lnTo>
                    <a:pt x="741156" y="0"/>
                  </a:lnTo>
                  <a:lnTo>
                    <a:pt x="741156" y="177800"/>
                  </a:lnTo>
                  <a:lnTo>
                    <a:pt x="0" y="177800"/>
                  </a:lnTo>
                  <a:close/>
                </a:path>
              </a:pathLst>
            </a:custGeom>
            <a:solidFill>
              <a:srgbClr val="99DAFF"/>
            </a:solidFill>
          </p:spPr>
        </p:sp>
        <p:sp>
          <p:nvSpPr>
            <p:cNvPr id="92" name="TextBox 92"/>
            <p:cNvSpPr txBox="1"/>
            <p:nvPr/>
          </p:nvSpPr>
          <p:spPr>
            <a:xfrm>
              <a:off x="0" y="-19050"/>
              <a:ext cx="741156" cy="196850"/>
            </a:xfrm>
            <a:prstGeom prst="rect">
              <a:avLst/>
            </a:prstGeom>
          </p:spPr>
          <p:txBody>
            <a:bodyPr lIns="50800" tIns="50800" rIns="50800" bIns="50800" rtlCol="0" anchor="ctr"/>
            <a:lstStyle/>
            <a:p>
              <a:pPr algn="ctr">
                <a:lnSpc>
                  <a:spcPts val="1679"/>
                </a:lnSpc>
              </a:pPr>
              <a:r>
                <a:rPr lang="en-US" sz="1200" b="1">
                  <a:solidFill>
                    <a:srgbClr val="000000"/>
                  </a:solidFill>
                  <a:latin typeface="Canva Sans Bold"/>
                  <a:ea typeface="Canva Sans Bold"/>
                  <a:cs typeface="Canva Sans Bold"/>
                  <a:sym typeface="Canva Sans Bold"/>
                </a:rPr>
                <a:t>Decision Ledger</a:t>
              </a:r>
            </a:p>
          </p:txBody>
        </p:sp>
      </p:grpSp>
      <p:grpSp>
        <p:nvGrpSpPr>
          <p:cNvPr id="93" name="Group 93"/>
          <p:cNvGrpSpPr/>
          <p:nvPr/>
        </p:nvGrpSpPr>
        <p:grpSpPr>
          <a:xfrm>
            <a:off x="14067999" y="4531942"/>
            <a:ext cx="1671600" cy="401010"/>
            <a:chOff x="0" y="0"/>
            <a:chExt cx="741156" cy="177800"/>
          </a:xfrm>
        </p:grpSpPr>
        <p:sp>
          <p:nvSpPr>
            <p:cNvPr id="94" name="Freeform 94"/>
            <p:cNvSpPr/>
            <p:nvPr/>
          </p:nvSpPr>
          <p:spPr>
            <a:xfrm>
              <a:off x="0" y="0"/>
              <a:ext cx="741156" cy="177800"/>
            </a:xfrm>
            <a:custGeom>
              <a:avLst/>
              <a:gdLst/>
              <a:ahLst/>
              <a:cxnLst/>
              <a:rect l="l" t="t" r="r" b="b"/>
              <a:pathLst>
                <a:path w="741156" h="177800">
                  <a:moveTo>
                    <a:pt x="0" y="0"/>
                  </a:moveTo>
                  <a:lnTo>
                    <a:pt x="741156" y="0"/>
                  </a:lnTo>
                  <a:lnTo>
                    <a:pt x="741156" y="177800"/>
                  </a:lnTo>
                  <a:lnTo>
                    <a:pt x="0" y="177800"/>
                  </a:lnTo>
                  <a:close/>
                </a:path>
              </a:pathLst>
            </a:custGeom>
            <a:solidFill>
              <a:srgbClr val="99DAFF"/>
            </a:solidFill>
          </p:spPr>
        </p:sp>
        <p:sp>
          <p:nvSpPr>
            <p:cNvPr id="95" name="TextBox 95"/>
            <p:cNvSpPr txBox="1"/>
            <p:nvPr/>
          </p:nvSpPr>
          <p:spPr>
            <a:xfrm>
              <a:off x="0" y="-19050"/>
              <a:ext cx="741156" cy="196850"/>
            </a:xfrm>
            <a:prstGeom prst="rect">
              <a:avLst/>
            </a:prstGeom>
          </p:spPr>
          <p:txBody>
            <a:bodyPr lIns="50800" tIns="50800" rIns="50800" bIns="50800" rtlCol="0" anchor="ctr"/>
            <a:lstStyle/>
            <a:p>
              <a:pPr algn="ctr">
                <a:lnSpc>
                  <a:spcPts val="1679"/>
                </a:lnSpc>
              </a:pPr>
              <a:r>
                <a:rPr lang="en-US" sz="1200" b="1">
                  <a:solidFill>
                    <a:srgbClr val="000000"/>
                  </a:solidFill>
                  <a:latin typeface="Canva Sans Bold"/>
                  <a:ea typeface="Canva Sans Bold"/>
                  <a:cs typeface="Canva Sans Bold"/>
                  <a:sym typeface="Canva Sans Bold"/>
                </a:rPr>
                <a:t>Shift Handover</a:t>
              </a:r>
            </a:p>
          </p:txBody>
        </p:sp>
      </p:grpSp>
      <p:sp>
        <p:nvSpPr>
          <p:cNvPr id="96" name="Freeform 96"/>
          <p:cNvSpPr/>
          <p:nvPr/>
        </p:nvSpPr>
        <p:spPr>
          <a:xfrm>
            <a:off x="8116632" y="2624478"/>
            <a:ext cx="295647" cy="0"/>
          </a:xfrm>
          <a:custGeom>
            <a:avLst/>
            <a:gdLst/>
            <a:ahLst/>
            <a:cxnLst/>
            <a:rect l="l" t="t" r="r" b="b"/>
            <a:pathLst>
              <a:path w="295647">
                <a:moveTo>
                  <a:pt x="0" y="0"/>
                </a:moveTo>
                <a:lnTo>
                  <a:pt x="295647" y="0"/>
                </a:lnTo>
              </a:path>
            </a:pathLst>
          </a:custGeom>
          <a:ln w="38100" cap="rnd">
            <a:solidFill>
              <a:srgbClr val="ACB8C0"/>
            </a:solidFill>
            <a:prstDash val="solid"/>
            <a:headEnd type="none" w="sm" len="sm"/>
            <a:tailEnd type="arrow" w="med" len="sm"/>
          </a:ln>
        </p:spPr>
      </p:sp>
      <p:sp>
        <p:nvSpPr>
          <p:cNvPr id="97" name="Freeform 97"/>
          <p:cNvSpPr/>
          <p:nvPr/>
        </p:nvSpPr>
        <p:spPr>
          <a:xfrm>
            <a:off x="8116632" y="3329109"/>
            <a:ext cx="295647" cy="0"/>
          </a:xfrm>
          <a:custGeom>
            <a:avLst/>
            <a:gdLst/>
            <a:ahLst/>
            <a:cxnLst/>
            <a:rect l="l" t="t" r="r" b="b"/>
            <a:pathLst>
              <a:path w="295647">
                <a:moveTo>
                  <a:pt x="0" y="0"/>
                </a:moveTo>
                <a:lnTo>
                  <a:pt x="295647" y="0"/>
                </a:lnTo>
              </a:path>
            </a:pathLst>
          </a:custGeom>
          <a:ln w="38100" cap="rnd">
            <a:solidFill>
              <a:srgbClr val="ACB8C0"/>
            </a:solidFill>
            <a:prstDash val="solid"/>
            <a:headEnd type="none" w="sm" len="sm"/>
            <a:tailEnd type="arrow" w="med" len="sm"/>
          </a:ln>
        </p:spPr>
      </p:sp>
      <p:sp>
        <p:nvSpPr>
          <p:cNvPr id="98" name="Freeform 98"/>
          <p:cNvSpPr/>
          <p:nvPr/>
        </p:nvSpPr>
        <p:spPr>
          <a:xfrm>
            <a:off x="8116632" y="4035650"/>
            <a:ext cx="295647" cy="0"/>
          </a:xfrm>
          <a:custGeom>
            <a:avLst/>
            <a:gdLst/>
            <a:ahLst/>
            <a:cxnLst/>
            <a:rect l="l" t="t" r="r" b="b"/>
            <a:pathLst>
              <a:path w="295647">
                <a:moveTo>
                  <a:pt x="0" y="0"/>
                </a:moveTo>
                <a:lnTo>
                  <a:pt x="295647" y="0"/>
                </a:lnTo>
              </a:path>
            </a:pathLst>
          </a:custGeom>
          <a:ln w="38100" cap="rnd">
            <a:solidFill>
              <a:srgbClr val="ACB8C0"/>
            </a:solidFill>
            <a:prstDash val="solid"/>
            <a:headEnd type="none" w="sm" len="sm"/>
            <a:tailEnd type="arrow" w="med" len="sm"/>
          </a:ln>
        </p:spPr>
      </p:sp>
      <p:sp>
        <p:nvSpPr>
          <p:cNvPr id="99" name="Freeform 99"/>
          <p:cNvSpPr/>
          <p:nvPr/>
        </p:nvSpPr>
        <p:spPr>
          <a:xfrm>
            <a:off x="9849231" y="2624478"/>
            <a:ext cx="81156" cy="0"/>
          </a:xfrm>
          <a:custGeom>
            <a:avLst/>
            <a:gdLst/>
            <a:ahLst/>
            <a:cxnLst/>
            <a:rect l="l" t="t" r="r" b="b"/>
            <a:pathLst>
              <a:path w="81156">
                <a:moveTo>
                  <a:pt x="0" y="0"/>
                </a:moveTo>
                <a:lnTo>
                  <a:pt x="81156" y="0"/>
                </a:lnTo>
              </a:path>
            </a:pathLst>
          </a:custGeom>
          <a:ln w="38100" cap="rnd">
            <a:solidFill>
              <a:srgbClr val="ACB8C0"/>
            </a:solidFill>
            <a:prstDash val="solid"/>
            <a:headEnd type="none" w="sm" len="sm"/>
            <a:tailEnd type="arrow" w="med" len="sm"/>
          </a:ln>
        </p:spPr>
      </p:sp>
      <p:sp>
        <p:nvSpPr>
          <p:cNvPr id="100" name="Freeform 100"/>
          <p:cNvSpPr/>
          <p:nvPr/>
        </p:nvSpPr>
        <p:spPr>
          <a:xfrm>
            <a:off x="10608284" y="2901365"/>
            <a:ext cx="868855" cy="150856"/>
          </a:xfrm>
          <a:custGeom>
            <a:avLst/>
            <a:gdLst/>
            <a:ahLst/>
            <a:cxnLst/>
            <a:rect l="l" t="t" r="r" b="b"/>
            <a:pathLst>
              <a:path w="868855" h="150856">
                <a:moveTo>
                  <a:pt x="868855" y="0"/>
                </a:moveTo>
                <a:lnTo>
                  <a:pt x="509856" y="0"/>
                </a:lnTo>
                <a:cubicBezTo>
                  <a:pt x="489851" y="0"/>
                  <a:pt x="470666" y="7947"/>
                  <a:pt x="456520" y="22093"/>
                </a:cubicBezTo>
                <a:cubicBezTo>
                  <a:pt x="442375" y="36238"/>
                  <a:pt x="434428" y="55424"/>
                  <a:pt x="434428" y="75428"/>
                </a:cubicBezTo>
                <a:lnTo>
                  <a:pt x="434428" y="75428"/>
                </a:lnTo>
                <a:cubicBezTo>
                  <a:pt x="434428" y="95433"/>
                  <a:pt x="426481" y="114619"/>
                  <a:pt x="412336" y="128764"/>
                </a:cubicBezTo>
                <a:cubicBezTo>
                  <a:pt x="398190" y="142910"/>
                  <a:pt x="379005" y="150856"/>
                  <a:pt x="359000" y="150856"/>
                </a:cubicBezTo>
                <a:lnTo>
                  <a:pt x="0" y="150856"/>
                </a:lnTo>
              </a:path>
            </a:pathLst>
          </a:custGeom>
          <a:ln w="38100" cap="rnd">
            <a:solidFill>
              <a:srgbClr val="ACB8C0"/>
            </a:solidFill>
            <a:prstDash val="solid"/>
            <a:headEnd type="none" w="sm" len="sm"/>
            <a:tailEnd type="arrow" w="med" len="sm"/>
          </a:ln>
        </p:spPr>
      </p:sp>
      <p:sp>
        <p:nvSpPr>
          <p:cNvPr id="101" name="Freeform 101"/>
          <p:cNvSpPr/>
          <p:nvPr/>
        </p:nvSpPr>
        <p:spPr>
          <a:xfrm>
            <a:off x="9849231" y="3329109"/>
            <a:ext cx="81156" cy="0"/>
          </a:xfrm>
          <a:custGeom>
            <a:avLst/>
            <a:gdLst/>
            <a:ahLst/>
            <a:cxnLst/>
            <a:rect l="l" t="t" r="r" b="b"/>
            <a:pathLst>
              <a:path w="81156">
                <a:moveTo>
                  <a:pt x="0" y="0"/>
                </a:moveTo>
                <a:lnTo>
                  <a:pt x="81156" y="0"/>
                </a:lnTo>
              </a:path>
            </a:pathLst>
          </a:custGeom>
          <a:ln w="38100" cap="rnd">
            <a:solidFill>
              <a:srgbClr val="ACB8C0"/>
            </a:solidFill>
            <a:prstDash val="solid"/>
            <a:headEnd type="none" w="sm" len="sm"/>
            <a:tailEnd type="arrow" w="med" len="sm"/>
          </a:ln>
        </p:spPr>
      </p:sp>
      <p:sp>
        <p:nvSpPr>
          <p:cNvPr id="102" name="Freeform 102"/>
          <p:cNvSpPr/>
          <p:nvPr/>
        </p:nvSpPr>
        <p:spPr>
          <a:xfrm>
            <a:off x="11286182" y="3329109"/>
            <a:ext cx="81157" cy="0"/>
          </a:xfrm>
          <a:custGeom>
            <a:avLst/>
            <a:gdLst/>
            <a:ahLst/>
            <a:cxnLst/>
            <a:rect l="l" t="t" r="r" b="b"/>
            <a:pathLst>
              <a:path w="81157">
                <a:moveTo>
                  <a:pt x="81157" y="0"/>
                </a:moveTo>
                <a:lnTo>
                  <a:pt x="0" y="0"/>
                </a:lnTo>
              </a:path>
            </a:pathLst>
          </a:custGeom>
          <a:ln w="38100" cap="rnd">
            <a:solidFill>
              <a:srgbClr val="ACB8C0"/>
            </a:solidFill>
            <a:prstDash val="solid"/>
            <a:headEnd type="none" w="sm" len="sm"/>
            <a:tailEnd type="arrow" w="med" len="sm"/>
          </a:ln>
        </p:spPr>
      </p:sp>
      <p:sp>
        <p:nvSpPr>
          <p:cNvPr id="103" name="Freeform 103"/>
          <p:cNvSpPr/>
          <p:nvPr/>
        </p:nvSpPr>
        <p:spPr>
          <a:xfrm>
            <a:off x="11367339" y="3329109"/>
            <a:ext cx="81156" cy="0"/>
          </a:xfrm>
          <a:custGeom>
            <a:avLst/>
            <a:gdLst/>
            <a:ahLst/>
            <a:cxnLst/>
            <a:rect l="l" t="t" r="r" b="b"/>
            <a:pathLst>
              <a:path w="81156">
                <a:moveTo>
                  <a:pt x="0" y="0"/>
                </a:moveTo>
                <a:lnTo>
                  <a:pt x="81156" y="0"/>
                </a:lnTo>
              </a:path>
            </a:pathLst>
          </a:custGeom>
          <a:ln w="38100" cap="rnd">
            <a:solidFill>
              <a:srgbClr val="ACB8C0"/>
            </a:solidFill>
            <a:prstDash val="solid"/>
            <a:headEnd type="none" w="sm" len="sm"/>
            <a:tailEnd type="arrow" w="med" len="sm"/>
          </a:ln>
        </p:spPr>
      </p:sp>
      <p:sp>
        <p:nvSpPr>
          <p:cNvPr id="104" name="Freeform 104"/>
          <p:cNvSpPr/>
          <p:nvPr/>
        </p:nvSpPr>
        <p:spPr>
          <a:xfrm>
            <a:off x="10684667" y="3605997"/>
            <a:ext cx="1551525" cy="152766"/>
          </a:xfrm>
          <a:custGeom>
            <a:avLst/>
            <a:gdLst/>
            <a:ahLst/>
            <a:cxnLst/>
            <a:rect l="l" t="t" r="r" b="b"/>
            <a:pathLst>
              <a:path w="1551525" h="152766">
                <a:moveTo>
                  <a:pt x="1551526" y="0"/>
                </a:moveTo>
                <a:lnTo>
                  <a:pt x="1551526" y="44320"/>
                </a:lnTo>
                <a:cubicBezTo>
                  <a:pt x="1551526" y="68797"/>
                  <a:pt x="1531683" y="88640"/>
                  <a:pt x="1507205" y="88640"/>
                </a:cubicBezTo>
                <a:lnTo>
                  <a:pt x="32063" y="88640"/>
                </a:lnTo>
                <a:cubicBezTo>
                  <a:pt x="14355" y="88640"/>
                  <a:pt x="0" y="102995"/>
                  <a:pt x="0" y="120703"/>
                </a:cubicBezTo>
                <a:lnTo>
                  <a:pt x="0" y="152765"/>
                </a:lnTo>
              </a:path>
            </a:pathLst>
          </a:custGeom>
          <a:ln w="38100" cap="rnd">
            <a:solidFill>
              <a:srgbClr val="ACB8C0"/>
            </a:solidFill>
            <a:prstDash val="solid"/>
            <a:headEnd type="none" w="sm" len="sm"/>
            <a:tailEnd type="arrow" w="med" len="sm"/>
          </a:ln>
        </p:spPr>
      </p:sp>
      <p:sp>
        <p:nvSpPr>
          <p:cNvPr id="105" name="Freeform 105"/>
          <p:cNvSpPr/>
          <p:nvPr/>
        </p:nvSpPr>
        <p:spPr>
          <a:xfrm>
            <a:off x="10608284" y="4388920"/>
            <a:ext cx="0" cy="76383"/>
          </a:xfrm>
          <a:custGeom>
            <a:avLst/>
            <a:gdLst/>
            <a:ahLst/>
            <a:cxnLst/>
            <a:rect l="l" t="t" r="r" b="b"/>
            <a:pathLst>
              <a:path h="76383">
                <a:moveTo>
                  <a:pt x="0" y="0"/>
                </a:moveTo>
                <a:lnTo>
                  <a:pt x="0" y="76383"/>
                </a:lnTo>
              </a:path>
            </a:pathLst>
          </a:custGeom>
          <a:ln w="38100" cap="rnd">
            <a:solidFill>
              <a:srgbClr val="ACB8C0"/>
            </a:solidFill>
            <a:prstDash val="solid"/>
            <a:headEnd type="none" w="sm" len="sm"/>
            <a:tailEnd type="arrow" w="med" len="sm"/>
          </a:ln>
        </p:spPr>
      </p:sp>
      <p:sp>
        <p:nvSpPr>
          <p:cNvPr id="106" name="Freeform 106"/>
          <p:cNvSpPr/>
          <p:nvPr/>
        </p:nvSpPr>
        <p:spPr>
          <a:xfrm>
            <a:off x="9849231" y="4742191"/>
            <a:ext cx="81156" cy="0"/>
          </a:xfrm>
          <a:custGeom>
            <a:avLst/>
            <a:gdLst/>
            <a:ahLst/>
            <a:cxnLst/>
            <a:rect l="l" t="t" r="r" b="b"/>
            <a:pathLst>
              <a:path w="81156">
                <a:moveTo>
                  <a:pt x="0" y="0"/>
                </a:moveTo>
                <a:lnTo>
                  <a:pt x="81156" y="0"/>
                </a:lnTo>
              </a:path>
            </a:pathLst>
          </a:custGeom>
          <a:ln w="38100" cap="rnd">
            <a:solidFill>
              <a:srgbClr val="ACB8C0"/>
            </a:solidFill>
            <a:prstDash val="solid"/>
            <a:headEnd type="none" w="sm" len="sm"/>
            <a:tailEnd type="arrow" w="med" len="sm"/>
          </a:ln>
        </p:spPr>
      </p:sp>
      <p:sp>
        <p:nvSpPr>
          <p:cNvPr id="107" name="Freeform 107"/>
          <p:cNvSpPr/>
          <p:nvPr/>
        </p:nvSpPr>
        <p:spPr>
          <a:xfrm>
            <a:off x="9090176" y="4312538"/>
            <a:ext cx="1518108" cy="152765"/>
          </a:xfrm>
          <a:custGeom>
            <a:avLst/>
            <a:gdLst/>
            <a:ahLst/>
            <a:cxnLst/>
            <a:rect l="l" t="t" r="r" b="b"/>
            <a:pathLst>
              <a:path w="1518108" h="152765">
                <a:moveTo>
                  <a:pt x="1518108" y="0"/>
                </a:moveTo>
                <a:lnTo>
                  <a:pt x="1518108" y="25541"/>
                </a:lnTo>
                <a:cubicBezTo>
                  <a:pt x="1518108" y="32315"/>
                  <a:pt x="1515417" y="38812"/>
                  <a:pt x="1510627" y="43602"/>
                </a:cubicBezTo>
                <a:cubicBezTo>
                  <a:pt x="1505837" y="48392"/>
                  <a:pt x="1499340" y="51083"/>
                  <a:pt x="1492566" y="51083"/>
                </a:cubicBezTo>
                <a:lnTo>
                  <a:pt x="50841" y="51083"/>
                </a:lnTo>
                <a:cubicBezTo>
                  <a:pt x="37358" y="51083"/>
                  <a:pt x="24426" y="56440"/>
                  <a:pt x="14891" y="65974"/>
                </a:cubicBezTo>
                <a:cubicBezTo>
                  <a:pt x="5356" y="75508"/>
                  <a:pt x="0" y="88440"/>
                  <a:pt x="0" y="101924"/>
                </a:cubicBezTo>
                <a:lnTo>
                  <a:pt x="0" y="152765"/>
                </a:lnTo>
              </a:path>
            </a:pathLst>
          </a:custGeom>
          <a:ln w="38100" cap="rnd">
            <a:solidFill>
              <a:srgbClr val="ACB8C0"/>
            </a:solidFill>
            <a:prstDash val="solid"/>
            <a:headEnd type="none" w="sm" len="sm"/>
            <a:tailEnd type="arrow" w="med" len="sm"/>
          </a:ln>
        </p:spPr>
      </p:sp>
      <p:sp>
        <p:nvSpPr>
          <p:cNvPr id="108" name="Freeform 108"/>
          <p:cNvSpPr/>
          <p:nvPr/>
        </p:nvSpPr>
        <p:spPr>
          <a:xfrm>
            <a:off x="9090176" y="3682379"/>
            <a:ext cx="0" cy="76383"/>
          </a:xfrm>
          <a:custGeom>
            <a:avLst/>
            <a:gdLst/>
            <a:ahLst/>
            <a:cxnLst/>
            <a:rect l="l" t="t" r="r" b="b"/>
            <a:pathLst>
              <a:path h="76383">
                <a:moveTo>
                  <a:pt x="0" y="0"/>
                </a:moveTo>
                <a:lnTo>
                  <a:pt x="0" y="76383"/>
                </a:lnTo>
              </a:path>
            </a:pathLst>
          </a:custGeom>
          <a:ln w="38100" cap="rnd">
            <a:solidFill>
              <a:srgbClr val="ACB8C0"/>
            </a:solidFill>
            <a:prstDash val="solid"/>
            <a:headEnd type="none" w="sm" len="sm"/>
            <a:tailEnd type="arrow" w="med" len="sm"/>
          </a:ln>
        </p:spPr>
      </p:sp>
      <p:sp>
        <p:nvSpPr>
          <p:cNvPr id="109" name="Freeform 109"/>
          <p:cNvSpPr/>
          <p:nvPr/>
        </p:nvSpPr>
        <p:spPr>
          <a:xfrm>
            <a:off x="9849231" y="4035650"/>
            <a:ext cx="81156" cy="0"/>
          </a:xfrm>
          <a:custGeom>
            <a:avLst/>
            <a:gdLst/>
            <a:ahLst/>
            <a:cxnLst/>
            <a:rect l="l" t="t" r="r" b="b"/>
            <a:pathLst>
              <a:path w="81156">
                <a:moveTo>
                  <a:pt x="0" y="0"/>
                </a:moveTo>
                <a:lnTo>
                  <a:pt x="81156" y="0"/>
                </a:lnTo>
              </a:path>
            </a:pathLst>
          </a:custGeom>
          <a:ln w="38100" cap="rnd">
            <a:solidFill>
              <a:srgbClr val="ACB8C0"/>
            </a:solidFill>
            <a:prstDash val="solid"/>
            <a:headEnd type="none" w="sm" len="sm"/>
            <a:tailEnd type="arrow" w="med" len="sm"/>
          </a:ln>
        </p:spPr>
      </p:sp>
      <p:sp>
        <p:nvSpPr>
          <p:cNvPr id="110" name="Freeform 110"/>
          <p:cNvSpPr/>
          <p:nvPr/>
        </p:nvSpPr>
        <p:spPr>
          <a:xfrm>
            <a:off x="11367339" y="4035650"/>
            <a:ext cx="81156" cy="0"/>
          </a:xfrm>
          <a:custGeom>
            <a:avLst/>
            <a:gdLst/>
            <a:ahLst/>
            <a:cxnLst/>
            <a:rect l="l" t="t" r="r" b="b"/>
            <a:pathLst>
              <a:path w="81156">
                <a:moveTo>
                  <a:pt x="0" y="0"/>
                </a:moveTo>
                <a:lnTo>
                  <a:pt x="81156" y="0"/>
                </a:lnTo>
              </a:path>
            </a:pathLst>
          </a:custGeom>
          <a:ln w="38100" cap="rnd">
            <a:solidFill>
              <a:srgbClr val="ACB8C0"/>
            </a:solidFill>
            <a:prstDash val="solid"/>
            <a:headEnd type="none" w="sm" len="sm"/>
            <a:tailEnd type="arrow" w="med" len="sm"/>
          </a:ln>
        </p:spPr>
      </p:sp>
      <p:sp>
        <p:nvSpPr>
          <p:cNvPr id="111" name="Freeform 111"/>
          <p:cNvSpPr/>
          <p:nvPr/>
        </p:nvSpPr>
        <p:spPr>
          <a:xfrm>
            <a:off x="10608284" y="5128879"/>
            <a:ext cx="0" cy="109800"/>
          </a:xfrm>
          <a:custGeom>
            <a:avLst/>
            <a:gdLst/>
            <a:ahLst/>
            <a:cxnLst/>
            <a:rect l="l" t="t" r="r" b="b"/>
            <a:pathLst>
              <a:path h="109800">
                <a:moveTo>
                  <a:pt x="0" y="0"/>
                </a:moveTo>
                <a:lnTo>
                  <a:pt x="0" y="109800"/>
                </a:lnTo>
              </a:path>
            </a:pathLst>
          </a:custGeom>
          <a:ln w="38100" cap="rnd">
            <a:solidFill>
              <a:srgbClr val="ACB8C0"/>
            </a:solidFill>
            <a:prstDash val="solid"/>
            <a:headEnd type="none" w="sm" len="sm"/>
            <a:tailEnd type="arrow" w="med" len="sm"/>
          </a:ln>
        </p:spPr>
      </p:sp>
      <p:sp>
        <p:nvSpPr>
          <p:cNvPr id="112" name="Freeform 112"/>
          <p:cNvSpPr/>
          <p:nvPr/>
        </p:nvSpPr>
        <p:spPr>
          <a:xfrm>
            <a:off x="11286182" y="4742191"/>
            <a:ext cx="162313" cy="29396"/>
          </a:xfrm>
          <a:custGeom>
            <a:avLst/>
            <a:gdLst/>
            <a:ahLst/>
            <a:cxnLst/>
            <a:rect l="l" t="t" r="r" b="b"/>
            <a:pathLst>
              <a:path w="162313" h="29396">
                <a:moveTo>
                  <a:pt x="0" y="0"/>
                </a:moveTo>
                <a:lnTo>
                  <a:pt x="66459" y="0"/>
                </a:lnTo>
                <a:cubicBezTo>
                  <a:pt x="74576" y="0"/>
                  <a:pt x="81157" y="6580"/>
                  <a:pt x="81157" y="14698"/>
                </a:cubicBezTo>
                <a:lnTo>
                  <a:pt x="81157" y="14698"/>
                </a:lnTo>
                <a:cubicBezTo>
                  <a:pt x="81157" y="22815"/>
                  <a:pt x="87737" y="29396"/>
                  <a:pt x="95855" y="29396"/>
                </a:cubicBezTo>
                <a:lnTo>
                  <a:pt x="162313" y="29396"/>
                </a:lnTo>
              </a:path>
            </a:pathLst>
          </a:custGeom>
          <a:ln w="38100" cap="rnd">
            <a:solidFill>
              <a:srgbClr val="ACB8C0"/>
            </a:solidFill>
            <a:prstDash val="solid"/>
            <a:headEnd type="none" w="sm" len="sm"/>
            <a:tailEnd type="arrow" w="med" len="sm"/>
          </a:ln>
        </p:spPr>
      </p:sp>
      <p:sp>
        <p:nvSpPr>
          <p:cNvPr id="113" name="Freeform 113"/>
          <p:cNvSpPr/>
          <p:nvPr/>
        </p:nvSpPr>
        <p:spPr>
          <a:xfrm>
            <a:off x="9090176" y="5678835"/>
            <a:ext cx="0" cy="659756"/>
          </a:xfrm>
          <a:custGeom>
            <a:avLst/>
            <a:gdLst/>
            <a:ahLst/>
            <a:cxnLst/>
            <a:rect l="l" t="t" r="r" b="b"/>
            <a:pathLst>
              <a:path h="659756">
                <a:moveTo>
                  <a:pt x="0" y="0"/>
                </a:moveTo>
                <a:lnTo>
                  <a:pt x="0" y="659756"/>
                </a:lnTo>
              </a:path>
            </a:pathLst>
          </a:custGeom>
          <a:ln w="38100" cap="rnd">
            <a:solidFill>
              <a:srgbClr val="ACB8C0"/>
            </a:solidFill>
            <a:prstDash val="solid"/>
            <a:headEnd type="none" w="sm" len="sm"/>
            <a:tailEnd type="arrow" w="med" len="sm"/>
          </a:ln>
        </p:spPr>
      </p:sp>
      <p:sp>
        <p:nvSpPr>
          <p:cNvPr id="114" name="Freeform 114"/>
          <p:cNvSpPr/>
          <p:nvPr/>
        </p:nvSpPr>
        <p:spPr>
          <a:xfrm>
            <a:off x="10608284" y="6094918"/>
            <a:ext cx="0" cy="243673"/>
          </a:xfrm>
          <a:custGeom>
            <a:avLst/>
            <a:gdLst/>
            <a:ahLst/>
            <a:cxnLst/>
            <a:rect l="l" t="t" r="r" b="b"/>
            <a:pathLst>
              <a:path h="243673">
                <a:moveTo>
                  <a:pt x="0" y="0"/>
                </a:moveTo>
                <a:lnTo>
                  <a:pt x="0" y="243673"/>
                </a:lnTo>
              </a:path>
            </a:pathLst>
          </a:custGeom>
          <a:ln w="38100" cap="rnd">
            <a:solidFill>
              <a:srgbClr val="ACB8C0"/>
            </a:solidFill>
            <a:prstDash val="solid"/>
            <a:headEnd type="none" w="sm" len="sm"/>
            <a:tailEnd type="arrow" w="med" len="sm"/>
          </a:ln>
        </p:spPr>
      </p:sp>
      <p:grpSp>
        <p:nvGrpSpPr>
          <p:cNvPr id="115" name="Group 115"/>
          <p:cNvGrpSpPr/>
          <p:nvPr/>
        </p:nvGrpSpPr>
        <p:grpSpPr>
          <a:xfrm>
            <a:off x="6279007" y="6002485"/>
            <a:ext cx="1501859" cy="965312"/>
            <a:chOff x="0" y="0"/>
            <a:chExt cx="665895" cy="428001"/>
          </a:xfrm>
        </p:grpSpPr>
        <p:sp>
          <p:nvSpPr>
            <p:cNvPr id="116" name="Freeform 116"/>
            <p:cNvSpPr/>
            <p:nvPr/>
          </p:nvSpPr>
          <p:spPr>
            <a:xfrm>
              <a:off x="0" y="0"/>
              <a:ext cx="665895" cy="428001"/>
            </a:xfrm>
            <a:custGeom>
              <a:avLst/>
              <a:gdLst/>
              <a:ahLst/>
              <a:cxnLst/>
              <a:rect l="l" t="t" r="r" b="b"/>
              <a:pathLst>
                <a:path w="665895" h="428001">
                  <a:moveTo>
                    <a:pt x="0" y="0"/>
                  </a:moveTo>
                  <a:lnTo>
                    <a:pt x="665895" y="0"/>
                  </a:lnTo>
                  <a:lnTo>
                    <a:pt x="665895" y="428001"/>
                  </a:lnTo>
                  <a:lnTo>
                    <a:pt x="0" y="428001"/>
                  </a:lnTo>
                  <a:close/>
                </a:path>
              </a:pathLst>
            </a:custGeom>
            <a:solidFill>
              <a:srgbClr val="CAF5F7"/>
            </a:solidFill>
          </p:spPr>
        </p:sp>
        <p:sp>
          <p:nvSpPr>
            <p:cNvPr id="117" name="TextBox 117"/>
            <p:cNvSpPr txBox="1"/>
            <p:nvPr/>
          </p:nvSpPr>
          <p:spPr>
            <a:xfrm>
              <a:off x="0" y="-19050"/>
              <a:ext cx="665895" cy="447051"/>
            </a:xfrm>
            <a:prstGeom prst="rect">
              <a:avLst/>
            </a:prstGeom>
          </p:spPr>
          <p:txBody>
            <a:bodyPr lIns="50800" tIns="50800" rIns="50800" bIns="50800" rtlCol="0" anchor="ctr"/>
            <a:lstStyle/>
            <a:p>
              <a:pPr algn="ctr">
                <a:lnSpc>
                  <a:spcPts val="1679"/>
                </a:lnSpc>
                <a:spcBef>
                  <a:spcPct val="0"/>
                </a:spcBef>
              </a:pPr>
              <a:endParaRPr/>
            </a:p>
          </p:txBody>
        </p:sp>
      </p:grpSp>
      <p:grpSp>
        <p:nvGrpSpPr>
          <p:cNvPr id="118" name="Group 118"/>
          <p:cNvGrpSpPr/>
          <p:nvPr/>
        </p:nvGrpSpPr>
        <p:grpSpPr>
          <a:xfrm>
            <a:off x="6356898" y="6109225"/>
            <a:ext cx="1355795" cy="355720"/>
            <a:chOff x="0" y="0"/>
            <a:chExt cx="601133" cy="157719"/>
          </a:xfrm>
        </p:grpSpPr>
        <p:sp>
          <p:nvSpPr>
            <p:cNvPr id="119" name="Freeform 119"/>
            <p:cNvSpPr/>
            <p:nvPr/>
          </p:nvSpPr>
          <p:spPr>
            <a:xfrm>
              <a:off x="0" y="0"/>
              <a:ext cx="601133" cy="157719"/>
            </a:xfrm>
            <a:custGeom>
              <a:avLst/>
              <a:gdLst/>
              <a:ahLst/>
              <a:cxnLst/>
              <a:rect l="l" t="t" r="r" b="b"/>
              <a:pathLst>
                <a:path w="601133" h="157719">
                  <a:moveTo>
                    <a:pt x="0" y="0"/>
                  </a:moveTo>
                  <a:lnTo>
                    <a:pt x="601133" y="0"/>
                  </a:lnTo>
                  <a:lnTo>
                    <a:pt x="601133" y="157719"/>
                  </a:lnTo>
                  <a:lnTo>
                    <a:pt x="0" y="157719"/>
                  </a:lnTo>
                  <a:close/>
                </a:path>
              </a:pathLst>
            </a:custGeom>
            <a:solidFill>
              <a:srgbClr val="99DAFF"/>
            </a:solidFill>
          </p:spPr>
        </p:sp>
        <p:sp>
          <p:nvSpPr>
            <p:cNvPr id="120" name="TextBox 120"/>
            <p:cNvSpPr txBox="1"/>
            <p:nvPr/>
          </p:nvSpPr>
          <p:spPr>
            <a:xfrm>
              <a:off x="0" y="-19050"/>
              <a:ext cx="601133" cy="176769"/>
            </a:xfrm>
            <a:prstGeom prst="rect">
              <a:avLst/>
            </a:prstGeom>
          </p:spPr>
          <p:txBody>
            <a:bodyPr lIns="50800" tIns="50800" rIns="50800" bIns="50800" rtlCol="0" anchor="ctr"/>
            <a:lstStyle/>
            <a:p>
              <a:pPr algn="ctr">
                <a:lnSpc>
                  <a:spcPts val="1260"/>
                </a:lnSpc>
              </a:pPr>
              <a:r>
                <a:rPr lang="en-US" sz="900" b="1">
                  <a:solidFill>
                    <a:srgbClr val="000000"/>
                  </a:solidFill>
                  <a:latin typeface="Canva Sans Bold"/>
                  <a:ea typeface="Canva Sans Bold"/>
                  <a:cs typeface="Canva Sans Bold"/>
                  <a:sym typeface="Canva Sans Bold"/>
                </a:rPr>
                <a:t>Compliance Approver</a:t>
              </a:r>
            </a:p>
          </p:txBody>
        </p:sp>
      </p:grpSp>
      <p:sp>
        <p:nvSpPr>
          <p:cNvPr id="121" name="Freeform 121"/>
          <p:cNvSpPr/>
          <p:nvPr/>
        </p:nvSpPr>
        <p:spPr>
          <a:xfrm>
            <a:off x="7034795" y="5019079"/>
            <a:ext cx="2055381" cy="1090147"/>
          </a:xfrm>
          <a:custGeom>
            <a:avLst/>
            <a:gdLst/>
            <a:ahLst/>
            <a:cxnLst/>
            <a:rect l="l" t="t" r="r" b="b"/>
            <a:pathLst>
              <a:path w="2055381" h="1090147">
                <a:moveTo>
                  <a:pt x="2055381" y="0"/>
                </a:moveTo>
                <a:lnTo>
                  <a:pt x="1256291" y="0"/>
                </a:lnTo>
                <a:cubicBezTo>
                  <a:pt x="1195662" y="0"/>
                  <a:pt x="1137517" y="24084"/>
                  <a:pt x="1094647" y="66955"/>
                </a:cubicBezTo>
                <a:cubicBezTo>
                  <a:pt x="1051776" y="109826"/>
                  <a:pt x="1027691" y="167971"/>
                  <a:pt x="1027691" y="228600"/>
                </a:cubicBezTo>
                <a:lnTo>
                  <a:pt x="1027691" y="861546"/>
                </a:lnTo>
                <a:cubicBezTo>
                  <a:pt x="1027691" y="922175"/>
                  <a:pt x="1003607" y="980320"/>
                  <a:pt x="960736" y="1023191"/>
                </a:cubicBezTo>
                <a:cubicBezTo>
                  <a:pt x="917865" y="1066062"/>
                  <a:pt x="859720" y="1090146"/>
                  <a:pt x="799091" y="1090146"/>
                </a:cubicBezTo>
                <a:lnTo>
                  <a:pt x="0" y="1090146"/>
                </a:lnTo>
              </a:path>
            </a:pathLst>
          </a:custGeom>
          <a:ln w="38100" cap="rnd">
            <a:solidFill>
              <a:srgbClr val="ACB8C0"/>
            </a:solidFill>
            <a:prstDash val="solid"/>
            <a:headEnd type="none" w="sm" len="sm"/>
            <a:tailEnd type="arrow" w="med" len="sm"/>
          </a:ln>
        </p:spPr>
      </p:sp>
      <p:grpSp>
        <p:nvGrpSpPr>
          <p:cNvPr id="122" name="Group 122"/>
          <p:cNvGrpSpPr/>
          <p:nvPr/>
        </p:nvGrpSpPr>
        <p:grpSpPr>
          <a:xfrm>
            <a:off x="6356898" y="6518955"/>
            <a:ext cx="1355795" cy="355720"/>
            <a:chOff x="0" y="0"/>
            <a:chExt cx="601133" cy="157719"/>
          </a:xfrm>
        </p:grpSpPr>
        <p:sp>
          <p:nvSpPr>
            <p:cNvPr id="123" name="Freeform 123"/>
            <p:cNvSpPr/>
            <p:nvPr/>
          </p:nvSpPr>
          <p:spPr>
            <a:xfrm>
              <a:off x="0" y="0"/>
              <a:ext cx="601133" cy="157719"/>
            </a:xfrm>
            <a:custGeom>
              <a:avLst/>
              <a:gdLst/>
              <a:ahLst/>
              <a:cxnLst/>
              <a:rect l="l" t="t" r="r" b="b"/>
              <a:pathLst>
                <a:path w="601133" h="157719">
                  <a:moveTo>
                    <a:pt x="0" y="0"/>
                  </a:moveTo>
                  <a:lnTo>
                    <a:pt x="601133" y="0"/>
                  </a:lnTo>
                  <a:lnTo>
                    <a:pt x="601133" y="157719"/>
                  </a:lnTo>
                  <a:lnTo>
                    <a:pt x="0" y="157719"/>
                  </a:lnTo>
                  <a:close/>
                </a:path>
              </a:pathLst>
            </a:custGeom>
            <a:solidFill>
              <a:srgbClr val="99DAFF"/>
            </a:solidFill>
          </p:spPr>
        </p:sp>
        <p:sp>
          <p:nvSpPr>
            <p:cNvPr id="124" name="TextBox 124"/>
            <p:cNvSpPr txBox="1"/>
            <p:nvPr/>
          </p:nvSpPr>
          <p:spPr>
            <a:xfrm>
              <a:off x="0" y="-19050"/>
              <a:ext cx="601133" cy="176769"/>
            </a:xfrm>
            <a:prstGeom prst="rect">
              <a:avLst/>
            </a:prstGeom>
          </p:spPr>
          <p:txBody>
            <a:bodyPr lIns="50800" tIns="50800" rIns="50800" bIns="50800" rtlCol="0" anchor="ctr"/>
            <a:lstStyle/>
            <a:p>
              <a:pPr algn="ctr">
                <a:lnSpc>
                  <a:spcPts val="1260"/>
                </a:lnSpc>
              </a:pPr>
              <a:r>
                <a:rPr lang="en-US" sz="900" b="1">
                  <a:solidFill>
                    <a:srgbClr val="000000"/>
                  </a:solidFill>
                  <a:latin typeface="Canva Sans Bold"/>
                  <a:ea typeface="Canva Sans Bold"/>
                  <a:cs typeface="Canva Sans Bold"/>
                  <a:sym typeface="Canva Sans Bold"/>
                </a:rPr>
                <a:t>SOC Analyst</a:t>
              </a:r>
            </a:p>
          </p:txBody>
        </p:sp>
      </p:grpSp>
      <p:grpSp>
        <p:nvGrpSpPr>
          <p:cNvPr id="125" name="Group 125"/>
          <p:cNvGrpSpPr/>
          <p:nvPr/>
        </p:nvGrpSpPr>
        <p:grpSpPr>
          <a:xfrm>
            <a:off x="11485263" y="6159506"/>
            <a:ext cx="1501859" cy="965312"/>
            <a:chOff x="0" y="0"/>
            <a:chExt cx="665895" cy="428001"/>
          </a:xfrm>
        </p:grpSpPr>
        <p:sp>
          <p:nvSpPr>
            <p:cNvPr id="126" name="Freeform 126"/>
            <p:cNvSpPr/>
            <p:nvPr/>
          </p:nvSpPr>
          <p:spPr>
            <a:xfrm>
              <a:off x="0" y="0"/>
              <a:ext cx="665895" cy="428001"/>
            </a:xfrm>
            <a:custGeom>
              <a:avLst/>
              <a:gdLst/>
              <a:ahLst/>
              <a:cxnLst/>
              <a:rect l="l" t="t" r="r" b="b"/>
              <a:pathLst>
                <a:path w="665895" h="428001">
                  <a:moveTo>
                    <a:pt x="0" y="0"/>
                  </a:moveTo>
                  <a:lnTo>
                    <a:pt x="665895" y="0"/>
                  </a:lnTo>
                  <a:lnTo>
                    <a:pt x="665895" y="428001"/>
                  </a:lnTo>
                  <a:lnTo>
                    <a:pt x="0" y="428001"/>
                  </a:lnTo>
                  <a:close/>
                </a:path>
              </a:pathLst>
            </a:custGeom>
            <a:solidFill>
              <a:srgbClr val="CAF5F7"/>
            </a:solidFill>
          </p:spPr>
        </p:sp>
        <p:sp>
          <p:nvSpPr>
            <p:cNvPr id="127" name="TextBox 127"/>
            <p:cNvSpPr txBox="1"/>
            <p:nvPr/>
          </p:nvSpPr>
          <p:spPr>
            <a:xfrm>
              <a:off x="0" y="-19050"/>
              <a:ext cx="665895" cy="447051"/>
            </a:xfrm>
            <a:prstGeom prst="rect">
              <a:avLst/>
            </a:prstGeom>
          </p:spPr>
          <p:txBody>
            <a:bodyPr lIns="50800" tIns="50800" rIns="50800" bIns="50800" rtlCol="0" anchor="ctr"/>
            <a:lstStyle/>
            <a:p>
              <a:pPr algn="ctr">
                <a:lnSpc>
                  <a:spcPts val="1679"/>
                </a:lnSpc>
                <a:spcBef>
                  <a:spcPct val="0"/>
                </a:spcBef>
              </a:pPr>
              <a:endParaRPr/>
            </a:p>
          </p:txBody>
        </p:sp>
      </p:grpSp>
      <p:grpSp>
        <p:nvGrpSpPr>
          <p:cNvPr id="128" name="Group 128"/>
          <p:cNvGrpSpPr/>
          <p:nvPr/>
        </p:nvGrpSpPr>
        <p:grpSpPr>
          <a:xfrm>
            <a:off x="11563155" y="6266247"/>
            <a:ext cx="1355795" cy="355720"/>
            <a:chOff x="0" y="0"/>
            <a:chExt cx="601133" cy="157719"/>
          </a:xfrm>
        </p:grpSpPr>
        <p:sp>
          <p:nvSpPr>
            <p:cNvPr id="129" name="Freeform 129"/>
            <p:cNvSpPr/>
            <p:nvPr/>
          </p:nvSpPr>
          <p:spPr>
            <a:xfrm>
              <a:off x="0" y="0"/>
              <a:ext cx="601133" cy="157719"/>
            </a:xfrm>
            <a:custGeom>
              <a:avLst/>
              <a:gdLst/>
              <a:ahLst/>
              <a:cxnLst/>
              <a:rect l="l" t="t" r="r" b="b"/>
              <a:pathLst>
                <a:path w="601133" h="157719">
                  <a:moveTo>
                    <a:pt x="0" y="0"/>
                  </a:moveTo>
                  <a:lnTo>
                    <a:pt x="601133" y="0"/>
                  </a:lnTo>
                  <a:lnTo>
                    <a:pt x="601133" y="157719"/>
                  </a:lnTo>
                  <a:lnTo>
                    <a:pt x="0" y="157719"/>
                  </a:lnTo>
                  <a:close/>
                </a:path>
              </a:pathLst>
            </a:custGeom>
            <a:solidFill>
              <a:srgbClr val="99DAFF"/>
            </a:solidFill>
          </p:spPr>
        </p:sp>
        <p:sp>
          <p:nvSpPr>
            <p:cNvPr id="130" name="TextBox 130"/>
            <p:cNvSpPr txBox="1"/>
            <p:nvPr/>
          </p:nvSpPr>
          <p:spPr>
            <a:xfrm>
              <a:off x="0" y="-19050"/>
              <a:ext cx="601133" cy="176769"/>
            </a:xfrm>
            <a:prstGeom prst="rect">
              <a:avLst/>
            </a:prstGeom>
          </p:spPr>
          <p:txBody>
            <a:bodyPr lIns="50800" tIns="50800" rIns="50800" bIns="50800" rtlCol="0" anchor="ctr"/>
            <a:lstStyle/>
            <a:p>
              <a:pPr algn="ctr">
                <a:lnSpc>
                  <a:spcPts val="1260"/>
                </a:lnSpc>
              </a:pPr>
              <a:r>
                <a:rPr lang="en-US" sz="900" b="1">
                  <a:solidFill>
                    <a:srgbClr val="000000"/>
                  </a:solidFill>
                  <a:latin typeface="Canva Sans Bold"/>
                  <a:ea typeface="Canva Sans Bold"/>
                  <a:cs typeface="Canva Sans Bold"/>
                  <a:sym typeface="Canva Sans Bold"/>
                </a:rPr>
                <a:t>RBI Daksh Portal</a:t>
              </a:r>
            </a:p>
          </p:txBody>
        </p:sp>
      </p:grpSp>
      <p:grpSp>
        <p:nvGrpSpPr>
          <p:cNvPr id="131" name="Group 131"/>
          <p:cNvGrpSpPr/>
          <p:nvPr/>
        </p:nvGrpSpPr>
        <p:grpSpPr>
          <a:xfrm>
            <a:off x="11563155" y="6675977"/>
            <a:ext cx="1355795" cy="355720"/>
            <a:chOff x="0" y="0"/>
            <a:chExt cx="601133" cy="157719"/>
          </a:xfrm>
        </p:grpSpPr>
        <p:sp>
          <p:nvSpPr>
            <p:cNvPr id="132" name="Freeform 132"/>
            <p:cNvSpPr/>
            <p:nvPr/>
          </p:nvSpPr>
          <p:spPr>
            <a:xfrm>
              <a:off x="0" y="0"/>
              <a:ext cx="601133" cy="157719"/>
            </a:xfrm>
            <a:custGeom>
              <a:avLst/>
              <a:gdLst/>
              <a:ahLst/>
              <a:cxnLst/>
              <a:rect l="l" t="t" r="r" b="b"/>
              <a:pathLst>
                <a:path w="601133" h="157719">
                  <a:moveTo>
                    <a:pt x="0" y="0"/>
                  </a:moveTo>
                  <a:lnTo>
                    <a:pt x="601133" y="0"/>
                  </a:lnTo>
                  <a:lnTo>
                    <a:pt x="601133" y="157719"/>
                  </a:lnTo>
                  <a:lnTo>
                    <a:pt x="0" y="157719"/>
                  </a:lnTo>
                  <a:close/>
                </a:path>
              </a:pathLst>
            </a:custGeom>
            <a:solidFill>
              <a:srgbClr val="99DAFF"/>
            </a:solidFill>
          </p:spPr>
        </p:sp>
        <p:sp>
          <p:nvSpPr>
            <p:cNvPr id="133" name="TextBox 133"/>
            <p:cNvSpPr txBox="1"/>
            <p:nvPr/>
          </p:nvSpPr>
          <p:spPr>
            <a:xfrm>
              <a:off x="0" y="-19050"/>
              <a:ext cx="601133" cy="176769"/>
            </a:xfrm>
            <a:prstGeom prst="rect">
              <a:avLst/>
            </a:prstGeom>
          </p:spPr>
          <p:txBody>
            <a:bodyPr lIns="50800" tIns="50800" rIns="50800" bIns="50800" rtlCol="0" anchor="ctr"/>
            <a:lstStyle/>
            <a:p>
              <a:pPr algn="ctr">
                <a:lnSpc>
                  <a:spcPts val="1260"/>
                </a:lnSpc>
              </a:pPr>
              <a:r>
                <a:rPr lang="en-US" sz="900" b="1">
                  <a:solidFill>
                    <a:srgbClr val="000000"/>
                  </a:solidFill>
                  <a:latin typeface="Canva Sans Bold"/>
                  <a:ea typeface="Canva Sans Bold"/>
                  <a:cs typeface="Canva Sans Bold"/>
                  <a:sym typeface="Canva Sans Bold"/>
                </a:rPr>
                <a:t>CERT-In Portal</a:t>
              </a:r>
            </a:p>
          </p:txBody>
        </p:sp>
      </p:grpSp>
      <p:sp>
        <p:nvSpPr>
          <p:cNvPr id="134" name="Freeform 134"/>
          <p:cNvSpPr/>
          <p:nvPr/>
        </p:nvSpPr>
        <p:spPr>
          <a:xfrm>
            <a:off x="13200526" y="2517223"/>
            <a:ext cx="744731" cy="1405762"/>
          </a:xfrm>
          <a:custGeom>
            <a:avLst/>
            <a:gdLst/>
            <a:ahLst/>
            <a:cxnLst/>
            <a:rect l="l" t="t" r="r" b="b"/>
            <a:pathLst>
              <a:path w="744731" h="1405762">
                <a:moveTo>
                  <a:pt x="0" y="1405762"/>
                </a:moveTo>
                <a:lnTo>
                  <a:pt x="0" y="931481"/>
                </a:lnTo>
                <a:cubicBezTo>
                  <a:pt x="0" y="805229"/>
                  <a:pt x="102347" y="702881"/>
                  <a:pt x="228600" y="702881"/>
                </a:cubicBezTo>
                <a:lnTo>
                  <a:pt x="516131" y="702881"/>
                </a:lnTo>
                <a:cubicBezTo>
                  <a:pt x="642384" y="702881"/>
                  <a:pt x="744731" y="600534"/>
                  <a:pt x="744731" y="474281"/>
                </a:cubicBezTo>
                <a:lnTo>
                  <a:pt x="744731" y="0"/>
                </a:lnTo>
              </a:path>
            </a:pathLst>
          </a:custGeom>
          <a:ln w="38100" cap="rnd">
            <a:solidFill>
              <a:srgbClr val="ACB8C0"/>
            </a:solidFill>
            <a:prstDash val="solid"/>
            <a:headEnd type="none" w="sm" len="sm"/>
            <a:tailEnd type="arrow" w="med" len="sm"/>
          </a:ln>
        </p:spPr>
      </p:sp>
      <p:grpSp>
        <p:nvGrpSpPr>
          <p:cNvPr id="135" name="Group 135"/>
          <p:cNvGrpSpPr/>
          <p:nvPr/>
        </p:nvGrpSpPr>
        <p:grpSpPr>
          <a:xfrm>
            <a:off x="13945258" y="5133653"/>
            <a:ext cx="1938908" cy="3003831"/>
            <a:chOff x="0" y="0"/>
            <a:chExt cx="859675" cy="1331841"/>
          </a:xfrm>
        </p:grpSpPr>
        <p:sp>
          <p:nvSpPr>
            <p:cNvPr id="136" name="Freeform 136"/>
            <p:cNvSpPr/>
            <p:nvPr/>
          </p:nvSpPr>
          <p:spPr>
            <a:xfrm>
              <a:off x="0" y="0"/>
              <a:ext cx="859675" cy="1331841"/>
            </a:xfrm>
            <a:custGeom>
              <a:avLst/>
              <a:gdLst/>
              <a:ahLst/>
              <a:cxnLst/>
              <a:rect l="l" t="t" r="r" b="b"/>
              <a:pathLst>
                <a:path w="859675" h="1331841">
                  <a:moveTo>
                    <a:pt x="0" y="0"/>
                  </a:moveTo>
                  <a:lnTo>
                    <a:pt x="859675" y="0"/>
                  </a:lnTo>
                  <a:lnTo>
                    <a:pt x="859675" y="1331841"/>
                  </a:lnTo>
                  <a:lnTo>
                    <a:pt x="0" y="1331841"/>
                  </a:lnTo>
                  <a:close/>
                </a:path>
              </a:pathLst>
            </a:custGeom>
            <a:solidFill>
              <a:srgbClr val="CAF5F7"/>
            </a:solidFill>
          </p:spPr>
        </p:sp>
        <p:sp>
          <p:nvSpPr>
            <p:cNvPr id="137" name="TextBox 137"/>
            <p:cNvSpPr txBox="1"/>
            <p:nvPr/>
          </p:nvSpPr>
          <p:spPr>
            <a:xfrm>
              <a:off x="0" y="-19050"/>
              <a:ext cx="859675" cy="1350891"/>
            </a:xfrm>
            <a:prstGeom prst="rect">
              <a:avLst/>
            </a:prstGeom>
          </p:spPr>
          <p:txBody>
            <a:bodyPr lIns="50800" tIns="50800" rIns="50800" bIns="50800" rtlCol="0" anchor="ctr"/>
            <a:lstStyle/>
            <a:p>
              <a:pPr algn="ctr">
                <a:lnSpc>
                  <a:spcPts val="1679"/>
                </a:lnSpc>
              </a:pPr>
              <a:r>
                <a:rPr lang="en-US" sz="1200" b="1">
                  <a:solidFill>
                    <a:srgbClr val="000000"/>
                  </a:solidFill>
                  <a:latin typeface="Canva Sans Bold"/>
                  <a:ea typeface="Canva Sans Bold"/>
                  <a:cs typeface="Canva Sans Bold"/>
                  <a:sym typeface="Canva Sans Bold"/>
                </a:rPr>
                <a:t>Bank Services</a:t>
              </a:r>
            </a:p>
            <a:p>
              <a:pPr algn="ctr">
                <a:lnSpc>
                  <a:spcPts val="1679"/>
                </a:lnSpc>
              </a:pPr>
              <a:endParaRPr lang="en-US" sz="1200" b="1">
                <a:solidFill>
                  <a:srgbClr val="000000"/>
                </a:solidFill>
                <a:latin typeface="Canva Sans Bold"/>
                <a:ea typeface="Canva Sans Bold"/>
                <a:cs typeface="Canva Sans Bold"/>
                <a:sym typeface="Canva Sans Bold"/>
              </a:endParaRPr>
            </a:p>
            <a:p>
              <a:pPr algn="ctr">
                <a:lnSpc>
                  <a:spcPts val="1679"/>
                </a:lnSpc>
              </a:pPr>
              <a:endParaRPr lang="en-US" sz="1200" b="1">
                <a:solidFill>
                  <a:srgbClr val="000000"/>
                </a:solidFill>
                <a:latin typeface="Canva Sans Bold"/>
                <a:ea typeface="Canva Sans Bold"/>
                <a:cs typeface="Canva Sans Bold"/>
                <a:sym typeface="Canva Sans Bold"/>
              </a:endParaRPr>
            </a:p>
            <a:p>
              <a:pPr algn="ctr">
                <a:lnSpc>
                  <a:spcPts val="1679"/>
                </a:lnSpc>
              </a:pPr>
              <a:endParaRPr lang="en-US" sz="1200" b="1">
                <a:solidFill>
                  <a:srgbClr val="000000"/>
                </a:solidFill>
                <a:latin typeface="Canva Sans Bold"/>
                <a:ea typeface="Canva Sans Bold"/>
                <a:cs typeface="Canva Sans Bold"/>
                <a:sym typeface="Canva Sans Bold"/>
              </a:endParaRPr>
            </a:p>
            <a:p>
              <a:pPr algn="ctr">
                <a:lnSpc>
                  <a:spcPts val="1679"/>
                </a:lnSpc>
              </a:pPr>
              <a:endParaRPr lang="en-US" sz="1200" b="1">
                <a:solidFill>
                  <a:srgbClr val="000000"/>
                </a:solidFill>
                <a:latin typeface="Canva Sans Bold"/>
                <a:ea typeface="Canva Sans Bold"/>
                <a:cs typeface="Canva Sans Bold"/>
                <a:sym typeface="Canva Sans Bold"/>
              </a:endParaRPr>
            </a:p>
            <a:p>
              <a:pPr algn="ctr">
                <a:lnSpc>
                  <a:spcPts val="1679"/>
                </a:lnSpc>
              </a:pPr>
              <a:endParaRPr lang="en-US" sz="1200" b="1">
                <a:solidFill>
                  <a:srgbClr val="000000"/>
                </a:solidFill>
                <a:latin typeface="Canva Sans Bold"/>
                <a:ea typeface="Canva Sans Bold"/>
                <a:cs typeface="Canva Sans Bold"/>
                <a:sym typeface="Canva Sans Bold"/>
              </a:endParaRPr>
            </a:p>
            <a:p>
              <a:pPr algn="ctr">
                <a:lnSpc>
                  <a:spcPts val="1679"/>
                </a:lnSpc>
              </a:pPr>
              <a:endParaRPr lang="en-US" sz="1200" b="1">
                <a:solidFill>
                  <a:srgbClr val="000000"/>
                </a:solidFill>
                <a:latin typeface="Canva Sans Bold"/>
                <a:ea typeface="Canva Sans Bold"/>
                <a:cs typeface="Canva Sans Bold"/>
                <a:sym typeface="Canva Sans Bold"/>
              </a:endParaRPr>
            </a:p>
            <a:p>
              <a:pPr algn="ctr">
                <a:lnSpc>
                  <a:spcPts val="1679"/>
                </a:lnSpc>
              </a:pPr>
              <a:endParaRPr lang="en-US" sz="1200" b="1">
                <a:solidFill>
                  <a:srgbClr val="000000"/>
                </a:solidFill>
                <a:latin typeface="Canva Sans Bold"/>
                <a:ea typeface="Canva Sans Bold"/>
                <a:cs typeface="Canva Sans Bold"/>
                <a:sym typeface="Canva Sans Bold"/>
              </a:endParaRPr>
            </a:p>
            <a:p>
              <a:pPr algn="ctr">
                <a:lnSpc>
                  <a:spcPts val="1679"/>
                </a:lnSpc>
              </a:pPr>
              <a:endParaRPr lang="en-US" sz="1200" b="1">
                <a:solidFill>
                  <a:srgbClr val="000000"/>
                </a:solidFill>
                <a:latin typeface="Canva Sans Bold"/>
                <a:ea typeface="Canva Sans Bold"/>
                <a:cs typeface="Canva Sans Bold"/>
                <a:sym typeface="Canva Sans Bold"/>
              </a:endParaRPr>
            </a:p>
            <a:p>
              <a:pPr algn="ctr">
                <a:lnSpc>
                  <a:spcPts val="1679"/>
                </a:lnSpc>
              </a:pPr>
              <a:endParaRPr lang="en-US" sz="1200" b="1">
                <a:solidFill>
                  <a:srgbClr val="000000"/>
                </a:solidFill>
                <a:latin typeface="Canva Sans Bold"/>
                <a:ea typeface="Canva Sans Bold"/>
                <a:cs typeface="Canva Sans Bold"/>
                <a:sym typeface="Canva Sans Bold"/>
              </a:endParaRPr>
            </a:p>
            <a:p>
              <a:pPr algn="ctr">
                <a:lnSpc>
                  <a:spcPts val="1679"/>
                </a:lnSpc>
              </a:pPr>
              <a:endParaRPr lang="en-US" sz="1200" b="1">
                <a:solidFill>
                  <a:srgbClr val="000000"/>
                </a:solidFill>
                <a:latin typeface="Canva Sans Bold"/>
                <a:ea typeface="Canva Sans Bold"/>
                <a:cs typeface="Canva Sans Bold"/>
                <a:sym typeface="Canva Sans Bold"/>
              </a:endParaRPr>
            </a:p>
            <a:p>
              <a:pPr algn="ctr">
                <a:lnSpc>
                  <a:spcPts val="1679"/>
                </a:lnSpc>
                <a:spcBef>
                  <a:spcPct val="0"/>
                </a:spcBef>
              </a:pPr>
              <a:endParaRPr lang="en-US" sz="1200" b="1">
                <a:solidFill>
                  <a:srgbClr val="000000"/>
                </a:solidFill>
                <a:latin typeface="Canva Sans Bold"/>
                <a:ea typeface="Canva Sans Bold"/>
                <a:cs typeface="Canva Sans Bold"/>
                <a:sym typeface="Canva Sans Bold"/>
              </a:endParaRPr>
            </a:p>
          </p:txBody>
        </p:sp>
      </p:grpSp>
      <p:grpSp>
        <p:nvGrpSpPr>
          <p:cNvPr id="138" name="Group 138"/>
          <p:cNvGrpSpPr/>
          <p:nvPr/>
        </p:nvGrpSpPr>
        <p:grpSpPr>
          <a:xfrm>
            <a:off x="14078912" y="5801980"/>
            <a:ext cx="1671600" cy="401010"/>
            <a:chOff x="0" y="0"/>
            <a:chExt cx="741156" cy="177800"/>
          </a:xfrm>
        </p:grpSpPr>
        <p:sp>
          <p:nvSpPr>
            <p:cNvPr id="139" name="Freeform 139"/>
            <p:cNvSpPr/>
            <p:nvPr/>
          </p:nvSpPr>
          <p:spPr>
            <a:xfrm>
              <a:off x="0" y="0"/>
              <a:ext cx="741156" cy="177800"/>
            </a:xfrm>
            <a:custGeom>
              <a:avLst/>
              <a:gdLst/>
              <a:ahLst/>
              <a:cxnLst/>
              <a:rect l="l" t="t" r="r" b="b"/>
              <a:pathLst>
                <a:path w="741156" h="177800">
                  <a:moveTo>
                    <a:pt x="0" y="0"/>
                  </a:moveTo>
                  <a:lnTo>
                    <a:pt x="741156" y="0"/>
                  </a:lnTo>
                  <a:lnTo>
                    <a:pt x="741156" y="177800"/>
                  </a:lnTo>
                  <a:lnTo>
                    <a:pt x="0" y="177800"/>
                  </a:lnTo>
                  <a:close/>
                </a:path>
              </a:pathLst>
            </a:custGeom>
            <a:solidFill>
              <a:srgbClr val="99DAFF"/>
            </a:solidFill>
          </p:spPr>
        </p:sp>
        <p:sp>
          <p:nvSpPr>
            <p:cNvPr id="140" name="TextBox 140"/>
            <p:cNvSpPr txBox="1"/>
            <p:nvPr/>
          </p:nvSpPr>
          <p:spPr>
            <a:xfrm>
              <a:off x="0" y="-19050"/>
              <a:ext cx="741156" cy="196850"/>
            </a:xfrm>
            <a:prstGeom prst="rect">
              <a:avLst/>
            </a:prstGeom>
          </p:spPr>
          <p:txBody>
            <a:bodyPr lIns="50800" tIns="50800" rIns="50800" bIns="50800" rtlCol="0" anchor="ctr"/>
            <a:lstStyle/>
            <a:p>
              <a:pPr algn="ctr">
                <a:lnSpc>
                  <a:spcPts val="1679"/>
                </a:lnSpc>
              </a:pPr>
              <a:r>
                <a:rPr lang="en-US" sz="1200" b="1">
                  <a:solidFill>
                    <a:srgbClr val="000000"/>
                  </a:solidFill>
                  <a:latin typeface="Canva Sans Bold"/>
                  <a:ea typeface="Canva Sans Bold"/>
                  <a:cs typeface="Canva Sans Bold"/>
                  <a:sym typeface="Canva Sans Bold"/>
                </a:rPr>
                <a:t>Identity Provider</a:t>
              </a:r>
            </a:p>
          </p:txBody>
        </p:sp>
      </p:grpSp>
      <p:grpSp>
        <p:nvGrpSpPr>
          <p:cNvPr id="141" name="Group 141"/>
          <p:cNvGrpSpPr/>
          <p:nvPr/>
        </p:nvGrpSpPr>
        <p:grpSpPr>
          <a:xfrm>
            <a:off x="14078912" y="6355755"/>
            <a:ext cx="1671600" cy="401010"/>
            <a:chOff x="0" y="0"/>
            <a:chExt cx="741156" cy="177800"/>
          </a:xfrm>
        </p:grpSpPr>
        <p:sp>
          <p:nvSpPr>
            <p:cNvPr id="142" name="Freeform 142"/>
            <p:cNvSpPr/>
            <p:nvPr/>
          </p:nvSpPr>
          <p:spPr>
            <a:xfrm>
              <a:off x="0" y="0"/>
              <a:ext cx="741156" cy="177800"/>
            </a:xfrm>
            <a:custGeom>
              <a:avLst/>
              <a:gdLst/>
              <a:ahLst/>
              <a:cxnLst/>
              <a:rect l="l" t="t" r="r" b="b"/>
              <a:pathLst>
                <a:path w="741156" h="177800">
                  <a:moveTo>
                    <a:pt x="0" y="0"/>
                  </a:moveTo>
                  <a:lnTo>
                    <a:pt x="741156" y="0"/>
                  </a:lnTo>
                  <a:lnTo>
                    <a:pt x="741156" y="177800"/>
                  </a:lnTo>
                  <a:lnTo>
                    <a:pt x="0" y="177800"/>
                  </a:lnTo>
                  <a:close/>
                </a:path>
              </a:pathLst>
            </a:custGeom>
            <a:solidFill>
              <a:srgbClr val="99DAFF"/>
            </a:solidFill>
          </p:spPr>
        </p:sp>
        <p:sp>
          <p:nvSpPr>
            <p:cNvPr id="143" name="TextBox 143"/>
            <p:cNvSpPr txBox="1"/>
            <p:nvPr/>
          </p:nvSpPr>
          <p:spPr>
            <a:xfrm>
              <a:off x="0" y="-19050"/>
              <a:ext cx="741156" cy="196850"/>
            </a:xfrm>
            <a:prstGeom prst="rect">
              <a:avLst/>
            </a:prstGeom>
          </p:spPr>
          <p:txBody>
            <a:bodyPr lIns="50800" tIns="50800" rIns="50800" bIns="50800" rtlCol="0" anchor="ctr"/>
            <a:lstStyle/>
            <a:p>
              <a:pPr algn="ctr">
                <a:lnSpc>
                  <a:spcPts val="1679"/>
                </a:lnSpc>
              </a:pPr>
              <a:r>
                <a:rPr lang="en-US" sz="1200" b="1">
                  <a:solidFill>
                    <a:srgbClr val="000000"/>
                  </a:solidFill>
                  <a:latin typeface="Canva Sans Bold"/>
                  <a:ea typeface="Canva Sans Bold"/>
                  <a:cs typeface="Canva Sans Bold"/>
                  <a:sym typeface="Canva Sans Bold"/>
                </a:rPr>
                <a:t>HSM / Key Service</a:t>
              </a:r>
            </a:p>
          </p:txBody>
        </p:sp>
      </p:grpSp>
      <p:grpSp>
        <p:nvGrpSpPr>
          <p:cNvPr id="144" name="Group 144"/>
          <p:cNvGrpSpPr/>
          <p:nvPr/>
        </p:nvGrpSpPr>
        <p:grpSpPr>
          <a:xfrm>
            <a:off x="14078912" y="6909530"/>
            <a:ext cx="1671600" cy="521208"/>
            <a:chOff x="0" y="0"/>
            <a:chExt cx="741156" cy="231094"/>
          </a:xfrm>
        </p:grpSpPr>
        <p:sp>
          <p:nvSpPr>
            <p:cNvPr id="145" name="Freeform 145"/>
            <p:cNvSpPr/>
            <p:nvPr/>
          </p:nvSpPr>
          <p:spPr>
            <a:xfrm>
              <a:off x="0" y="0"/>
              <a:ext cx="741156" cy="231094"/>
            </a:xfrm>
            <a:custGeom>
              <a:avLst/>
              <a:gdLst/>
              <a:ahLst/>
              <a:cxnLst/>
              <a:rect l="l" t="t" r="r" b="b"/>
              <a:pathLst>
                <a:path w="741156" h="231094">
                  <a:moveTo>
                    <a:pt x="0" y="0"/>
                  </a:moveTo>
                  <a:lnTo>
                    <a:pt x="741156" y="0"/>
                  </a:lnTo>
                  <a:lnTo>
                    <a:pt x="741156" y="231094"/>
                  </a:lnTo>
                  <a:lnTo>
                    <a:pt x="0" y="231094"/>
                  </a:lnTo>
                  <a:close/>
                </a:path>
              </a:pathLst>
            </a:custGeom>
            <a:solidFill>
              <a:srgbClr val="99DAFF"/>
            </a:solidFill>
          </p:spPr>
        </p:sp>
        <p:sp>
          <p:nvSpPr>
            <p:cNvPr id="146" name="TextBox 146"/>
            <p:cNvSpPr txBox="1"/>
            <p:nvPr/>
          </p:nvSpPr>
          <p:spPr>
            <a:xfrm>
              <a:off x="0" y="-19050"/>
              <a:ext cx="741156" cy="250144"/>
            </a:xfrm>
            <a:prstGeom prst="rect">
              <a:avLst/>
            </a:prstGeom>
          </p:spPr>
          <p:txBody>
            <a:bodyPr lIns="50800" tIns="50800" rIns="50800" bIns="50800" rtlCol="0" anchor="ctr"/>
            <a:lstStyle/>
            <a:p>
              <a:pPr algn="ctr">
                <a:lnSpc>
                  <a:spcPts val="1679"/>
                </a:lnSpc>
              </a:pPr>
              <a:r>
                <a:rPr lang="en-US" sz="1200" b="1">
                  <a:solidFill>
                    <a:srgbClr val="000000"/>
                  </a:solidFill>
                  <a:latin typeface="Canva Sans Bold"/>
                  <a:ea typeface="Canva Sans Bold"/>
                  <a:cs typeface="Canva Sans Bold"/>
                  <a:sym typeface="Canva Sans Bold"/>
                </a:rPr>
                <a:t>Email Re;ay SMTP</a:t>
              </a:r>
            </a:p>
            <a:p>
              <a:pPr algn="ctr">
                <a:lnSpc>
                  <a:spcPts val="1679"/>
                </a:lnSpc>
              </a:pPr>
              <a:r>
                <a:rPr lang="en-US" sz="1200" b="1">
                  <a:solidFill>
                    <a:srgbClr val="000000"/>
                  </a:solidFill>
                  <a:latin typeface="Canva Sans Bold"/>
                  <a:ea typeface="Canva Sans Bold"/>
                  <a:cs typeface="Canva Sans Bold"/>
                  <a:sym typeface="Canva Sans Bold"/>
                </a:rPr>
                <a:t>Chat / Webhook</a:t>
              </a:r>
            </a:p>
          </p:txBody>
        </p:sp>
      </p:grpSp>
      <p:grpSp>
        <p:nvGrpSpPr>
          <p:cNvPr id="147" name="Group 147"/>
          <p:cNvGrpSpPr/>
          <p:nvPr/>
        </p:nvGrpSpPr>
        <p:grpSpPr>
          <a:xfrm>
            <a:off x="14067999" y="7583504"/>
            <a:ext cx="1671600" cy="401010"/>
            <a:chOff x="0" y="0"/>
            <a:chExt cx="741156" cy="177800"/>
          </a:xfrm>
        </p:grpSpPr>
        <p:sp>
          <p:nvSpPr>
            <p:cNvPr id="148" name="Freeform 148"/>
            <p:cNvSpPr/>
            <p:nvPr/>
          </p:nvSpPr>
          <p:spPr>
            <a:xfrm>
              <a:off x="0" y="0"/>
              <a:ext cx="741156" cy="177800"/>
            </a:xfrm>
            <a:custGeom>
              <a:avLst/>
              <a:gdLst/>
              <a:ahLst/>
              <a:cxnLst/>
              <a:rect l="l" t="t" r="r" b="b"/>
              <a:pathLst>
                <a:path w="741156" h="177800">
                  <a:moveTo>
                    <a:pt x="0" y="0"/>
                  </a:moveTo>
                  <a:lnTo>
                    <a:pt x="741156" y="0"/>
                  </a:lnTo>
                  <a:lnTo>
                    <a:pt x="741156" y="177800"/>
                  </a:lnTo>
                  <a:lnTo>
                    <a:pt x="0" y="177800"/>
                  </a:lnTo>
                  <a:close/>
                </a:path>
              </a:pathLst>
            </a:custGeom>
            <a:solidFill>
              <a:srgbClr val="99DAFF"/>
            </a:solidFill>
          </p:spPr>
        </p:sp>
        <p:sp>
          <p:nvSpPr>
            <p:cNvPr id="149" name="TextBox 149"/>
            <p:cNvSpPr txBox="1"/>
            <p:nvPr/>
          </p:nvSpPr>
          <p:spPr>
            <a:xfrm>
              <a:off x="0" y="-19050"/>
              <a:ext cx="741156" cy="196850"/>
            </a:xfrm>
            <a:prstGeom prst="rect">
              <a:avLst/>
            </a:prstGeom>
          </p:spPr>
          <p:txBody>
            <a:bodyPr lIns="50800" tIns="50800" rIns="50800" bIns="50800" rtlCol="0" anchor="ctr"/>
            <a:lstStyle/>
            <a:p>
              <a:pPr algn="ctr">
                <a:lnSpc>
                  <a:spcPts val="1679"/>
                </a:lnSpc>
              </a:pPr>
              <a:r>
                <a:rPr lang="en-US" sz="1200" b="1">
                  <a:solidFill>
                    <a:srgbClr val="000000"/>
                  </a:solidFill>
                  <a:latin typeface="Canva Sans Bold"/>
                  <a:ea typeface="Canva Sans Bold"/>
                  <a:cs typeface="Canva Sans Bold"/>
                  <a:sym typeface="Canva Sans Bold"/>
                </a:rPr>
                <a:t>Shift Handover</a:t>
              </a:r>
            </a:p>
          </p:txBody>
        </p:sp>
      </p:grpSp>
      <p:sp>
        <p:nvSpPr>
          <p:cNvPr id="150" name="Freeform 150"/>
          <p:cNvSpPr/>
          <p:nvPr/>
        </p:nvSpPr>
        <p:spPr>
          <a:xfrm>
            <a:off x="13200526" y="4053358"/>
            <a:ext cx="878385" cy="1949126"/>
          </a:xfrm>
          <a:custGeom>
            <a:avLst/>
            <a:gdLst/>
            <a:ahLst/>
            <a:cxnLst/>
            <a:rect l="l" t="t" r="r" b="b"/>
            <a:pathLst>
              <a:path w="878385" h="1949126">
                <a:moveTo>
                  <a:pt x="878385" y="1949127"/>
                </a:moveTo>
                <a:lnTo>
                  <a:pt x="878385" y="1203163"/>
                </a:lnTo>
                <a:cubicBezTo>
                  <a:pt x="878385" y="1142535"/>
                  <a:pt x="854301" y="1084390"/>
                  <a:pt x="811430" y="1041519"/>
                </a:cubicBezTo>
                <a:cubicBezTo>
                  <a:pt x="768559" y="998648"/>
                  <a:pt x="710414" y="974563"/>
                  <a:pt x="649785" y="974563"/>
                </a:cubicBezTo>
                <a:lnTo>
                  <a:pt x="228600" y="974563"/>
                </a:lnTo>
                <a:cubicBezTo>
                  <a:pt x="167971" y="974563"/>
                  <a:pt x="109826" y="950479"/>
                  <a:pt x="66956" y="907608"/>
                </a:cubicBezTo>
                <a:cubicBezTo>
                  <a:pt x="24085" y="864737"/>
                  <a:pt x="0" y="806592"/>
                  <a:pt x="0" y="745963"/>
                </a:cubicBezTo>
                <a:lnTo>
                  <a:pt x="0" y="0"/>
                </a:lnTo>
              </a:path>
            </a:pathLst>
          </a:custGeom>
          <a:ln w="38100" cap="rnd">
            <a:solidFill>
              <a:srgbClr val="ACB8C0"/>
            </a:solidFill>
            <a:prstDash val="solid"/>
            <a:headEnd type="none" w="sm" len="sm"/>
            <a:tailEnd type="arrow" w="med" len="sm"/>
          </a:ln>
        </p:spPr>
      </p:sp>
      <p:sp>
        <p:nvSpPr>
          <p:cNvPr id="151" name="Freeform 151"/>
          <p:cNvSpPr/>
          <p:nvPr/>
        </p:nvSpPr>
        <p:spPr>
          <a:xfrm>
            <a:off x="13200526" y="4459130"/>
            <a:ext cx="878385" cy="2097129"/>
          </a:xfrm>
          <a:custGeom>
            <a:avLst/>
            <a:gdLst/>
            <a:ahLst/>
            <a:cxnLst/>
            <a:rect l="l" t="t" r="r" b="b"/>
            <a:pathLst>
              <a:path w="878385" h="2097129">
                <a:moveTo>
                  <a:pt x="878385" y="2097130"/>
                </a:moveTo>
                <a:lnTo>
                  <a:pt x="878385" y="1277165"/>
                </a:lnTo>
                <a:cubicBezTo>
                  <a:pt x="878385" y="1216536"/>
                  <a:pt x="854301" y="1158391"/>
                  <a:pt x="811430" y="1115520"/>
                </a:cubicBezTo>
                <a:cubicBezTo>
                  <a:pt x="768559" y="1072649"/>
                  <a:pt x="710414" y="1048565"/>
                  <a:pt x="649785" y="1048565"/>
                </a:cubicBezTo>
                <a:lnTo>
                  <a:pt x="228600" y="1048565"/>
                </a:lnTo>
                <a:cubicBezTo>
                  <a:pt x="167971" y="1048565"/>
                  <a:pt x="109826" y="1024480"/>
                  <a:pt x="66956" y="981610"/>
                </a:cubicBezTo>
                <a:cubicBezTo>
                  <a:pt x="24085" y="938739"/>
                  <a:pt x="0" y="880593"/>
                  <a:pt x="0" y="819965"/>
                </a:cubicBezTo>
                <a:lnTo>
                  <a:pt x="0" y="0"/>
                </a:lnTo>
              </a:path>
            </a:pathLst>
          </a:custGeom>
          <a:ln w="38100" cap="rnd">
            <a:solidFill>
              <a:srgbClr val="ACB8C0"/>
            </a:solidFill>
            <a:prstDash val="solid"/>
            <a:headEnd type="none" w="sm" len="sm"/>
            <a:tailEnd type="arrow" w="med" len="sm"/>
          </a:ln>
        </p:spPr>
      </p:sp>
      <p:sp>
        <p:nvSpPr>
          <p:cNvPr id="152" name="Freeform 152"/>
          <p:cNvSpPr/>
          <p:nvPr/>
        </p:nvSpPr>
        <p:spPr>
          <a:xfrm>
            <a:off x="13200526" y="4459130"/>
            <a:ext cx="878385" cy="2097129"/>
          </a:xfrm>
          <a:custGeom>
            <a:avLst/>
            <a:gdLst/>
            <a:ahLst/>
            <a:cxnLst/>
            <a:rect l="l" t="t" r="r" b="b"/>
            <a:pathLst>
              <a:path w="878385" h="2097129">
                <a:moveTo>
                  <a:pt x="0" y="0"/>
                </a:moveTo>
                <a:lnTo>
                  <a:pt x="339162" y="0"/>
                </a:lnTo>
                <a:cubicBezTo>
                  <a:pt x="465415" y="0"/>
                  <a:pt x="567762" y="102348"/>
                  <a:pt x="567762" y="228600"/>
                </a:cubicBezTo>
                <a:lnTo>
                  <a:pt x="567762" y="1941818"/>
                </a:lnTo>
                <a:cubicBezTo>
                  <a:pt x="567762" y="2027594"/>
                  <a:pt x="637298" y="2097130"/>
                  <a:pt x="723074" y="2097130"/>
                </a:cubicBezTo>
                <a:lnTo>
                  <a:pt x="878385" y="2097130"/>
                </a:lnTo>
              </a:path>
            </a:pathLst>
          </a:custGeom>
          <a:ln w="38100" cap="rnd">
            <a:solidFill>
              <a:srgbClr val="ACB8C0"/>
            </a:solidFill>
            <a:prstDash val="solid"/>
            <a:headEnd type="none" w="sm" len="sm"/>
            <a:tailEnd type="arrow" w="med" len="sm"/>
          </a:ln>
        </p:spPr>
      </p:sp>
      <p:sp>
        <p:nvSpPr>
          <p:cNvPr id="153" name="Freeform 153"/>
          <p:cNvSpPr/>
          <p:nvPr/>
        </p:nvSpPr>
        <p:spPr>
          <a:xfrm>
            <a:off x="13023890" y="4771587"/>
            <a:ext cx="1055021" cy="2398548"/>
          </a:xfrm>
          <a:custGeom>
            <a:avLst/>
            <a:gdLst/>
            <a:ahLst/>
            <a:cxnLst/>
            <a:rect l="l" t="t" r="r" b="b"/>
            <a:pathLst>
              <a:path w="1055021" h="2398548">
                <a:moveTo>
                  <a:pt x="0" y="0"/>
                </a:moveTo>
                <a:lnTo>
                  <a:pt x="0" y="970673"/>
                </a:lnTo>
                <a:cubicBezTo>
                  <a:pt x="0" y="1031302"/>
                  <a:pt x="24086" y="1089447"/>
                  <a:pt x="66956" y="1132318"/>
                </a:cubicBezTo>
                <a:cubicBezTo>
                  <a:pt x="109826" y="1175189"/>
                  <a:pt x="167971" y="1199273"/>
                  <a:pt x="228600" y="1199273"/>
                </a:cubicBezTo>
                <a:lnTo>
                  <a:pt x="826421" y="1199273"/>
                </a:lnTo>
                <a:cubicBezTo>
                  <a:pt x="887050" y="1199273"/>
                  <a:pt x="945195" y="1223358"/>
                  <a:pt x="988066" y="1266229"/>
                </a:cubicBezTo>
                <a:cubicBezTo>
                  <a:pt x="1030937" y="1309100"/>
                  <a:pt x="1055021" y="1367245"/>
                  <a:pt x="1055021" y="1427873"/>
                </a:cubicBezTo>
                <a:lnTo>
                  <a:pt x="1055021" y="2398547"/>
                </a:lnTo>
              </a:path>
            </a:pathLst>
          </a:custGeom>
          <a:ln w="38100" cap="rnd">
            <a:solidFill>
              <a:srgbClr val="ACB8C0"/>
            </a:solidFill>
            <a:prstDash val="solid"/>
            <a:headEnd type="none" w="sm" len="sm"/>
            <a:tailEnd type="arrow" w="med" len="sm"/>
          </a:ln>
        </p:spPr>
      </p:sp>
      <p:sp>
        <p:nvSpPr>
          <p:cNvPr id="154" name="Freeform 154"/>
          <p:cNvSpPr/>
          <p:nvPr/>
        </p:nvSpPr>
        <p:spPr>
          <a:xfrm>
            <a:off x="13200526" y="3922985"/>
            <a:ext cx="867473" cy="3861023"/>
          </a:xfrm>
          <a:custGeom>
            <a:avLst/>
            <a:gdLst/>
            <a:ahLst/>
            <a:cxnLst/>
            <a:rect l="l" t="t" r="r" b="b"/>
            <a:pathLst>
              <a:path w="867473" h="3861023">
                <a:moveTo>
                  <a:pt x="0" y="0"/>
                </a:moveTo>
                <a:lnTo>
                  <a:pt x="0" y="1701912"/>
                </a:lnTo>
                <a:cubicBezTo>
                  <a:pt x="0" y="1828164"/>
                  <a:pt x="102347" y="1930512"/>
                  <a:pt x="228600" y="1930512"/>
                </a:cubicBezTo>
                <a:lnTo>
                  <a:pt x="638873" y="1930512"/>
                </a:lnTo>
                <a:cubicBezTo>
                  <a:pt x="765125" y="1930512"/>
                  <a:pt x="867473" y="2032860"/>
                  <a:pt x="867473" y="2159112"/>
                </a:cubicBezTo>
                <a:lnTo>
                  <a:pt x="867473" y="3861024"/>
                </a:lnTo>
              </a:path>
            </a:pathLst>
          </a:custGeom>
          <a:ln w="38100" cap="rnd">
            <a:solidFill>
              <a:srgbClr val="ACB8C0"/>
            </a:solidFill>
            <a:prstDash val="solid"/>
            <a:headEnd type="none" w="sm" len="sm"/>
            <a:tailEnd type="arrow" w="med" len="sm"/>
          </a:ln>
        </p:spPr>
      </p:sp>
      <p:grpSp>
        <p:nvGrpSpPr>
          <p:cNvPr id="155" name="Group 155"/>
          <p:cNvGrpSpPr/>
          <p:nvPr/>
        </p:nvGrpSpPr>
        <p:grpSpPr>
          <a:xfrm>
            <a:off x="8851480" y="6822103"/>
            <a:ext cx="1833187" cy="1315380"/>
            <a:chOff x="0" y="0"/>
            <a:chExt cx="812800" cy="583214"/>
          </a:xfrm>
        </p:grpSpPr>
        <p:sp>
          <p:nvSpPr>
            <p:cNvPr id="156" name="Freeform 156"/>
            <p:cNvSpPr/>
            <p:nvPr/>
          </p:nvSpPr>
          <p:spPr>
            <a:xfrm>
              <a:off x="0" y="0"/>
              <a:ext cx="812800" cy="583214"/>
            </a:xfrm>
            <a:custGeom>
              <a:avLst/>
              <a:gdLst/>
              <a:ahLst/>
              <a:cxnLst/>
              <a:rect l="l" t="t" r="r" b="b"/>
              <a:pathLst>
                <a:path w="812800" h="583214">
                  <a:moveTo>
                    <a:pt x="0" y="0"/>
                  </a:moveTo>
                  <a:lnTo>
                    <a:pt x="812800" y="0"/>
                  </a:lnTo>
                  <a:lnTo>
                    <a:pt x="812800" y="583214"/>
                  </a:lnTo>
                  <a:lnTo>
                    <a:pt x="0" y="583214"/>
                  </a:lnTo>
                  <a:close/>
                </a:path>
              </a:pathLst>
            </a:custGeom>
            <a:solidFill>
              <a:srgbClr val="CAF5F7"/>
            </a:solidFill>
          </p:spPr>
        </p:sp>
        <p:sp>
          <p:nvSpPr>
            <p:cNvPr id="157" name="TextBox 157"/>
            <p:cNvSpPr txBox="1"/>
            <p:nvPr/>
          </p:nvSpPr>
          <p:spPr>
            <a:xfrm>
              <a:off x="0" y="-19050"/>
              <a:ext cx="812800" cy="602264"/>
            </a:xfrm>
            <a:prstGeom prst="rect">
              <a:avLst/>
            </a:prstGeom>
          </p:spPr>
          <p:txBody>
            <a:bodyPr lIns="50800" tIns="50800" rIns="50800" bIns="50800" rtlCol="0" anchor="ctr"/>
            <a:lstStyle/>
            <a:p>
              <a:pPr algn="ctr">
                <a:lnSpc>
                  <a:spcPts val="1679"/>
                </a:lnSpc>
              </a:pPr>
              <a:r>
                <a:rPr lang="en-US" sz="1200" b="1">
                  <a:solidFill>
                    <a:srgbClr val="000000"/>
                  </a:solidFill>
                  <a:latin typeface="Canva Sans Bold"/>
                  <a:ea typeface="Canva Sans Bold"/>
                  <a:cs typeface="Canva Sans Bold"/>
                  <a:sym typeface="Canva Sans Bold"/>
                </a:rPr>
                <a:t>SOC Wallboard</a:t>
              </a:r>
            </a:p>
            <a:p>
              <a:pPr algn="ctr">
                <a:lnSpc>
                  <a:spcPts val="1679"/>
                </a:lnSpc>
              </a:pPr>
              <a:r>
                <a:rPr lang="en-US" sz="1200" b="1">
                  <a:solidFill>
                    <a:srgbClr val="000000"/>
                  </a:solidFill>
                  <a:latin typeface="Canva Sans Bold"/>
                  <a:ea typeface="Canva Sans Bold"/>
                  <a:cs typeface="Canva Sans Bold"/>
                  <a:sym typeface="Canva Sans Bold"/>
                </a:rPr>
                <a:t>(Read - Onlu)</a:t>
              </a:r>
            </a:p>
            <a:p>
              <a:pPr algn="ctr">
                <a:lnSpc>
                  <a:spcPts val="1679"/>
                </a:lnSpc>
              </a:pPr>
              <a:endParaRPr lang="en-US" sz="1200" b="1">
                <a:solidFill>
                  <a:srgbClr val="000000"/>
                </a:solidFill>
                <a:latin typeface="Canva Sans Bold"/>
                <a:ea typeface="Canva Sans Bold"/>
                <a:cs typeface="Canva Sans Bold"/>
                <a:sym typeface="Canva Sans Bold"/>
              </a:endParaRPr>
            </a:p>
            <a:p>
              <a:pPr algn="ctr">
                <a:lnSpc>
                  <a:spcPts val="1679"/>
                </a:lnSpc>
                <a:spcBef>
                  <a:spcPct val="0"/>
                </a:spcBef>
              </a:pPr>
              <a:endParaRPr lang="en-US" sz="1200" b="1">
                <a:solidFill>
                  <a:srgbClr val="000000"/>
                </a:solidFill>
                <a:latin typeface="Canva Sans Bold"/>
                <a:ea typeface="Canva Sans Bold"/>
                <a:cs typeface="Canva Sans Bold"/>
                <a:sym typeface="Canva Sans Bold"/>
              </a:endParaRPr>
            </a:p>
          </p:txBody>
        </p:sp>
      </p:grpSp>
      <p:grpSp>
        <p:nvGrpSpPr>
          <p:cNvPr id="158" name="Group 158"/>
          <p:cNvGrpSpPr/>
          <p:nvPr/>
        </p:nvGrpSpPr>
        <p:grpSpPr>
          <a:xfrm>
            <a:off x="8998239" y="7611278"/>
            <a:ext cx="1580455" cy="401010"/>
            <a:chOff x="0" y="0"/>
            <a:chExt cx="700743" cy="177800"/>
          </a:xfrm>
        </p:grpSpPr>
        <p:sp>
          <p:nvSpPr>
            <p:cNvPr id="159" name="Freeform 159"/>
            <p:cNvSpPr/>
            <p:nvPr/>
          </p:nvSpPr>
          <p:spPr>
            <a:xfrm>
              <a:off x="0" y="0"/>
              <a:ext cx="700743" cy="177800"/>
            </a:xfrm>
            <a:custGeom>
              <a:avLst/>
              <a:gdLst/>
              <a:ahLst/>
              <a:cxnLst/>
              <a:rect l="l" t="t" r="r" b="b"/>
              <a:pathLst>
                <a:path w="700743" h="177800">
                  <a:moveTo>
                    <a:pt x="0" y="0"/>
                  </a:moveTo>
                  <a:lnTo>
                    <a:pt x="700743" y="0"/>
                  </a:lnTo>
                  <a:lnTo>
                    <a:pt x="700743" y="177800"/>
                  </a:lnTo>
                  <a:lnTo>
                    <a:pt x="0" y="177800"/>
                  </a:lnTo>
                  <a:close/>
                </a:path>
              </a:pathLst>
            </a:custGeom>
            <a:solidFill>
              <a:srgbClr val="99DAFF"/>
            </a:solidFill>
          </p:spPr>
        </p:sp>
        <p:sp>
          <p:nvSpPr>
            <p:cNvPr id="160" name="TextBox 160"/>
            <p:cNvSpPr txBox="1"/>
            <p:nvPr/>
          </p:nvSpPr>
          <p:spPr>
            <a:xfrm>
              <a:off x="0" y="-19050"/>
              <a:ext cx="700743" cy="196850"/>
            </a:xfrm>
            <a:prstGeom prst="rect">
              <a:avLst/>
            </a:prstGeom>
          </p:spPr>
          <p:txBody>
            <a:bodyPr lIns="50800" tIns="50800" rIns="50800" bIns="50800" rtlCol="0" anchor="ctr"/>
            <a:lstStyle/>
            <a:p>
              <a:pPr algn="ctr">
                <a:lnSpc>
                  <a:spcPts val="1679"/>
                </a:lnSpc>
              </a:pPr>
              <a:r>
                <a:rPr lang="en-US" sz="1200" b="1">
                  <a:solidFill>
                    <a:srgbClr val="000000"/>
                  </a:solidFill>
                  <a:latin typeface="Canva Sans Bold"/>
                  <a:ea typeface="Canva Sans Bold"/>
                  <a:cs typeface="Canva Sans Bold"/>
                  <a:sym typeface="Canva Sans Bold"/>
                </a:rPr>
                <a:t>Dedicated Role</a:t>
              </a:r>
            </a:p>
          </p:txBody>
        </p:sp>
      </p:grpSp>
      <p:sp>
        <p:nvSpPr>
          <p:cNvPr id="161" name="Freeform 161"/>
          <p:cNvSpPr/>
          <p:nvPr/>
        </p:nvSpPr>
        <p:spPr>
          <a:xfrm>
            <a:off x="12236193" y="5618688"/>
            <a:ext cx="0" cy="540818"/>
          </a:xfrm>
          <a:custGeom>
            <a:avLst/>
            <a:gdLst/>
            <a:ahLst/>
            <a:cxnLst/>
            <a:rect l="l" t="t" r="r" b="b"/>
            <a:pathLst>
              <a:path h="540818">
                <a:moveTo>
                  <a:pt x="0" y="0"/>
                </a:moveTo>
                <a:lnTo>
                  <a:pt x="0" y="540818"/>
                </a:lnTo>
              </a:path>
            </a:pathLst>
          </a:custGeom>
          <a:ln w="38100" cap="rnd">
            <a:solidFill>
              <a:srgbClr val="ACB8C0"/>
            </a:solidFill>
            <a:prstDash val="solid"/>
            <a:headEnd type="none" w="sm" len="sm"/>
            <a:tailEnd type="arrow" w="med" len="sm"/>
          </a:ln>
        </p:spPr>
      </p:sp>
      <p:sp>
        <p:nvSpPr>
          <p:cNvPr id="162" name="TextBox 162"/>
          <p:cNvSpPr txBox="1"/>
          <p:nvPr/>
        </p:nvSpPr>
        <p:spPr>
          <a:xfrm>
            <a:off x="2921151" y="45982"/>
            <a:ext cx="10675201" cy="710708"/>
          </a:xfrm>
          <a:prstGeom prst="rect">
            <a:avLst/>
          </a:prstGeom>
        </p:spPr>
        <p:txBody>
          <a:bodyPr lIns="0" tIns="0" rIns="0" bIns="0" rtlCol="0" anchor="t">
            <a:spAutoFit/>
          </a:bodyPr>
          <a:lstStyle/>
          <a:p>
            <a:pPr algn="l">
              <a:lnSpc>
                <a:spcPts val="5840"/>
              </a:lnSpc>
            </a:pPr>
            <a:r>
              <a:rPr lang="en-US" sz="4171">
                <a:solidFill>
                  <a:srgbClr val="4AF66D"/>
                </a:solidFill>
                <a:latin typeface="Bank Gothic Medium"/>
                <a:ea typeface="Bank Gothic Medium"/>
                <a:cs typeface="Bank Gothic Medium"/>
                <a:sym typeface="Bank Gothic Medium"/>
              </a:rPr>
              <a:t>System Architecture &amp; Tech Stack</a:t>
            </a:r>
          </a:p>
        </p:txBody>
      </p:sp>
      <p:sp>
        <p:nvSpPr>
          <p:cNvPr id="163" name="TextBox 163"/>
          <p:cNvSpPr txBox="1"/>
          <p:nvPr/>
        </p:nvSpPr>
        <p:spPr>
          <a:xfrm>
            <a:off x="1754729" y="1256890"/>
            <a:ext cx="2562106" cy="415290"/>
          </a:xfrm>
          <a:prstGeom prst="rect">
            <a:avLst/>
          </a:prstGeom>
        </p:spPr>
        <p:txBody>
          <a:bodyPr lIns="0" tIns="0" rIns="0" bIns="0" rtlCol="0" anchor="t">
            <a:spAutoFit/>
          </a:bodyPr>
          <a:lstStyle/>
          <a:p>
            <a:pPr algn="l">
              <a:lnSpc>
                <a:spcPts val="3359"/>
              </a:lnSpc>
            </a:pPr>
            <a:r>
              <a:rPr lang="en-US" sz="2399" spc="278">
                <a:solidFill>
                  <a:srgbClr val="55C226"/>
                </a:solidFill>
                <a:latin typeface="Bank Gothic Medium"/>
                <a:ea typeface="Bank Gothic Medium"/>
                <a:cs typeface="Bank Gothic Medium"/>
                <a:sym typeface="Bank Gothic Medium"/>
              </a:rPr>
              <a:t>TECH STACK</a:t>
            </a:r>
          </a:p>
        </p:txBody>
      </p:sp>
      <p:grpSp>
        <p:nvGrpSpPr>
          <p:cNvPr id="164" name="Group 164"/>
          <p:cNvGrpSpPr/>
          <p:nvPr/>
        </p:nvGrpSpPr>
        <p:grpSpPr>
          <a:xfrm>
            <a:off x="295275" y="2347590"/>
            <a:ext cx="5714202" cy="5676735"/>
            <a:chOff x="0" y="0"/>
            <a:chExt cx="7618936" cy="7568979"/>
          </a:xfrm>
        </p:grpSpPr>
        <p:sp>
          <p:nvSpPr>
            <p:cNvPr id="165" name="Freeform 165"/>
            <p:cNvSpPr/>
            <p:nvPr/>
          </p:nvSpPr>
          <p:spPr>
            <a:xfrm>
              <a:off x="0" y="2979793"/>
              <a:ext cx="7549100" cy="1430871"/>
            </a:xfrm>
            <a:custGeom>
              <a:avLst/>
              <a:gdLst/>
              <a:ahLst/>
              <a:cxnLst/>
              <a:rect l="l" t="t" r="r" b="b"/>
              <a:pathLst>
                <a:path w="7549100" h="1430871">
                  <a:moveTo>
                    <a:pt x="0" y="0"/>
                  </a:moveTo>
                  <a:lnTo>
                    <a:pt x="7549100" y="0"/>
                  </a:lnTo>
                  <a:lnTo>
                    <a:pt x="7549100" y="1430871"/>
                  </a:lnTo>
                  <a:lnTo>
                    <a:pt x="0" y="1430871"/>
                  </a:lnTo>
                  <a:lnTo>
                    <a:pt x="0" y="0"/>
                  </a:lnTo>
                  <a:close/>
                </a:path>
              </a:pathLst>
            </a:custGeom>
            <a:blipFill>
              <a:blip>
                <a:extLst>
                  <a:ext uri="{96DAC541-7B7A-43D3-8B79-37D633B846F1}">
                    <asvg:svgBlip xmlns:asvg="http://schemas.microsoft.com/office/drawing/2016/SVG/main" r:embed="rId11"/>
                  </a:ext>
                </a:extLst>
              </a:blip>
              <a:stretch>
                <a:fillRect/>
              </a:stretch>
            </a:blipFill>
          </p:spPr>
        </p:sp>
        <p:sp>
          <p:nvSpPr>
            <p:cNvPr id="166" name="Freeform 166"/>
            <p:cNvSpPr/>
            <p:nvPr/>
          </p:nvSpPr>
          <p:spPr>
            <a:xfrm>
              <a:off x="8012" y="6127694"/>
              <a:ext cx="7610924" cy="1441285"/>
            </a:xfrm>
            <a:custGeom>
              <a:avLst/>
              <a:gdLst/>
              <a:ahLst/>
              <a:cxnLst/>
              <a:rect l="l" t="t" r="r" b="b"/>
              <a:pathLst>
                <a:path w="7610924" h="1441285">
                  <a:moveTo>
                    <a:pt x="0" y="0"/>
                  </a:moveTo>
                  <a:lnTo>
                    <a:pt x="7610924" y="0"/>
                  </a:lnTo>
                  <a:lnTo>
                    <a:pt x="7610924" y="1441285"/>
                  </a:lnTo>
                  <a:lnTo>
                    <a:pt x="0" y="1441285"/>
                  </a:lnTo>
                  <a:lnTo>
                    <a:pt x="0" y="0"/>
                  </a:lnTo>
                  <a:close/>
                </a:path>
              </a:pathLst>
            </a:custGeom>
            <a:blipFill>
              <a:blip>
                <a:extLst>
                  <a:ext uri="{96DAC541-7B7A-43D3-8B79-37D633B846F1}">
                    <asvg:svgBlip xmlns:asvg="http://schemas.microsoft.com/office/drawing/2016/SVG/main" r:embed="rId12"/>
                  </a:ext>
                </a:extLst>
              </a:blip>
              <a:stretch>
                <a:fillRect/>
              </a:stretch>
            </a:blipFill>
          </p:spPr>
        </p:sp>
        <p:sp>
          <p:nvSpPr>
            <p:cNvPr id="167" name="Freeform 167"/>
            <p:cNvSpPr/>
            <p:nvPr/>
          </p:nvSpPr>
          <p:spPr>
            <a:xfrm>
              <a:off x="28251" y="4549716"/>
              <a:ext cx="7541088" cy="1429519"/>
            </a:xfrm>
            <a:custGeom>
              <a:avLst/>
              <a:gdLst/>
              <a:ahLst/>
              <a:cxnLst/>
              <a:rect l="l" t="t" r="r" b="b"/>
              <a:pathLst>
                <a:path w="7541088" h="1429519">
                  <a:moveTo>
                    <a:pt x="0" y="0"/>
                  </a:moveTo>
                  <a:lnTo>
                    <a:pt x="7541088" y="0"/>
                  </a:lnTo>
                  <a:lnTo>
                    <a:pt x="7541088" y="1429519"/>
                  </a:lnTo>
                  <a:lnTo>
                    <a:pt x="0" y="1429519"/>
                  </a:lnTo>
                  <a:lnTo>
                    <a:pt x="0" y="0"/>
                  </a:lnTo>
                  <a:close/>
                </a:path>
              </a:pathLst>
            </a:custGeom>
            <a:blipFill>
              <a:blip>
                <a:extLst>
                  <a:ext uri="{96DAC541-7B7A-43D3-8B79-37D633B846F1}">
                    <asvg:svgBlip xmlns:asvg="http://schemas.microsoft.com/office/drawing/2016/SVG/main" r:embed="rId13"/>
                  </a:ext>
                </a:extLst>
              </a:blip>
              <a:stretch>
                <a:fillRect/>
              </a:stretch>
            </a:blipFill>
          </p:spPr>
        </p:sp>
        <p:sp>
          <p:nvSpPr>
            <p:cNvPr id="168" name="Freeform 168"/>
            <p:cNvSpPr/>
            <p:nvPr/>
          </p:nvSpPr>
          <p:spPr>
            <a:xfrm>
              <a:off x="28251" y="0"/>
              <a:ext cx="7492599" cy="1421348"/>
            </a:xfrm>
            <a:custGeom>
              <a:avLst/>
              <a:gdLst/>
              <a:ahLst/>
              <a:cxnLst/>
              <a:rect l="l" t="t" r="r" b="b"/>
              <a:pathLst>
                <a:path w="7492599" h="1421348">
                  <a:moveTo>
                    <a:pt x="0" y="0"/>
                  </a:moveTo>
                  <a:lnTo>
                    <a:pt x="7492599" y="0"/>
                  </a:lnTo>
                  <a:lnTo>
                    <a:pt x="7492599" y="1421348"/>
                  </a:lnTo>
                  <a:lnTo>
                    <a:pt x="0" y="1421348"/>
                  </a:lnTo>
                  <a:lnTo>
                    <a:pt x="0" y="0"/>
                  </a:lnTo>
                  <a:close/>
                </a:path>
              </a:pathLst>
            </a:custGeom>
            <a:blipFill>
              <a:blip>
                <a:extLst>
                  <a:ext uri="{96DAC541-7B7A-43D3-8B79-37D633B846F1}">
                    <asvg:svgBlip xmlns:asvg="http://schemas.microsoft.com/office/drawing/2016/SVG/main" r:embed="rId14"/>
                  </a:ext>
                </a:extLst>
              </a:blip>
              <a:stretch>
                <a:fillRect/>
              </a:stretch>
            </a:blipFill>
          </p:spPr>
        </p:sp>
        <p:sp>
          <p:nvSpPr>
            <p:cNvPr id="169" name="Freeform 169"/>
            <p:cNvSpPr/>
            <p:nvPr/>
          </p:nvSpPr>
          <p:spPr>
            <a:xfrm>
              <a:off x="8012" y="1487904"/>
              <a:ext cx="7512838" cy="1424758"/>
            </a:xfrm>
            <a:custGeom>
              <a:avLst/>
              <a:gdLst/>
              <a:ahLst/>
              <a:cxnLst/>
              <a:rect l="l" t="t" r="r" b="b"/>
              <a:pathLst>
                <a:path w="7512838" h="1424758">
                  <a:moveTo>
                    <a:pt x="0" y="0"/>
                  </a:moveTo>
                  <a:lnTo>
                    <a:pt x="7512838" y="0"/>
                  </a:lnTo>
                  <a:lnTo>
                    <a:pt x="7512838" y="1424758"/>
                  </a:lnTo>
                  <a:lnTo>
                    <a:pt x="0" y="1424758"/>
                  </a:lnTo>
                  <a:lnTo>
                    <a:pt x="0" y="0"/>
                  </a:lnTo>
                  <a:close/>
                </a:path>
              </a:pathLst>
            </a:custGeom>
            <a:blipFill>
              <a:blip>
                <a:extLst>
                  <a:ext uri="{96DAC541-7B7A-43D3-8B79-37D633B846F1}">
                    <asvg:svgBlip xmlns:asvg="http://schemas.microsoft.com/office/drawing/2016/SVG/main" r:embed="rId15"/>
                  </a:ext>
                </a:extLst>
              </a:blip>
              <a:stretch>
                <a:fillRect/>
              </a:stretch>
            </a:blipFill>
          </p:spPr>
        </p:sp>
        <p:sp>
          <p:nvSpPr>
            <p:cNvPr id="170" name="TextBox 170"/>
            <p:cNvSpPr txBox="1"/>
            <p:nvPr/>
          </p:nvSpPr>
          <p:spPr>
            <a:xfrm>
              <a:off x="303428" y="1673149"/>
              <a:ext cx="1641234" cy="465239"/>
            </a:xfrm>
            <a:prstGeom prst="rect">
              <a:avLst/>
            </a:prstGeom>
          </p:spPr>
          <p:txBody>
            <a:bodyPr lIns="0" tIns="0" rIns="0" bIns="0" rtlCol="0" anchor="t">
              <a:spAutoFit/>
            </a:bodyPr>
            <a:lstStyle/>
            <a:p>
              <a:pPr algn="l">
                <a:lnSpc>
                  <a:spcPts val="2904"/>
                </a:lnSpc>
              </a:pPr>
              <a:r>
                <a:rPr lang="en-US" sz="2074">
                  <a:solidFill>
                    <a:srgbClr val="FFFFFF"/>
                  </a:solidFill>
                  <a:latin typeface="Bank Gothic Medium"/>
                  <a:ea typeface="Bank Gothic Medium"/>
                  <a:cs typeface="Bank Gothic Medium"/>
                  <a:sym typeface="Bank Gothic Medium"/>
                </a:rPr>
                <a:t>backend</a:t>
              </a:r>
            </a:p>
          </p:txBody>
        </p:sp>
        <p:sp>
          <p:nvSpPr>
            <p:cNvPr id="171" name="TextBox 171"/>
            <p:cNvSpPr txBox="1"/>
            <p:nvPr/>
          </p:nvSpPr>
          <p:spPr>
            <a:xfrm>
              <a:off x="203606" y="4709931"/>
              <a:ext cx="1847050" cy="465239"/>
            </a:xfrm>
            <a:prstGeom prst="rect">
              <a:avLst/>
            </a:prstGeom>
          </p:spPr>
          <p:txBody>
            <a:bodyPr lIns="0" tIns="0" rIns="0" bIns="0" rtlCol="0" anchor="t">
              <a:spAutoFit/>
            </a:bodyPr>
            <a:lstStyle/>
            <a:p>
              <a:pPr algn="l">
                <a:lnSpc>
                  <a:spcPts val="2904"/>
                </a:lnSpc>
              </a:pPr>
              <a:r>
                <a:rPr lang="en-US" sz="2074">
                  <a:solidFill>
                    <a:srgbClr val="FFFFFF"/>
                  </a:solidFill>
                  <a:latin typeface="Bank Gothic Medium"/>
                  <a:ea typeface="Bank Gothic Medium"/>
                  <a:cs typeface="Bank Gothic Medium"/>
                  <a:sym typeface="Bank Gothic Medium"/>
                </a:rPr>
                <a:t>AI / APIs </a:t>
              </a:r>
            </a:p>
          </p:txBody>
        </p:sp>
        <p:sp>
          <p:nvSpPr>
            <p:cNvPr id="172" name="TextBox 172"/>
            <p:cNvSpPr txBox="1"/>
            <p:nvPr/>
          </p:nvSpPr>
          <p:spPr>
            <a:xfrm>
              <a:off x="211955" y="175425"/>
              <a:ext cx="2041360" cy="465239"/>
            </a:xfrm>
            <a:prstGeom prst="rect">
              <a:avLst/>
            </a:prstGeom>
          </p:spPr>
          <p:txBody>
            <a:bodyPr lIns="0" tIns="0" rIns="0" bIns="0" rtlCol="0" anchor="t">
              <a:spAutoFit/>
            </a:bodyPr>
            <a:lstStyle/>
            <a:p>
              <a:pPr algn="l">
                <a:lnSpc>
                  <a:spcPts val="2904"/>
                </a:lnSpc>
              </a:pPr>
              <a:r>
                <a:rPr lang="en-US" sz="2074">
                  <a:solidFill>
                    <a:srgbClr val="FFFFFF"/>
                  </a:solidFill>
                  <a:latin typeface="Bank Gothic Medium"/>
                  <a:ea typeface="Bank Gothic Medium"/>
                  <a:cs typeface="Bank Gothic Medium"/>
                  <a:sym typeface="Bank Gothic Medium"/>
                </a:rPr>
                <a:t>Frontend </a:t>
              </a:r>
            </a:p>
          </p:txBody>
        </p:sp>
        <p:sp>
          <p:nvSpPr>
            <p:cNvPr id="173" name="TextBox 173"/>
            <p:cNvSpPr txBox="1"/>
            <p:nvPr/>
          </p:nvSpPr>
          <p:spPr>
            <a:xfrm>
              <a:off x="236041" y="3092326"/>
              <a:ext cx="1993189" cy="465239"/>
            </a:xfrm>
            <a:prstGeom prst="rect">
              <a:avLst/>
            </a:prstGeom>
          </p:spPr>
          <p:txBody>
            <a:bodyPr lIns="0" tIns="0" rIns="0" bIns="0" rtlCol="0" anchor="t">
              <a:spAutoFit/>
            </a:bodyPr>
            <a:lstStyle/>
            <a:p>
              <a:pPr algn="l">
                <a:lnSpc>
                  <a:spcPts val="2904"/>
                </a:lnSpc>
              </a:pPr>
              <a:r>
                <a:rPr lang="en-US" sz="2074">
                  <a:solidFill>
                    <a:srgbClr val="FFFFFF"/>
                  </a:solidFill>
                  <a:latin typeface="Bank Gothic Medium"/>
                  <a:ea typeface="Bank Gothic Medium"/>
                  <a:cs typeface="Bank Gothic Medium"/>
                  <a:sym typeface="Bank Gothic Medium"/>
                </a:rPr>
                <a:t>Database </a:t>
              </a:r>
            </a:p>
          </p:txBody>
        </p:sp>
        <p:sp>
          <p:nvSpPr>
            <p:cNvPr id="174" name="TextBox 174"/>
            <p:cNvSpPr txBox="1"/>
            <p:nvPr/>
          </p:nvSpPr>
          <p:spPr>
            <a:xfrm>
              <a:off x="172395" y="6163385"/>
              <a:ext cx="3667900" cy="465239"/>
            </a:xfrm>
            <a:prstGeom prst="rect">
              <a:avLst/>
            </a:prstGeom>
          </p:spPr>
          <p:txBody>
            <a:bodyPr lIns="0" tIns="0" rIns="0" bIns="0" rtlCol="0" anchor="t">
              <a:spAutoFit/>
            </a:bodyPr>
            <a:lstStyle/>
            <a:p>
              <a:pPr algn="l">
                <a:lnSpc>
                  <a:spcPts val="2904"/>
                </a:lnSpc>
              </a:pPr>
              <a:r>
                <a:rPr lang="en-US" sz="2074">
                  <a:solidFill>
                    <a:srgbClr val="FFFFFF"/>
                  </a:solidFill>
                  <a:latin typeface="Bank Gothic Medium"/>
                  <a:ea typeface="Bank Gothic Medium"/>
                  <a:cs typeface="Bank Gothic Medium"/>
                  <a:sym typeface="Bank Gothic Medium"/>
                </a:rPr>
                <a:t>Hosting / DevOps </a:t>
              </a:r>
            </a:p>
          </p:txBody>
        </p:sp>
      </p:grpSp>
      <p:sp>
        <p:nvSpPr>
          <p:cNvPr id="175" name="Freeform 175"/>
          <p:cNvSpPr/>
          <p:nvPr/>
        </p:nvSpPr>
        <p:spPr>
          <a:xfrm>
            <a:off x="165393" y="1853156"/>
            <a:ext cx="6008839" cy="6255296"/>
          </a:xfrm>
          <a:custGeom>
            <a:avLst/>
            <a:gdLst/>
            <a:ahLst/>
            <a:cxnLst/>
            <a:rect l="l" t="t" r="r" b="b"/>
            <a:pathLst>
              <a:path w="6008839" h="6255296">
                <a:moveTo>
                  <a:pt x="0" y="0"/>
                </a:moveTo>
                <a:lnTo>
                  <a:pt x="6008839" y="0"/>
                </a:lnTo>
                <a:lnTo>
                  <a:pt x="6008839" y="6255296"/>
                </a:lnTo>
                <a:lnTo>
                  <a:pt x="0" y="6255296"/>
                </a:lnTo>
                <a:lnTo>
                  <a:pt x="0" y="0"/>
                </a:lnTo>
                <a:close/>
              </a:path>
            </a:pathLst>
          </a:custGeom>
          <a:blipFill>
            <a:blip r:embed="rId16"/>
            <a:stretch>
              <a:fillRect t="-4783" b="-199"/>
            </a:stretch>
          </a:blipFill>
        </p:spPr>
      </p:sp>
      <p:sp>
        <p:nvSpPr>
          <p:cNvPr id="176" name="TextBox 176"/>
          <p:cNvSpPr txBox="1"/>
          <p:nvPr/>
        </p:nvSpPr>
        <p:spPr>
          <a:xfrm>
            <a:off x="8374434" y="1173869"/>
            <a:ext cx="4467701" cy="431800"/>
          </a:xfrm>
          <a:prstGeom prst="rect">
            <a:avLst/>
          </a:prstGeom>
        </p:spPr>
        <p:txBody>
          <a:bodyPr lIns="0" tIns="0" rIns="0" bIns="0" rtlCol="0" anchor="t">
            <a:spAutoFit/>
          </a:bodyPr>
          <a:lstStyle/>
          <a:p>
            <a:pPr algn="l">
              <a:lnSpc>
                <a:spcPts val="3499"/>
              </a:lnSpc>
            </a:pPr>
            <a:r>
              <a:rPr lang="en-US" sz="2499" spc="289">
                <a:solidFill>
                  <a:srgbClr val="55C226"/>
                </a:solidFill>
                <a:latin typeface="Bank Gothic Medium"/>
                <a:ea typeface="Bank Gothic Medium"/>
                <a:cs typeface="Bank Gothic Medium"/>
                <a:sym typeface="Bank Gothic Medium"/>
              </a:rPr>
              <a:t>System Architecture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7316" y="18488"/>
            <a:ext cx="15948088" cy="8925487"/>
            <a:chOff x="0" y="0"/>
            <a:chExt cx="21264118" cy="11900649"/>
          </a:xfrm>
        </p:grpSpPr>
        <p:sp>
          <p:nvSpPr>
            <p:cNvPr id="3" name="Freeform 3"/>
            <p:cNvSpPr/>
            <p:nvPr/>
          </p:nvSpPr>
          <p:spPr>
            <a:xfrm>
              <a:off x="0" y="0"/>
              <a:ext cx="21264118" cy="11900662"/>
            </a:xfrm>
            <a:custGeom>
              <a:avLst/>
              <a:gdLst/>
              <a:ahLst/>
              <a:cxnLst/>
              <a:rect l="l" t="t" r="r" b="b"/>
              <a:pathLst>
                <a:path w="21264118" h="11900662">
                  <a:moveTo>
                    <a:pt x="0" y="0"/>
                  </a:moveTo>
                  <a:lnTo>
                    <a:pt x="21264118" y="0"/>
                  </a:lnTo>
                  <a:lnTo>
                    <a:pt x="21264118" y="11900662"/>
                  </a:lnTo>
                  <a:lnTo>
                    <a:pt x="0" y="11900662"/>
                  </a:lnTo>
                  <a:lnTo>
                    <a:pt x="0" y="0"/>
                  </a:lnTo>
                  <a:close/>
                </a:path>
              </a:pathLst>
            </a:custGeom>
            <a:blipFill>
              <a:blip r:embed="rId2"/>
              <a:stretch>
                <a:fillRect/>
              </a:stretch>
            </a:blipFill>
          </p:spPr>
        </p:sp>
      </p:grpSp>
      <p:grpSp>
        <p:nvGrpSpPr>
          <p:cNvPr id="4" name="Group 4"/>
          <p:cNvGrpSpPr/>
          <p:nvPr/>
        </p:nvGrpSpPr>
        <p:grpSpPr>
          <a:xfrm>
            <a:off x="49216" y="1114015"/>
            <a:ext cx="15916275" cy="200025"/>
            <a:chOff x="0" y="0"/>
            <a:chExt cx="21221700" cy="266700"/>
          </a:xfrm>
        </p:grpSpPr>
        <p:sp>
          <p:nvSpPr>
            <p:cNvPr id="5" name="Freeform 5"/>
            <p:cNvSpPr/>
            <p:nvPr/>
          </p:nvSpPr>
          <p:spPr>
            <a:xfrm>
              <a:off x="0" y="0"/>
              <a:ext cx="21221700" cy="266700"/>
            </a:xfrm>
            <a:custGeom>
              <a:avLst/>
              <a:gdLst/>
              <a:ahLst/>
              <a:cxnLst/>
              <a:rect l="l" t="t" r="r" b="b"/>
              <a:pathLst>
                <a:path w="21221700" h="266700">
                  <a:moveTo>
                    <a:pt x="0" y="0"/>
                  </a:moveTo>
                  <a:lnTo>
                    <a:pt x="21221700" y="0"/>
                  </a:lnTo>
                  <a:lnTo>
                    <a:pt x="21221700" y="266700"/>
                  </a:lnTo>
                  <a:lnTo>
                    <a:pt x="0" y="266700"/>
                  </a:lnTo>
                  <a:lnTo>
                    <a:pt x="0" y="0"/>
                  </a:lnTo>
                  <a:close/>
                </a:path>
              </a:pathLst>
            </a:custGeom>
            <a:blipFill>
              <a:blip r:embed="rId3">
                <a:alphaModFix amt="62000"/>
              </a:blip>
              <a:stretch>
                <a:fillRect/>
              </a:stretch>
            </a:blipFill>
          </p:spPr>
        </p:sp>
      </p:grpSp>
      <p:grpSp>
        <p:nvGrpSpPr>
          <p:cNvPr id="6" name="Group 6"/>
          <p:cNvGrpSpPr/>
          <p:nvPr/>
        </p:nvGrpSpPr>
        <p:grpSpPr>
          <a:xfrm>
            <a:off x="206645" y="1846774"/>
            <a:ext cx="3609975" cy="561975"/>
            <a:chOff x="0" y="0"/>
            <a:chExt cx="4813300" cy="749300"/>
          </a:xfrm>
        </p:grpSpPr>
        <p:sp>
          <p:nvSpPr>
            <p:cNvPr id="7" name="Freeform 7"/>
            <p:cNvSpPr/>
            <p:nvPr/>
          </p:nvSpPr>
          <p:spPr>
            <a:xfrm>
              <a:off x="0" y="0"/>
              <a:ext cx="4813300" cy="749300"/>
            </a:xfrm>
            <a:custGeom>
              <a:avLst/>
              <a:gdLst/>
              <a:ahLst/>
              <a:cxnLst/>
              <a:rect l="l" t="t" r="r" b="b"/>
              <a:pathLst>
                <a:path w="4813300" h="749300">
                  <a:moveTo>
                    <a:pt x="0" y="0"/>
                  </a:moveTo>
                  <a:lnTo>
                    <a:pt x="4813300" y="0"/>
                  </a:lnTo>
                  <a:lnTo>
                    <a:pt x="4813300" y="749300"/>
                  </a:lnTo>
                  <a:lnTo>
                    <a:pt x="0" y="749300"/>
                  </a:lnTo>
                  <a:lnTo>
                    <a:pt x="0" y="0"/>
                  </a:lnTo>
                  <a:close/>
                </a:path>
              </a:pathLst>
            </a:custGeom>
            <a:blipFill>
              <a:blip r:embed="rId4"/>
              <a:stretch>
                <a:fillRect/>
              </a:stretch>
            </a:blipFill>
          </p:spPr>
        </p:sp>
      </p:grpSp>
      <p:grpSp>
        <p:nvGrpSpPr>
          <p:cNvPr id="8" name="Group 8"/>
          <p:cNvGrpSpPr/>
          <p:nvPr/>
        </p:nvGrpSpPr>
        <p:grpSpPr>
          <a:xfrm>
            <a:off x="49216" y="8017116"/>
            <a:ext cx="15916275" cy="390525"/>
            <a:chOff x="0" y="0"/>
            <a:chExt cx="21221700" cy="520700"/>
          </a:xfrm>
        </p:grpSpPr>
        <p:sp>
          <p:nvSpPr>
            <p:cNvPr id="9" name="Freeform 9"/>
            <p:cNvSpPr/>
            <p:nvPr/>
          </p:nvSpPr>
          <p:spPr>
            <a:xfrm>
              <a:off x="0" y="0"/>
              <a:ext cx="21221700" cy="520700"/>
            </a:xfrm>
            <a:custGeom>
              <a:avLst/>
              <a:gdLst/>
              <a:ahLst/>
              <a:cxnLst/>
              <a:rect l="l" t="t" r="r" b="b"/>
              <a:pathLst>
                <a:path w="21221700" h="520700">
                  <a:moveTo>
                    <a:pt x="0" y="0"/>
                  </a:moveTo>
                  <a:lnTo>
                    <a:pt x="21221700" y="0"/>
                  </a:lnTo>
                  <a:lnTo>
                    <a:pt x="21221700" y="520700"/>
                  </a:lnTo>
                  <a:lnTo>
                    <a:pt x="0" y="520700"/>
                  </a:lnTo>
                  <a:lnTo>
                    <a:pt x="0" y="0"/>
                  </a:lnTo>
                  <a:close/>
                </a:path>
              </a:pathLst>
            </a:custGeom>
            <a:blipFill>
              <a:blip r:embed="rId5"/>
              <a:stretch>
                <a:fillRect/>
              </a:stretch>
            </a:blipFill>
          </p:spPr>
        </p:sp>
      </p:grpSp>
      <p:grpSp>
        <p:nvGrpSpPr>
          <p:cNvPr id="10" name="Group 10"/>
          <p:cNvGrpSpPr/>
          <p:nvPr/>
        </p:nvGrpSpPr>
        <p:grpSpPr>
          <a:xfrm>
            <a:off x="14064891" y="8207550"/>
            <a:ext cx="962025" cy="200025"/>
            <a:chOff x="0" y="0"/>
            <a:chExt cx="1282700" cy="266700"/>
          </a:xfrm>
        </p:grpSpPr>
        <p:sp>
          <p:nvSpPr>
            <p:cNvPr id="11" name="Freeform 11"/>
            <p:cNvSpPr/>
            <p:nvPr/>
          </p:nvSpPr>
          <p:spPr>
            <a:xfrm>
              <a:off x="0" y="0"/>
              <a:ext cx="1282700" cy="266700"/>
            </a:xfrm>
            <a:custGeom>
              <a:avLst/>
              <a:gdLst/>
              <a:ahLst/>
              <a:cxnLst/>
              <a:rect l="l" t="t" r="r" b="b"/>
              <a:pathLst>
                <a:path w="1282700" h="266700">
                  <a:moveTo>
                    <a:pt x="0" y="0"/>
                  </a:moveTo>
                  <a:lnTo>
                    <a:pt x="1282700" y="0"/>
                  </a:lnTo>
                  <a:lnTo>
                    <a:pt x="1282700" y="266700"/>
                  </a:lnTo>
                  <a:lnTo>
                    <a:pt x="0" y="266700"/>
                  </a:lnTo>
                  <a:lnTo>
                    <a:pt x="0" y="0"/>
                  </a:lnTo>
                  <a:close/>
                </a:path>
              </a:pathLst>
            </a:custGeom>
            <a:blipFill>
              <a:blip r:embed="rId6"/>
              <a:stretch>
                <a:fillRect/>
              </a:stretch>
            </a:blipFill>
          </p:spPr>
        </p:sp>
      </p:grpSp>
      <p:grpSp>
        <p:nvGrpSpPr>
          <p:cNvPr id="12" name="Group 12"/>
          <p:cNvGrpSpPr/>
          <p:nvPr/>
        </p:nvGrpSpPr>
        <p:grpSpPr>
          <a:xfrm>
            <a:off x="842867" y="34623"/>
            <a:ext cx="1933575" cy="828675"/>
            <a:chOff x="0" y="0"/>
            <a:chExt cx="2578100" cy="1104900"/>
          </a:xfrm>
        </p:grpSpPr>
        <p:sp>
          <p:nvSpPr>
            <p:cNvPr id="13" name="Freeform 13"/>
            <p:cNvSpPr/>
            <p:nvPr/>
          </p:nvSpPr>
          <p:spPr>
            <a:xfrm>
              <a:off x="0" y="0"/>
              <a:ext cx="2578100" cy="1104900"/>
            </a:xfrm>
            <a:custGeom>
              <a:avLst/>
              <a:gdLst/>
              <a:ahLst/>
              <a:cxnLst/>
              <a:rect l="l" t="t" r="r" b="b"/>
              <a:pathLst>
                <a:path w="2578100" h="1104900">
                  <a:moveTo>
                    <a:pt x="0" y="0"/>
                  </a:moveTo>
                  <a:lnTo>
                    <a:pt x="2578100" y="0"/>
                  </a:lnTo>
                  <a:lnTo>
                    <a:pt x="2578100" y="1104900"/>
                  </a:lnTo>
                  <a:lnTo>
                    <a:pt x="0" y="1104900"/>
                  </a:lnTo>
                  <a:lnTo>
                    <a:pt x="0" y="0"/>
                  </a:lnTo>
                  <a:close/>
                </a:path>
              </a:pathLst>
            </a:custGeom>
            <a:blipFill>
              <a:blip r:embed="rId7"/>
              <a:stretch>
                <a:fillRect l="-2137" t="-27513" r="-4759" b="-42601"/>
              </a:stretch>
            </a:blipFill>
          </p:spPr>
        </p:sp>
      </p:grpSp>
      <p:grpSp>
        <p:nvGrpSpPr>
          <p:cNvPr id="14" name="Group 14"/>
          <p:cNvGrpSpPr/>
          <p:nvPr/>
        </p:nvGrpSpPr>
        <p:grpSpPr>
          <a:xfrm>
            <a:off x="0" y="27851"/>
            <a:ext cx="590550" cy="828675"/>
            <a:chOff x="0" y="0"/>
            <a:chExt cx="787400" cy="1104900"/>
          </a:xfrm>
        </p:grpSpPr>
        <p:sp>
          <p:nvSpPr>
            <p:cNvPr id="15" name="Freeform 15"/>
            <p:cNvSpPr/>
            <p:nvPr/>
          </p:nvSpPr>
          <p:spPr>
            <a:xfrm>
              <a:off x="0" y="0"/>
              <a:ext cx="787400" cy="1104900"/>
            </a:xfrm>
            <a:custGeom>
              <a:avLst/>
              <a:gdLst/>
              <a:ahLst/>
              <a:cxnLst/>
              <a:rect l="l" t="t" r="r" b="b"/>
              <a:pathLst>
                <a:path w="787400" h="1104900">
                  <a:moveTo>
                    <a:pt x="0" y="0"/>
                  </a:moveTo>
                  <a:lnTo>
                    <a:pt x="787400" y="0"/>
                  </a:lnTo>
                  <a:lnTo>
                    <a:pt x="787400" y="1104900"/>
                  </a:lnTo>
                  <a:lnTo>
                    <a:pt x="0" y="1104900"/>
                  </a:lnTo>
                  <a:lnTo>
                    <a:pt x="0" y="0"/>
                  </a:lnTo>
                  <a:close/>
                </a:path>
              </a:pathLst>
            </a:custGeom>
            <a:blipFill>
              <a:blip r:embed="rId8"/>
              <a:stretch>
                <a:fillRect/>
              </a:stretch>
            </a:blipFill>
          </p:spPr>
        </p:sp>
      </p:grpSp>
      <p:sp>
        <p:nvSpPr>
          <p:cNvPr id="16" name="Freeform 16"/>
          <p:cNvSpPr/>
          <p:nvPr/>
        </p:nvSpPr>
        <p:spPr>
          <a:xfrm>
            <a:off x="757990" y="68456"/>
            <a:ext cx="28575" cy="824970"/>
          </a:xfrm>
          <a:custGeom>
            <a:avLst/>
            <a:gdLst/>
            <a:ahLst/>
            <a:cxnLst/>
            <a:rect l="l" t="t" r="r" b="b"/>
            <a:pathLst>
              <a:path w="28575" h="824970">
                <a:moveTo>
                  <a:pt x="0" y="0"/>
                </a:moveTo>
                <a:lnTo>
                  <a:pt x="28575" y="0"/>
                </a:lnTo>
                <a:lnTo>
                  <a:pt x="28575" y="824970"/>
                </a:lnTo>
                <a:lnTo>
                  <a:pt x="0" y="824970"/>
                </a:lnTo>
                <a:lnTo>
                  <a:pt x="0" y="0"/>
                </a:lnTo>
                <a:close/>
              </a:path>
            </a:pathLst>
          </a:custGeom>
          <a:blipFill>
            <a:blip>
              <a:extLst>
                <a:ext uri="{96DAC541-7B7A-43D3-8B79-37D633B846F1}">
                  <asvg:svgBlip xmlns:asvg="http://schemas.microsoft.com/office/drawing/2016/SVG/main" r:embed="rId9"/>
                </a:ext>
              </a:extLst>
            </a:blip>
            <a:stretch>
              <a:fillRect/>
            </a:stretch>
          </a:blipFill>
        </p:spPr>
      </p:sp>
      <p:grpSp>
        <p:nvGrpSpPr>
          <p:cNvPr id="17" name="Group 17"/>
          <p:cNvGrpSpPr/>
          <p:nvPr/>
        </p:nvGrpSpPr>
        <p:grpSpPr>
          <a:xfrm>
            <a:off x="14064891" y="76733"/>
            <a:ext cx="1819275" cy="1038225"/>
            <a:chOff x="0" y="0"/>
            <a:chExt cx="2425700" cy="1384300"/>
          </a:xfrm>
        </p:grpSpPr>
        <p:sp>
          <p:nvSpPr>
            <p:cNvPr id="18" name="Freeform 18"/>
            <p:cNvSpPr/>
            <p:nvPr/>
          </p:nvSpPr>
          <p:spPr>
            <a:xfrm>
              <a:off x="0" y="0"/>
              <a:ext cx="2425700" cy="1384300"/>
            </a:xfrm>
            <a:custGeom>
              <a:avLst/>
              <a:gdLst/>
              <a:ahLst/>
              <a:cxnLst/>
              <a:rect l="l" t="t" r="r" b="b"/>
              <a:pathLst>
                <a:path w="2425700" h="1384300">
                  <a:moveTo>
                    <a:pt x="0" y="0"/>
                  </a:moveTo>
                  <a:lnTo>
                    <a:pt x="2425700" y="0"/>
                  </a:lnTo>
                  <a:lnTo>
                    <a:pt x="2425700" y="1384300"/>
                  </a:lnTo>
                  <a:lnTo>
                    <a:pt x="0" y="1384300"/>
                  </a:lnTo>
                  <a:lnTo>
                    <a:pt x="0" y="0"/>
                  </a:lnTo>
                  <a:close/>
                </a:path>
              </a:pathLst>
            </a:custGeom>
            <a:blipFill>
              <a:blip r:embed="rId10"/>
              <a:stretch>
                <a:fillRect/>
              </a:stretch>
            </a:blipFill>
          </p:spPr>
        </p:sp>
      </p:grpSp>
      <p:grpSp>
        <p:nvGrpSpPr>
          <p:cNvPr id="19" name="Group 19"/>
          <p:cNvGrpSpPr/>
          <p:nvPr/>
        </p:nvGrpSpPr>
        <p:grpSpPr>
          <a:xfrm>
            <a:off x="758000" y="68475"/>
            <a:ext cx="28575" cy="824970"/>
            <a:chOff x="0" y="0"/>
            <a:chExt cx="28575" cy="824979"/>
          </a:xfrm>
        </p:grpSpPr>
        <p:sp>
          <p:nvSpPr>
            <p:cNvPr id="20" name="Freeform 20"/>
            <p:cNvSpPr/>
            <p:nvPr/>
          </p:nvSpPr>
          <p:spPr>
            <a:xfrm>
              <a:off x="0" y="0"/>
              <a:ext cx="28575" cy="824997"/>
            </a:xfrm>
            <a:custGeom>
              <a:avLst/>
              <a:gdLst/>
              <a:ahLst/>
              <a:cxnLst/>
              <a:rect l="l" t="t" r="r" b="b"/>
              <a:pathLst>
                <a:path w="28575" h="824997">
                  <a:moveTo>
                    <a:pt x="0" y="824997"/>
                  </a:moveTo>
                  <a:lnTo>
                    <a:pt x="28575" y="824997"/>
                  </a:lnTo>
                  <a:lnTo>
                    <a:pt x="28575" y="0"/>
                  </a:lnTo>
                  <a:lnTo>
                    <a:pt x="0" y="0"/>
                  </a:lnTo>
                  <a:close/>
                </a:path>
              </a:pathLst>
            </a:custGeom>
            <a:solidFill>
              <a:srgbClr val="000000">
                <a:alpha val="0"/>
              </a:srgbClr>
            </a:solidFill>
          </p:spPr>
        </p:sp>
      </p:grpSp>
      <p:grpSp>
        <p:nvGrpSpPr>
          <p:cNvPr id="21" name="Group 21"/>
          <p:cNvGrpSpPr/>
          <p:nvPr/>
        </p:nvGrpSpPr>
        <p:grpSpPr>
          <a:xfrm>
            <a:off x="8257193" y="1214028"/>
            <a:ext cx="7483953" cy="4494965"/>
            <a:chOff x="0" y="0"/>
            <a:chExt cx="2269476" cy="1363079"/>
          </a:xfrm>
        </p:grpSpPr>
        <p:sp>
          <p:nvSpPr>
            <p:cNvPr id="22" name="Freeform 22"/>
            <p:cNvSpPr/>
            <p:nvPr/>
          </p:nvSpPr>
          <p:spPr>
            <a:xfrm>
              <a:off x="0" y="0"/>
              <a:ext cx="2269476" cy="1363079"/>
            </a:xfrm>
            <a:custGeom>
              <a:avLst/>
              <a:gdLst/>
              <a:ahLst/>
              <a:cxnLst/>
              <a:rect l="l" t="t" r="r" b="b"/>
              <a:pathLst>
                <a:path w="2269476" h="1363079">
                  <a:moveTo>
                    <a:pt x="0" y="0"/>
                  </a:moveTo>
                  <a:lnTo>
                    <a:pt x="2269476" y="0"/>
                  </a:lnTo>
                  <a:lnTo>
                    <a:pt x="2269476" y="1363079"/>
                  </a:lnTo>
                  <a:lnTo>
                    <a:pt x="0" y="1363079"/>
                  </a:lnTo>
                  <a:close/>
                </a:path>
              </a:pathLst>
            </a:custGeom>
            <a:solidFill>
              <a:srgbClr val="000000"/>
            </a:solidFill>
          </p:spPr>
        </p:sp>
        <p:sp>
          <p:nvSpPr>
            <p:cNvPr id="23" name="TextBox 23"/>
            <p:cNvSpPr txBox="1"/>
            <p:nvPr/>
          </p:nvSpPr>
          <p:spPr>
            <a:xfrm>
              <a:off x="0" y="-57150"/>
              <a:ext cx="2269476" cy="1420229"/>
            </a:xfrm>
            <a:prstGeom prst="rect">
              <a:avLst/>
            </a:prstGeom>
          </p:spPr>
          <p:txBody>
            <a:bodyPr lIns="50800" tIns="50800" rIns="50800" bIns="50800" rtlCol="0" anchor="ctr"/>
            <a:lstStyle/>
            <a:p>
              <a:pPr algn="ctr">
                <a:lnSpc>
                  <a:spcPts val="2904"/>
                </a:lnSpc>
              </a:pPr>
              <a:endParaRPr/>
            </a:p>
          </p:txBody>
        </p:sp>
      </p:grpSp>
      <p:sp>
        <p:nvSpPr>
          <p:cNvPr id="24" name="Freeform 24"/>
          <p:cNvSpPr/>
          <p:nvPr/>
        </p:nvSpPr>
        <p:spPr>
          <a:xfrm>
            <a:off x="8382860" y="5708993"/>
            <a:ext cx="3750653" cy="2008944"/>
          </a:xfrm>
          <a:custGeom>
            <a:avLst/>
            <a:gdLst/>
            <a:ahLst/>
            <a:cxnLst/>
            <a:rect l="l" t="t" r="r" b="b"/>
            <a:pathLst>
              <a:path w="3750653" h="2008944">
                <a:moveTo>
                  <a:pt x="0" y="0"/>
                </a:moveTo>
                <a:lnTo>
                  <a:pt x="3750653" y="0"/>
                </a:lnTo>
                <a:lnTo>
                  <a:pt x="3750653" y="2008944"/>
                </a:lnTo>
                <a:lnTo>
                  <a:pt x="0" y="2008944"/>
                </a:lnTo>
                <a:lnTo>
                  <a:pt x="0" y="0"/>
                </a:lnTo>
                <a:close/>
              </a:path>
            </a:pathLst>
          </a:custGeom>
          <a:blipFill>
            <a:blip r:embed="rId11"/>
            <a:stretch>
              <a:fillRect/>
            </a:stretch>
          </a:blipFill>
        </p:spPr>
      </p:sp>
      <p:sp>
        <p:nvSpPr>
          <p:cNvPr id="25" name="TextBox 25"/>
          <p:cNvSpPr txBox="1"/>
          <p:nvPr/>
        </p:nvSpPr>
        <p:spPr>
          <a:xfrm>
            <a:off x="428488" y="2359178"/>
            <a:ext cx="7632872" cy="5444015"/>
          </a:xfrm>
          <a:prstGeom prst="rect">
            <a:avLst/>
          </a:prstGeom>
        </p:spPr>
        <p:txBody>
          <a:bodyPr lIns="0" tIns="0" rIns="0" bIns="0" rtlCol="0" anchor="t">
            <a:spAutoFit/>
          </a:bodyPr>
          <a:lstStyle/>
          <a:p>
            <a:pPr algn="l">
              <a:lnSpc>
                <a:spcPts val="3331"/>
              </a:lnSpc>
            </a:pPr>
            <a:r>
              <a:rPr lang="en-US" sz="2379">
                <a:solidFill>
                  <a:srgbClr val="55C226"/>
                </a:solidFill>
                <a:latin typeface="Bank Gothic Medium"/>
                <a:ea typeface="Bank Gothic Medium"/>
                <a:cs typeface="Bank Gothic Medium"/>
                <a:sym typeface="Bank Gothic Medium"/>
              </a:rPr>
              <a:t>Key Features</a:t>
            </a:r>
          </a:p>
          <a:p>
            <a:pPr algn="l">
              <a:lnSpc>
                <a:spcPts val="2390"/>
              </a:lnSpc>
            </a:pPr>
            <a:endParaRPr lang="en-US" sz="2379">
              <a:solidFill>
                <a:srgbClr val="55C226"/>
              </a:solidFill>
              <a:latin typeface="Bank Gothic Medium"/>
              <a:ea typeface="Bank Gothic Medium"/>
              <a:cs typeface="Bank Gothic Medium"/>
              <a:sym typeface="Bank Gothic Medium"/>
            </a:endParaRPr>
          </a:p>
          <a:p>
            <a:pPr algn="l">
              <a:lnSpc>
                <a:spcPts val="2390"/>
              </a:lnSpc>
              <a:spcBef>
                <a:spcPct val="0"/>
              </a:spcBef>
            </a:pPr>
            <a:r>
              <a:rPr lang="en-US" sz="1707">
                <a:solidFill>
                  <a:srgbClr val="55C226"/>
                </a:solidFill>
                <a:latin typeface="Bank Gothic Medium"/>
                <a:ea typeface="Bank Gothic Medium"/>
                <a:cs typeface="Bank Gothic Medium"/>
                <a:sym typeface="Bank Gothic Medium"/>
              </a:rPr>
              <a:t>1. Unified Security Integration:</a:t>
            </a:r>
          </a:p>
          <a:p>
            <a:pPr algn="l">
              <a:lnSpc>
                <a:spcPts val="2390"/>
              </a:lnSpc>
              <a:spcBef>
                <a:spcPct val="0"/>
              </a:spcBef>
            </a:pPr>
            <a:r>
              <a:rPr lang="en-US" sz="1707" b="1">
                <a:solidFill>
                  <a:srgbClr val="FFFFFF"/>
                </a:solidFill>
                <a:latin typeface="Quicksand Medium"/>
                <a:ea typeface="Quicksand Medium"/>
                <a:cs typeface="Quicksand Medium"/>
                <a:sym typeface="Quicksand Medium"/>
              </a:rPr>
              <a:t>Unified cybersecurity solutions through APIs and webhooks to consolidate the security events of various tools on a common platform.</a:t>
            </a:r>
          </a:p>
          <a:p>
            <a:pPr algn="l">
              <a:lnSpc>
                <a:spcPts val="2390"/>
              </a:lnSpc>
              <a:spcBef>
                <a:spcPct val="0"/>
              </a:spcBef>
            </a:pPr>
            <a:endParaRPr lang="en-US" sz="1707" b="1">
              <a:solidFill>
                <a:srgbClr val="FFFFFF"/>
              </a:solidFill>
              <a:latin typeface="Quicksand Medium"/>
              <a:ea typeface="Quicksand Medium"/>
              <a:cs typeface="Quicksand Medium"/>
              <a:sym typeface="Quicksand Medium"/>
            </a:endParaRPr>
          </a:p>
          <a:p>
            <a:pPr algn="l">
              <a:lnSpc>
                <a:spcPts val="2390"/>
              </a:lnSpc>
              <a:spcBef>
                <a:spcPct val="0"/>
              </a:spcBef>
            </a:pPr>
            <a:r>
              <a:rPr lang="en-US" sz="1707">
                <a:solidFill>
                  <a:srgbClr val="55C226"/>
                </a:solidFill>
                <a:latin typeface="Bank Gothic Medium"/>
                <a:ea typeface="Bank Gothic Medium"/>
                <a:cs typeface="Bank Gothic Medium"/>
                <a:sym typeface="Bank Gothic Medium"/>
              </a:rPr>
              <a:t>2. Financial Cyber Risk Quantification:</a:t>
            </a:r>
          </a:p>
          <a:p>
            <a:pPr algn="l">
              <a:lnSpc>
                <a:spcPts val="2390"/>
              </a:lnSpc>
              <a:spcBef>
                <a:spcPct val="0"/>
              </a:spcBef>
            </a:pPr>
            <a:r>
              <a:rPr lang="en-US" sz="1707" b="1">
                <a:solidFill>
                  <a:srgbClr val="FFFFFF"/>
                </a:solidFill>
                <a:latin typeface="Quicksand Medium"/>
                <a:ea typeface="Quicksand Medium"/>
                <a:cs typeface="Quicksand Medium"/>
                <a:sym typeface="Quicksand Medium"/>
              </a:rPr>
              <a:t>Financial impact estimation of the cyber risk using open FAIR-inspired models and optimized the allocated security budget using mixed-integer linear programming.</a:t>
            </a:r>
          </a:p>
          <a:p>
            <a:pPr algn="l">
              <a:lnSpc>
                <a:spcPts val="2390"/>
              </a:lnSpc>
              <a:spcBef>
                <a:spcPct val="0"/>
              </a:spcBef>
            </a:pPr>
            <a:endParaRPr lang="en-US" sz="1707" b="1">
              <a:solidFill>
                <a:srgbClr val="FFFFFF"/>
              </a:solidFill>
              <a:latin typeface="Quicksand Medium"/>
              <a:ea typeface="Quicksand Medium"/>
              <a:cs typeface="Quicksand Medium"/>
              <a:sym typeface="Quicksand Medium"/>
            </a:endParaRPr>
          </a:p>
          <a:p>
            <a:pPr algn="l">
              <a:lnSpc>
                <a:spcPts val="2390"/>
              </a:lnSpc>
              <a:spcBef>
                <a:spcPct val="0"/>
              </a:spcBef>
            </a:pPr>
            <a:r>
              <a:rPr lang="en-US" sz="1707">
                <a:solidFill>
                  <a:srgbClr val="55C226"/>
                </a:solidFill>
                <a:latin typeface="Bank Gothic Medium"/>
                <a:ea typeface="Bank Gothic Medium"/>
                <a:cs typeface="Bank Gothic Medium"/>
                <a:sym typeface="Bank Gothic Medium"/>
              </a:rPr>
              <a:t>3. Real-Time Risk Alerts:</a:t>
            </a:r>
          </a:p>
          <a:p>
            <a:pPr algn="l">
              <a:lnSpc>
                <a:spcPts val="2390"/>
              </a:lnSpc>
              <a:spcBef>
                <a:spcPct val="0"/>
              </a:spcBef>
            </a:pPr>
            <a:r>
              <a:rPr lang="en-US" sz="1707" b="1">
                <a:solidFill>
                  <a:srgbClr val="FFFFFF"/>
                </a:solidFill>
                <a:latin typeface="Quicksand Medium"/>
                <a:ea typeface="Quicksand Medium"/>
                <a:cs typeface="Quicksand Medium"/>
                <a:sym typeface="Quicksand Medium"/>
              </a:rPr>
              <a:t>Setting financial thresholds for triaging the risk in case of an incident thus enabling faster response to the most critical incidents</a:t>
            </a:r>
          </a:p>
          <a:p>
            <a:pPr algn="l">
              <a:lnSpc>
                <a:spcPts val="2390"/>
              </a:lnSpc>
              <a:spcBef>
                <a:spcPct val="0"/>
              </a:spcBef>
            </a:pPr>
            <a:endParaRPr lang="en-US" sz="1707" b="1">
              <a:solidFill>
                <a:srgbClr val="FFFFFF"/>
              </a:solidFill>
              <a:latin typeface="Quicksand Medium"/>
              <a:ea typeface="Quicksand Medium"/>
              <a:cs typeface="Quicksand Medium"/>
              <a:sym typeface="Quicksand Medium"/>
            </a:endParaRPr>
          </a:p>
          <a:p>
            <a:pPr algn="l">
              <a:lnSpc>
                <a:spcPts val="2390"/>
              </a:lnSpc>
              <a:spcBef>
                <a:spcPct val="0"/>
              </a:spcBef>
            </a:pPr>
            <a:r>
              <a:rPr lang="en-US" sz="1707">
                <a:solidFill>
                  <a:srgbClr val="55C226"/>
                </a:solidFill>
                <a:latin typeface="Bank Gothic Medium"/>
                <a:ea typeface="Bank Gothic Medium"/>
                <a:cs typeface="Bank Gothic Medium"/>
                <a:sym typeface="Bank Gothic Medium"/>
              </a:rPr>
              <a:t>4. Automated Compliance Reporting:</a:t>
            </a:r>
          </a:p>
          <a:p>
            <a:pPr algn="l">
              <a:lnSpc>
                <a:spcPts val="2390"/>
              </a:lnSpc>
              <a:spcBef>
                <a:spcPct val="0"/>
              </a:spcBef>
            </a:pPr>
            <a:r>
              <a:rPr lang="en-US" sz="1707" b="1">
                <a:solidFill>
                  <a:srgbClr val="FFFFFF"/>
                </a:solidFill>
                <a:latin typeface="Quicksand Medium"/>
                <a:ea typeface="Quicksand Medium"/>
                <a:cs typeface="Quicksand Medium"/>
                <a:sym typeface="Quicksand Medium"/>
              </a:rPr>
              <a:t>Generated standardized PDF reports of the incident to ease the auditing process for the relevant RBI and CERT-In regulations.</a:t>
            </a:r>
          </a:p>
        </p:txBody>
      </p:sp>
      <p:sp>
        <p:nvSpPr>
          <p:cNvPr id="26" name="TextBox 26"/>
          <p:cNvSpPr txBox="1"/>
          <p:nvPr/>
        </p:nvSpPr>
        <p:spPr>
          <a:xfrm>
            <a:off x="861422" y="1429541"/>
            <a:ext cx="6578851" cy="710708"/>
          </a:xfrm>
          <a:prstGeom prst="rect">
            <a:avLst/>
          </a:prstGeom>
        </p:spPr>
        <p:txBody>
          <a:bodyPr lIns="0" tIns="0" rIns="0" bIns="0" rtlCol="0" anchor="t">
            <a:spAutoFit/>
          </a:bodyPr>
          <a:lstStyle/>
          <a:p>
            <a:pPr algn="l">
              <a:lnSpc>
                <a:spcPts val="5840"/>
              </a:lnSpc>
            </a:pPr>
            <a:r>
              <a:rPr lang="en-US" sz="4171">
                <a:solidFill>
                  <a:srgbClr val="4AF66D"/>
                </a:solidFill>
                <a:latin typeface="Bank Gothic Medium"/>
                <a:ea typeface="Bank Gothic Medium"/>
                <a:cs typeface="Bank Gothic Medium"/>
                <a:sym typeface="Bank Gothic Medium"/>
              </a:rPr>
              <a:t>Key Features &amp; UI/UX</a:t>
            </a:r>
          </a:p>
        </p:txBody>
      </p:sp>
      <p:sp>
        <p:nvSpPr>
          <p:cNvPr id="27" name="TextBox 27"/>
          <p:cNvSpPr txBox="1"/>
          <p:nvPr/>
        </p:nvSpPr>
        <p:spPr>
          <a:xfrm>
            <a:off x="8382860" y="1310489"/>
            <a:ext cx="7501307" cy="4195217"/>
          </a:xfrm>
          <a:prstGeom prst="rect">
            <a:avLst/>
          </a:prstGeom>
        </p:spPr>
        <p:txBody>
          <a:bodyPr lIns="0" tIns="0" rIns="0" bIns="0" rtlCol="0" anchor="t">
            <a:spAutoFit/>
          </a:bodyPr>
          <a:lstStyle/>
          <a:p>
            <a:pPr algn="l">
              <a:lnSpc>
                <a:spcPts val="3337"/>
              </a:lnSpc>
            </a:pPr>
            <a:r>
              <a:rPr lang="en-US" sz="2383">
                <a:solidFill>
                  <a:srgbClr val="55C226"/>
                </a:solidFill>
                <a:latin typeface="Bank Gothic Medium"/>
                <a:ea typeface="Bank Gothic Medium"/>
                <a:cs typeface="Bank Gothic Medium"/>
                <a:sym typeface="Bank Gothic Medium"/>
              </a:rPr>
              <a:t>ui /ux</a:t>
            </a:r>
          </a:p>
          <a:p>
            <a:pPr algn="l">
              <a:lnSpc>
                <a:spcPts val="2497"/>
              </a:lnSpc>
            </a:pPr>
            <a:endParaRPr lang="en-US" sz="2383">
              <a:solidFill>
                <a:srgbClr val="55C226"/>
              </a:solidFill>
              <a:latin typeface="Bank Gothic Medium"/>
              <a:ea typeface="Bank Gothic Medium"/>
              <a:cs typeface="Bank Gothic Medium"/>
              <a:sym typeface="Bank Gothic Medium"/>
            </a:endParaRPr>
          </a:p>
          <a:p>
            <a:pPr algn="l">
              <a:lnSpc>
                <a:spcPts val="2497"/>
              </a:lnSpc>
              <a:spcBef>
                <a:spcPct val="0"/>
              </a:spcBef>
            </a:pPr>
            <a:r>
              <a:rPr lang="en-US" sz="1783">
                <a:solidFill>
                  <a:srgbClr val="55C226"/>
                </a:solidFill>
                <a:latin typeface="Bank Gothic Medium"/>
                <a:ea typeface="Bank Gothic Medium"/>
                <a:cs typeface="Bank Gothic Medium"/>
                <a:sym typeface="Bank Gothic Medium"/>
              </a:rPr>
              <a:t>1. Centralized security dashboard:</a:t>
            </a:r>
          </a:p>
          <a:p>
            <a:pPr algn="l">
              <a:lnSpc>
                <a:spcPts val="2497"/>
              </a:lnSpc>
              <a:spcBef>
                <a:spcPct val="0"/>
              </a:spcBef>
            </a:pPr>
            <a:r>
              <a:rPr lang="en-US" sz="1783" b="1">
                <a:solidFill>
                  <a:srgbClr val="FFFFFF"/>
                </a:solidFill>
                <a:latin typeface="Quicksand Medium"/>
                <a:ea typeface="Quicksand Medium"/>
                <a:cs typeface="Quicksand Medium"/>
                <a:sym typeface="Quicksand Medium"/>
              </a:rPr>
              <a:t>The dashboard offers a birds-eye view of security incidents, financial exposure, connected tools and critical alerts.</a:t>
            </a:r>
          </a:p>
          <a:p>
            <a:pPr algn="l">
              <a:lnSpc>
                <a:spcPts val="2497"/>
              </a:lnSpc>
              <a:spcBef>
                <a:spcPct val="0"/>
              </a:spcBef>
            </a:pPr>
            <a:endParaRPr lang="en-US" sz="1783" b="1">
              <a:solidFill>
                <a:srgbClr val="FFFFFF"/>
              </a:solidFill>
              <a:latin typeface="Quicksand Medium"/>
              <a:ea typeface="Quicksand Medium"/>
              <a:cs typeface="Quicksand Medium"/>
              <a:sym typeface="Quicksand Medium"/>
            </a:endParaRPr>
          </a:p>
          <a:p>
            <a:pPr algn="l">
              <a:lnSpc>
                <a:spcPts val="2497"/>
              </a:lnSpc>
              <a:spcBef>
                <a:spcPct val="0"/>
              </a:spcBef>
            </a:pPr>
            <a:r>
              <a:rPr lang="en-US" sz="1783">
                <a:solidFill>
                  <a:srgbClr val="55C226"/>
                </a:solidFill>
                <a:latin typeface="Bank Gothic Medium"/>
                <a:ea typeface="Bank Gothic Medium"/>
                <a:cs typeface="Bank Gothic Medium"/>
                <a:sym typeface="Bank Gothic Medium"/>
              </a:rPr>
              <a:t>2. Visual risk analytics: </a:t>
            </a:r>
          </a:p>
          <a:p>
            <a:pPr algn="l">
              <a:lnSpc>
                <a:spcPts val="2497"/>
              </a:lnSpc>
              <a:spcBef>
                <a:spcPct val="0"/>
              </a:spcBef>
            </a:pPr>
            <a:r>
              <a:rPr lang="en-US" sz="1783" b="1">
                <a:solidFill>
                  <a:srgbClr val="FFFFFF"/>
                </a:solidFill>
                <a:latin typeface="Quicksand Medium"/>
                <a:ea typeface="Quicksand Medium"/>
                <a:cs typeface="Quicksand Medium"/>
                <a:sym typeface="Quicksand Medium"/>
              </a:rPr>
              <a:t>It displays information on financial losses, risk trends and threat severity as charts or graphs using intuitive colors.</a:t>
            </a:r>
          </a:p>
          <a:p>
            <a:pPr algn="l">
              <a:lnSpc>
                <a:spcPts val="2497"/>
              </a:lnSpc>
              <a:spcBef>
                <a:spcPct val="0"/>
              </a:spcBef>
            </a:pPr>
            <a:endParaRPr lang="en-US" sz="1783" b="1">
              <a:solidFill>
                <a:srgbClr val="FFFFFF"/>
              </a:solidFill>
              <a:latin typeface="Quicksand Medium"/>
              <a:ea typeface="Quicksand Medium"/>
              <a:cs typeface="Quicksand Medium"/>
              <a:sym typeface="Quicksand Medium"/>
            </a:endParaRPr>
          </a:p>
          <a:p>
            <a:pPr algn="l">
              <a:lnSpc>
                <a:spcPts val="2497"/>
              </a:lnSpc>
              <a:spcBef>
                <a:spcPct val="0"/>
              </a:spcBef>
            </a:pPr>
            <a:r>
              <a:rPr lang="en-US" sz="1783">
                <a:solidFill>
                  <a:srgbClr val="55C226"/>
                </a:solidFill>
                <a:latin typeface="Bank Gothic Medium"/>
                <a:ea typeface="Bank Gothic Medium"/>
                <a:cs typeface="Bank Gothic Medium"/>
                <a:sym typeface="Bank Gothic Medium"/>
              </a:rPr>
              <a:t>3. Interactive incident management: </a:t>
            </a:r>
          </a:p>
          <a:p>
            <a:pPr algn="l">
              <a:lnSpc>
                <a:spcPts val="2497"/>
              </a:lnSpc>
              <a:spcBef>
                <a:spcPct val="0"/>
              </a:spcBef>
            </a:pPr>
            <a:r>
              <a:rPr lang="en-US" sz="1783" b="1">
                <a:solidFill>
                  <a:srgbClr val="FFFFFF"/>
                </a:solidFill>
                <a:latin typeface="Quicksand Medium"/>
                <a:ea typeface="Quicksand Medium"/>
                <a:cs typeface="Quicksand Medium"/>
                <a:sym typeface="Quicksand Medium"/>
              </a:rPr>
              <a:t>Users can search, filter, prioritize and investigate incidents in detail with an in-depth view of the events.</a:t>
            </a:r>
          </a:p>
        </p:txBody>
      </p:sp>
      <p:sp>
        <p:nvSpPr>
          <p:cNvPr id="28" name="Freeform 28"/>
          <p:cNvSpPr/>
          <p:nvPr/>
        </p:nvSpPr>
        <p:spPr>
          <a:xfrm>
            <a:off x="12224043" y="5708993"/>
            <a:ext cx="3660123" cy="1944440"/>
          </a:xfrm>
          <a:custGeom>
            <a:avLst/>
            <a:gdLst/>
            <a:ahLst/>
            <a:cxnLst/>
            <a:rect l="l" t="t" r="r" b="b"/>
            <a:pathLst>
              <a:path w="3660123" h="1944440">
                <a:moveTo>
                  <a:pt x="0" y="0"/>
                </a:moveTo>
                <a:lnTo>
                  <a:pt x="3660123" y="0"/>
                </a:lnTo>
                <a:lnTo>
                  <a:pt x="3660123" y="1944440"/>
                </a:lnTo>
                <a:lnTo>
                  <a:pt x="0" y="1944440"/>
                </a:lnTo>
                <a:lnTo>
                  <a:pt x="0" y="0"/>
                </a:lnTo>
                <a:close/>
              </a:path>
            </a:pathLst>
          </a:custGeom>
          <a:blipFill>
            <a:blip r:embed="rId12"/>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3309" y="8963"/>
            <a:ext cx="15948088" cy="8925487"/>
            <a:chOff x="0" y="0"/>
            <a:chExt cx="21264118" cy="11900649"/>
          </a:xfrm>
        </p:grpSpPr>
        <p:sp>
          <p:nvSpPr>
            <p:cNvPr id="3" name="Freeform 3"/>
            <p:cNvSpPr/>
            <p:nvPr/>
          </p:nvSpPr>
          <p:spPr>
            <a:xfrm>
              <a:off x="0" y="0"/>
              <a:ext cx="21264118" cy="11900662"/>
            </a:xfrm>
            <a:custGeom>
              <a:avLst/>
              <a:gdLst/>
              <a:ahLst/>
              <a:cxnLst/>
              <a:rect l="l" t="t" r="r" b="b"/>
              <a:pathLst>
                <a:path w="21264118" h="11900662">
                  <a:moveTo>
                    <a:pt x="0" y="0"/>
                  </a:moveTo>
                  <a:lnTo>
                    <a:pt x="21264118" y="0"/>
                  </a:lnTo>
                  <a:lnTo>
                    <a:pt x="21264118" y="11900662"/>
                  </a:lnTo>
                  <a:lnTo>
                    <a:pt x="0" y="11900662"/>
                  </a:lnTo>
                  <a:lnTo>
                    <a:pt x="0" y="0"/>
                  </a:lnTo>
                  <a:close/>
                </a:path>
              </a:pathLst>
            </a:custGeom>
            <a:blipFill>
              <a:blip r:embed="rId2"/>
              <a:stretch>
                <a:fillRect/>
              </a:stretch>
            </a:blipFill>
          </p:spPr>
        </p:sp>
      </p:grpSp>
      <p:grpSp>
        <p:nvGrpSpPr>
          <p:cNvPr id="4" name="Group 4"/>
          <p:cNvGrpSpPr/>
          <p:nvPr/>
        </p:nvGrpSpPr>
        <p:grpSpPr>
          <a:xfrm>
            <a:off x="49216" y="1114015"/>
            <a:ext cx="15916275" cy="200025"/>
            <a:chOff x="0" y="0"/>
            <a:chExt cx="21221700" cy="266700"/>
          </a:xfrm>
        </p:grpSpPr>
        <p:sp>
          <p:nvSpPr>
            <p:cNvPr id="5" name="Freeform 5"/>
            <p:cNvSpPr/>
            <p:nvPr/>
          </p:nvSpPr>
          <p:spPr>
            <a:xfrm>
              <a:off x="0" y="0"/>
              <a:ext cx="21221700" cy="266700"/>
            </a:xfrm>
            <a:custGeom>
              <a:avLst/>
              <a:gdLst/>
              <a:ahLst/>
              <a:cxnLst/>
              <a:rect l="l" t="t" r="r" b="b"/>
              <a:pathLst>
                <a:path w="21221700" h="266700">
                  <a:moveTo>
                    <a:pt x="0" y="0"/>
                  </a:moveTo>
                  <a:lnTo>
                    <a:pt x="21221700" y="0"/>
                  </a:lnTo>
                  <a:lnTo>
                    <a:pt x="21221700" y="266700"/>
                  </a:lnTo>
                  <a:lnTo>
                    <a:pt x="0" y="266700"/>
                  </a:lnTo>
                  <a:lnTo>
                    <a:pt x="0" y="0"/>
                  </a:lnTo>
                  <a:close/>
                </a:path>
              </a:pathLst>
            </a:custGeom>
            <a:blipFill>
              <a:blip r:embed="rId3">
                <a:alphaModFix amt="62000"/>
              </a:blip>
              <a:stretch>
                <a:fillRect/>
              </a:stretch>
            </a:blipFill>
          </p:spPr>
        </p:sp>
      </p:grpSp>
      <p:grpSp>
        <p:nvGrpSpPr>
          <p:cNvPr id="6" name="Group 6"/>
          <p:cNvGrpSpPr/>
          <p:nvPr/>
        </p:nvGrpSpPr>
        <p:grpSpPr>
          <a:xfrm>
            <a:off x="49216" y="2037140"/>
            <a:ext cx="3609975" cy="561975"/>
            <a:chOff x="0" y="0"/>
            <a:chExt cx="4813300" cy="749300"/>
          </a:xfrm>
        </p:grpSpPr>
        <p:sp>
          <p:nvSpPr>
            <p:cNvPr id="7" name="Freeform 7"/>
            <p:cNvSpPr/>
            <p:nvPr/>
          </p:nvSpPr>
          <p:spPr>
            <a:xfrm>
              <a:off x="0" y="0"/>
              <a:ext cx="4813300" cy="749300"/>
            </a:xfrm>
            <a:custGeom>
              <a:avLst/>
              <a:gdLst/>
              <a:ahLst/>
              <a:cxnLst/>
              <a:rect l="l" t="t" r="r" b="b"/>
              <a:pathLst>
                <a:path w="4813300" h="749300">
                  <a:moveTo>
                    <a:pt x="0" y="0"/>
                  </a:moveTo>
                  <a:lnTo>
                    <a:pt x="4813300" y="0"/>
                  </a:lnTo>
                  <a:lnTo>
                    <a:pt x="4813300" y="749300"/>
                  </a:lnTo>
                  <a:lnTo>
                    <a:pt x="0" y="749300"/>
                  </a:lnTo>
                  <a:lnTo>
                    <a:pt x="0" y="0"/>
                  </a:lnTo>
                  <a:close/>
                </a:path>
              </a:pathLst>
            </a:custGeom>
            <a:blipFill>
              <a:blip r:embed="rId4"/>
              <a:stretch>
                <a:fillRect/>
              </a:stretch>
            </a:blipFill>
          </p:spPr>
        </p:sp>
      </p:grpSp>
      <p:grpSp>
        <p:nvGrpSpPr>
          <p:cNvPr id="8" name="Group 8"/>
          <p:cNvGrpSpPr/>
          <p:nvPr/>
        </p:nvGrpSpPr>
        <p:grpSpPr>
          <a:xfrm>
            <a:off x="49216" y="8017116"/>
            <a:ext cx="15916275" cy="390525"/>
            <a:chOff x="0" y="0"/>
            <a:chExt cx="21221700" cy="520700"/>
          </a:xfrm>
        </p:grpSpPr>
        <p:sp>
          <p:nvSpPr>
            <p:cNvPr id="9" name="Freeform 9"/>
            <p:cNvSpPr/>
            <p:nvPr/>
          </p:nvSpPr>
          <p:spPr>
            <a:xfrm>
              <a:off x="0" y="0"/>
              <a:ext cx="21221700" cy="520700"/>
            </a:xfrm>
            <a:custGeom>
              <a:avLst/>
              <a:gdLst/>
              <a:ahLst/>
              <a:cxnLst/>
              <a:rect l="l" t="t" r="r" b="b"/>
              <a:pathLst>
                <a:path w="21221700" h="520700">
                  <a:moveTo>
                    <a:pt x="0" y="0"/>
                  </a:moveTo>
                  <a:lnTo>
                    <a:pt x="21221700" y="0"/>
                  </a:lnTo>
                  <a:lnTo>
                    <a:pt x="21221700" y="520700"/>
                  </a:lnTo>
                  <a:lnTo>
                    <a:pt x="0" y="520700"/>
                  </a:lnTo>
                  <a:lnTo>
                    <a:pt x="0" y="0"/>
                  </a:lnTo>
                  <a:close/>
                </a:path>
              </a:pathLst>
            </a:custGeom>
            <a:blipFill>
              <a:blip r:embed="rId5"/>
              <a:stretch>
                <a:fillRect/>
              </a:stretch>
            </a:blipFill>
          </p:spPr>
        </p:sp>
      </p:grpSp>
      <p:grpSp>
        <p:nvGrpSpPr>
          <p:cNvPr id="10" name="Group 10"/>
          <p:cNvGrpSpPr/>
          <p:nvPr/>
        </p:nvGrpSpPr>
        <p:grpSpPr>
          <a:xfrm>
            <a:off x="14064891" y="8207550"/>
            <a:ext cx="962025" cy="200025"/>
            <a:chOff x="0" y="0"/>
            <a:chExt cx="1282700" cy="266700"/>
          </a:xfrm>
        </p:grpSpPr>
        <p:sp>
          <p:nvSpPr>
            <p:cNvPr id="11" name="Freeform 11"/>
            <p:cNvSpPr/>
            <p:nvPr/>
          </p:nvSpPr>
          <p:spPr>
            <a:xfrm>
              <a:off x="0" y="0"/>
              <a:ext cx="1282700" cy="266700"/>
            </a:xfrm>
            <a:custGeom>
              <a:avLst/>
              <a:gdLst/>
              <a:ahLst/>
              <a:cxnLst/>
              <a:rect l="l" t="t" r="r" b="b"/>
              <a:pathLst>
                <a:path w="1282700" h="266700">
                  <a:moveTo>
                    <a:pt x="0" y="0"/>
                  </a:moveTo>
                  <a:lnTo>
                    <a:pt x="1282700" y="0"/>
                  </a:lnTo>
                  <a:lnTo>
                    <a:pt x="1282700" y="266700"/>
                  </a:lnTo>
                  <a:lnTo>
                    <a:pt x="0" y="266700"/>
                  </a:lnTo>
                  <a:lnTo>
                    <a:pt x="0" y="0"/>
                  </a:lnTo>
                  <a:close/>
                </a:path>
              </a:pathLst>
            </a:custGeom>
            <a:blipFill>
              <a:blip r:embed="rId6"/>
              <a:stretch>
                <a:fillRect/>
              </a:stretch>
            </a:blipFill>
          </p:spPr>
        </p:sp>
      </p:grpSp>
      <p:grpSp>
        <p:nvGrpSpPr>
          <p:cNvPr id="12" name="Group 12"/>
          <p:cNvGrpSpPr/>
          <p:nvPr/>
        </p:nvGrpSpPr>
        <p:grpSpPr>
          <a:xfrm>
            <a:off x="842867" y="34623"/>
            <a:ext cx="1933575" cy="828675"/>
            <a:chOff x="0" y="0"/>
            <a:chExt cx="2578100" cy="1104900"/>
          </a:xfrm>
        </p:grpSpPr>
        <p:sp>
          <p:nvSpPr>
            <p:cNvPr id="13" name="Freeform 13"/>
            <p:cNvSpPr/>
            <p:nvPr/>
          </p:nvSpPr>
          <p:spPr>
            <a:xfrm>
              <a:off x="0" y="0"/>
              <a:ext cx="2578100" cy="1104900"/>
            </a:xfrm>
            <a:custGeom>
              <a:avLst/>
              <a:gdLst/>
              <a:ahLst/>
              <a:cxnLst/>
              <a:rect l="l" t="t" r="r" b="b"/>
              <a:pathLst>
                <a:path w="2578100" h="1104900">
                  <a:moveTo>
                    <a:pt x="0" y="0"/>
                  </a:moveTo>
                  <a:lnTo>
                    <a:pt x="2578100" y="0"/>
                  </a:lnTo>
                  <a:lnTo>
                    <a:pt x="2578100" y="1104900"/>
                  </a:lnTo>
                  <a:lnTo>
                    <a:pt x="0" y="1104900"/>
                  </a:lnTo>
                  <a:lnTo>
                    <a:pt x="0" y="0"/>
                  </a:lnTo>
                  <a:close/>
                </a:path>
              </a:pathLst>
            </a:custGeom>
            <a:blipFill>
              <a:blip r:embed="rId7"/>
              <a:stretch>
                <a:fillRect l="-2137" t="-27513" r="-4759" b="-42601"/>
              </a:stretch>
            </a:blipFill>
          </p:spPr>
        </p:sp>
      </p:grpSp>
      <p:grpSp>
        <p:nvGrpSpPr>
          <p:cNvPr id="14" name="Group 14"/>
          <p:cNvGrpSpPr/>
          <p:nvPr/>
        </p:nvGrpSpPr>
        <p:grpSpPr>
          <a:xfrm>
            <a:off x="0" y="27851"/>
            <a:ext cx="590550" cy="828675"/>
            <a:chOff x="0" y="0"/>
            <a:chExt cx="787400" cy="1104900"/>
          </a:xfrm>
        </p:grpSpPr>
        <p:sp>
          <p:nvSpPr>
            <p:cNvPr id="15" name="Freeform 15"/>
            <p:cNvSpPr/>
            <p:nvPr/>
          </p:nvSpPr>
          <p:spPr>
            <a:xfrm>
              <a:off x="0" y="0"/>
              <a:ext cx="787400" cy="1104900"/>
            </a:xfrm>
            <a:custGeom>
              <a:avLst/>
              <a:gdLst/>
              <a:ahLst/>
              <a:cxnLst/>
              <a:rect l="l" t="t" r="r" b="b"/>
              <a:pathLst>
                <a:path w="787400" h="1104900">
                  <a:moveTo>
                    <a:pt x="0" y="0"/>
                  </a:moveTo>
                  <a:lnTo>
                    <a:pt x="787400" y="0"/>
                  </a:lnTo>
                  <a:lnTo>
                    <a:pt x="787400" y="1104900"/>
                  </a:lnTo>
                  <a:lnTo>
                    <a:pt x="0" y="1104900"/>
                  </a:lnTo>
                  <a:lnTo>
                    <a:pt x="0" y="0"/>
                  </a:lnTo>
                  <a:close/>
                </a:path>
              </a:pathLst>
            </a:custGeom>
            <a:blipFill>
              <a:blip r:embed="rId8"/>
              <a:stretch>
                <a:fillRect/>
              </a:stretch>
            </a:blipFill>
          </p:spPr>
        </p:sp>
      </p:grpSp>
      <p:sp>
        <p:nvSpPr>
          <p:cNvPr id="16" name="Freeform 16"/>
          <p:cNvSpPr/>
          <p:nvPr/>
        </p:nvSpPr>
        <p:spPr>
          <a:xfrm>
            <a:off x="757990" y="68456"/>
            <a:ext cx="28575" cy="824970"/>
          </a:xfrm>
          <a:custGeom>
            <a:avLst/>
            <a:gdLst/>
            <a:ahLst/>
            <a:cxnLst/>
            <a:rect l="l" t="t" r="r" b="b"/>
            <a:pathLst>
              <a:path w="28575" h="824970">
                <a:moveTo>
                  <a:pt x="0" y="0"/>
                </a:moveTo>
                <a:lnTo>
                  <a:pt x="28575" y="0"/>
                </a:lnTo>
                <a:lnTo>
                  <a:pt x="28575" y="824970"/>
                </a:lnTo>
                <a:lnTo>
                  <a:pt x="0" y="824970"/>
                </a:lnTo>
                <a:lnTo>
                  <a:pt x="0" y="0"/>
                </a:lnTo>
                <a:close/>
              </a:path>
            </a:pathLst>
          </a:custGeom>
          <a:blipFill>
            <a:blip>
              <a:extLst>
                <a:ext uri="{96DAC541-7B7A-43D3-8B79-37D633B846F1}">
                  <asvg:svgBlip xmlns:asvg="http://schemas.microsoft.com/office/drawing/2016/SVG/main" r:embed="rId9"/>
                </a:ext>
              </a:extLst>
            </a:blip>
            <a:stretch>
              <a:fillRect/>
            </a:stretch>
          </a:blipFill>
        </p:spPr>
      </p:sp>
      <p:grpSp>
        <p:nvGrpSpPr>
          <p:cNvPr id="17" name="Group 17"/>
          <p:cNvGrpSpPr/>
          <p:nvPr/>
        </p:nvGrpSpPr>
        <p:grpSpPr>
          <a:xfrm>
            <a:off x="14064891" y="76733"/>
            <a:ext cx="1819275" cy="1038225"/>
            <a:chOff x="0" y="0"/>
            <a:chExt cx="2425700" cy="1384300"/>
          </a:xfrm>
        </p:grpSpPr>
        <p:sp>
          <p:nvSpPr>
            <p:cNvPr id="18" name="Freeform 18"/>
            <p:cNvSpPr/>
            <p:nvPr/>
          </p:nvSpPr>
          <p:spPr>
            <a:xfrm>
              <a:off x="0" y="0"/>
              <a:ext cx="2425700" cy="1384300"/>
            </a:xfrm>
            <a:custGeom>
              <a:avLst/>
              <a:gdLst/>
              <a:ahLst/>
              <a:cxnLst/>
              <a:rect l="l" t="t" r="r" b="b"/>
              <a:pathLst>
                <a:path w="2425700" h="1384300">
                  <a:moveTo>
                    <a:pt x="0" y="0"/>
                  </a:moveTo>
                  <a:lnTo>
                    <a:pt x="2425700" y="0"/>
                  </a:lnTo>
                  <a:lnTo>
                    <a:pt x="2425700" y="1384300"/>
                  </a:lnTo>
                  <a:lnTo>
                    <a:pt x="0" y="1384300"/>
                  </a:lnTo>
                  <a:lnTo>
                    <a:pt x="0" y="0"/>
                  </a:lnTo>
                  <a:close/>
                </a:path>
              </a:pathLst>
            </a:custGeom>
            <a:blipFill>
              <a:blip r:embed="rId10"/>
              <a:stretch>
                <a:fillRect/>
              </a:stretch>
            </a:blipFill>
          </p:spPr>
        </p:sp>
      </p:grpSp>
      <p:grpSp>
        <p:nvGrpSpPr>
          <p:cNvPr id="19" name="Group 19"/>
          <p:cNvGrpSpPr/>
          <p:nvPr/>
        </p:nvGrpSpPr>
        <p:grpSpPr>
          <a:xfrm>
            <a:off x="758000" y="68475"/>
            <a:ext cx="28575" cy="824970"/>
            <a:chOff x="0" y="0"/>
            <a:chExt cx="28575" cy="824979"/>
          </a:xfrm>
        </p:grpSpPr>
        <p:sp>
          <p:nvSpPr>
            <p:cNvPr id="20" name="Freeform 20"/>
            <p:cNvSpPr/>
            <p:nvPr/>
          </p:nvSpPr>
          <p:spPr>
            <a:xfrm>
              <a:off x="0" y="0"/>
              <a:ext cx="28575" cy="824997"/>
            </a:xfrm>
            <a:custGeom>
              <a:avLst/>
              <a:gdLst/>
              <a:ahLst/>
              <a:cxnLst/>
              <a:rect l="l" t="t" r="r" b="b"/>
              <a:pathLst>
                <a:path w="28575" h="824997">
                  <a:moveTo>
                    <a:pt x="0" y="824997"/>
                  </a:moveTo>
                  <a:lnTo>
                    <a:pt x="28575" y="824997"/>
                  </a:lnTo>
                  <a:lnTo>
                    <a:pt x="28575" y="0"/>
                  </a:lnTo>
                  <a:lnTo>
                    <a:pt x="0" y="0"/>
                  </a:lnTo>
                  <a:close/>
                </a:path>
              </a:pathLst>
            </a:custGeom>
            <a:solidFill>
              <a:srgbClr val="000000">
                <a:alpha val="0"/>
              </a:srgbClr>
            </a:solidFill>
          </p:spPr>
        </p:sp>
      </p:grpSp>
      <p:sp>
        <p:nvSpPr>
          <p:cNvPr id="21" name="Freeform 21"/>
          <p:cNvSpPr/>
          <p:nvPr/>
        </p:nvSpPr>
        <p:spPr>
          <a:xfrm>
            <a:off x="12003274" y="3280432"/>
            <a:ext cx="3446537" cy="3808328"/>
          </a:xfrm>
          <a:custGeom>
            <a:avLst/>
            <a:gdLst/>
            <a:ahLst/>
            <a:cxnLst/>
            <a:rect l="l" t="t" r="r" b="b"/>
            <a:pathLst>
              <a:path w="3446537" h="3808328">
                <a:moveTo>
                  <a:pt x="0" y="0"/>
                </a:moveTo>
                <a:lnTo>
                  <a:pt x="3446537" y="0"/>
                </a:lnTo>
                <a:lnTo>
                  <a:pt x="3446537" y="3808328"/>
                </a:lnTo>
                <a:lnTo>
                  <a:pt x="0" y="3808328"/>
                </a:lnTo>
                <a:lnTo>
                  <a:pt x="0" y="0"/>
                </a:lnTo>
                <a:close/>
              </a:path>
            </a:pathLst>
          </a:custGeom>
          <a:blipFill>
            <a:blip>
              <a:extLst>
                <a:ext uri="{96DAC541-7B7A-43D3-8B79-37D633B846F1}">
                  <asvg:svgBlip xmlns:asvg="http://schemas.microsoft.com/office/drawing/2016/SVG/main" r:embed="rId11"/>
                </a:ext>
              </a:extLst>
            </a:blip>
            <a:stretch>
              <a:fillRect/>
            </a:stretch>
          </a:blipFill>
        </p:spPr>
      </p:sp>
      <p:sp>
        <p:nvSpPr>
          <p:cNvPr id="22" name="TextBox 22"/>
          <p:cNvSpPr txBox="1"/>
          <p:nvPr/>
        </p:nvSpPr>
        <p:spPr>
          <a:xfrm>
            <a:off x="772077" y="1258557"/>
            <a:ext cx="11780177" cy="1093518"/>
          </a:xfrm>
          <a:prstGeom prst="rect">
            <a:avLst/>
          </a:prstGeom>
        </p:spPr>
        <p:txBody>
          <a:bodyPr lIns="0" tIns="0" rIns="0" bIns="0" rtlCol="0" anchor="t">
            <a:spAutoFit/>
          </a:bodyPr>
          <a:lstStyle/>
          <a:p>
            <a:pPr algn="l">
              <a:lnSpc>
                <a:spcPts val="5840"/>
              </a:lnSpc>
            </a:pPr>
            <a:r>
              <a:rPr lang="en-US" sz="4171">
                <a:solidFill>
                  <a:srgbClr val="4AF66D"/>
                </a:solidFill>
                <a:latin typeface="Bank Gothic Medium"/>
                <a:ea typeface="Bank Gothic Medium"/>
                <a:cs typeface="Bank Gothic Medium"/>
                <a:sym typeface="Bank Gothic Medium"/>
              </a:rPr>
              <a:t>Implementation Roadmap &amp; Scope</a:t>
            </a:r>
          </a:p>
          <a:p>
            <a:pPr algn="l">
              <a:lnSpc>
                <a:spcPts val="2764"/>
              </a:lnSpc>
            </a:pPr>
            <a:r>
              <a:rPr lang="en-US" sz="1974">
                <a:solidFill>
                  <a:srgbClr val="FFFFFF"/>
                </a:solidFill>
                <a:latin typeface="Bank Gothic Medium"/>
                <a:ea typeface="Bank Gothic Medium"/>
                <a:cs typeface="Bank Gothic Medium"/>
                <a:sym typeface="Bank Gothic Medium"/>
              </a:rPr>
              <a:t>What's built today, what's in progress, and what's planned beyond the hackathon</a:t>
            </a:r>
          </a:p>
        </p:txBody>
      </p:sp>
      <p:sp>
        <p:nvSpPr>
          <p:cNvPr id="23" name="TextBox 23"/>
          <p:cNvSpPr txBox="1"/>
          <p:nvPr/>
        </p:nvSpPr>
        <p:spPr>
          <a:xfrm>
            <a:off x="295275" y="3008690"/>
            <a:ext cx="11388786" cy="2273300"/>
          </a:xfrm>
          <a:prstGeom prst="rect">
            <a:avLst/>
          </a:prstGeom>
        </p:spPr>
        <p:txBody>
          <a:bodyPr lIns="0" tIns="0" rIns="0" bIns="0" rtlCol="0" anchor="t">
            <a:spAutoFit/>
          </a:bodyPr>
          <a:lstStyle/>
          <a:p>
            <a:pPr algn="l">
              <a:lnSpc>
                <a:spcPts val="3080"/>
              </a:lnSpc>
            </a:pPr>
            <a:r>
              <a:rPr lang="en-US" sz="2200">
                <a:solidFill>
                  <a:srgbClr val="55C226"/>
                </a:solidFill>
                <a:latin typeface="Bank Gothic Light"/>
                <a:ea typeface="Bank Gothic Light"/>
                <a:cs typeface="Bank Gothic Light"/>
                <a:sym typeface="Bank Gothic Light"/>
              </a:rPr>
              <a:t>ROADMAP OF IMPLEMENTATION</a:t>
            </a:r>
          </a:p>
          <a:p>
            <a:pPr algn="l">
              <a:lnSpc>
                <a:spcPts val="2520"/>
              </a:lnSpc>
            </a:pPr>
            <a:r>
              <a:rPr lang="en-US" sz="1800">
                <a:solidFill>
                  <a:srgbClr val="FFFFFF"/>
                </a:solidFill>
                <a:latin typeface="Quicksand"/>
                <a:ea typeface="Quicksand"/>
                <a:cs typeface="Quicksand"/>
                <a:sym typeface="Quicksand"/>
              </a:rPr>
              <a:t> 1) Data Ingestion : A FastAPI program implemented in Python is used for the creation of simulated security alerts.</a:t>
            </a:r>
          </a:p>
          <a:p>
            <a:pPr algn="l">
              <a:lnSpc>
                <a:spcPts val="2520"/>
              </a:lnSpc>
            </a:pPr>
            <a:r>
              <a:rPr lang="en-US" sz="1800">
                <a:solidFill>
                  <a:srgbClr val="FFFFFF"/>
                </a:solidFill>
                <a:latin typeface="Quicksand"/>
                <a:ea typeface="Quicksand"/>
                <a:cs typeface="Quicksand"/>
                <a:sym typeface="Quicksand"/>
              </a:rPr>
              <a:t>2) Financial Risk Analysis : Risk assessment modeled on Open FAIR is executed using NumPy. </a:t>
            </a:r>
          </a:p>
          <a:p>
            <a:pPr algn="l">
              <a:lnSpc>
                <a:spcPts val="2520"/>
              </a:lnSpc>
            </a:pPr>
            <a:r>
              <a:rPr lang="en-US" sz="1800">
                <a:solidFill>
                  <a:srgbClr val="FFFFFF"/>
                </a:solidFill>
                <a:latin typeface="Quicksand"/>
                <a:ea typeface="Quicksand"/>
                <a:cs typeface="Quicksand"/>
                <a:sym typeface="Quicksand"/>
              </a:rPr>
              <a:t>3) Budget Optimization : Process of remediation is based on PuLP algorithm which complies with the budget. </a:t>
            </a:r>
          </a:p>
          <a:p>
            <a:pPr algn="l">
              <a:lnSpc>
                <a:spcPts val="2520"/>
              </a:lnSpc>
            </a:pPr>
            <a:r>
              <a:rPr lang="en-US" sz="1800">
                <a:solidFill>
                  <a:srgbClr val="FFFFFF"/>
                </a:solidFill>
                <a:latin typeface="Quicksand"/>
                <a:ea typeface="Quicksand"/>
                <a:cs typeface="Quicksand"/>
                <a:sym typeface="Quicksand"/>
              </a:rPr>
              <a:t>4) Alerts &amp; Reporting : Risk alerts and drafts of compliance reports based on evidences are created. </a:t>
            </a:r>
          </a:p>
          <a:p>
            <a:pPr algn="l">
              <a:lnSpc>
                <a:spcPts val="2520"/>
              </a:lnSpc>
            </a:pPr>
            <a:r>
              <a:rPr lang="en-US" sz="1800">
                <a:solidFill>
                  <a:srgbClr val="FFFFFF"/>
                </a:solidFill>
                <a:latin typeface="Quicksand"/>
                <a:ea typeface="Quicksand"/>
                <a:cs typeface="Quicksand"/>
                <a:sym typeface="Quicksand"/>
              </a:rPr>
              <a:t>5) Dashboard &amp; Testing : The application implements React dashboard for risk visualization and testing.</a:t>
            </a:r>
          </a:p>
        </p:txBody>
      </p:sp>
      <p:sp>
        <p:nvSpPr>
          <p:cNvPr id="24" name="TextBox 24"/>
          <p:cNvSpPr txBox="1"/>
          <p:nvPr/>
        </p:nvSpPr>
        <p:spPr>
          <a:xfrm>
            <a:off x="295275" y="5624890"/>
            <a:ext cx="13431267" cy="2111375"/>
          </a:xfrm>
          <a:prstGeom prst="rect">
            <a:avLst/>
          </a:prstGeom>
        </p:spPr>
        <p:txBody>
          <a:bodyPr lIns="0" tIns="0" rIns="0" bIns="0" rtlCol="0" anchor="t">
            <a:spAutoFit/>
          </a:bodyPr>
          <a:lstStyle/>
          <a:p>
            <a:pPr algn="l">
              <a:lnSpc>
                <a:spcPts val="2800"/>
              </a:lnSpc>
            </a:pPr>
            <a:r>
              <a:rPr lang="en-US" sz="2000">
                <a:solidFill>
                  <a:srgbClr val="55C226"/>
                </a:solidFill>
                <a:latin typeface="Bank Gothic Light"/>
                <a:ea typeface="Bank Gothic Light"/>
                <a:cs typeface="Bank Gothic Light"/>
                <a:sym typeface="Bank Gothic Light"/>
              </a:rPr>
              <a:t>SCOPE OF PROJECT</a:t>
            </a:r>
          </a:p>
          <a:p>
            <a:pPr marL="431804" lvl="1" indent="-215902" algn="l">
              <a:lnSpc>
                <a:spcPts val="2800"/>
              </a:lnSpc>
              <a:buFont typeface="Arial"/>
              <a:buChar char="•"/>
            </a:pPr>
            <a:r>
              <a:rPr lang="en-US" sz="2000">
                <a:solidFill>
                  <a:srgbClr val="FFFFFF"/>
                </a:solidFill>
                <a:latin typeface="Quicksand"/>
                <a:ea typeface="Quicksand"/>
                <a:cs typeface="Quicksand"/>
                <a:sym typeface="Quicksand"/>
              </a:rPr>
              <a:t>Consolidated overview of SIEM, EDR, and vulnerabilities notifications.</a:t>
            </a:r>
          </a:p>
          <a:p>
            <a:pPr marL="431804" lvl="1" indent="-215902" algn="l">
              <a:lnSpc>
                <a:spcPts val="2800"/>
              </a:lnSpc>
              <a:buFont typeface="Arial"/>
              <a:buChar char="•"/>
            </a:pPr>
            <a:r>
              <a:rPr lang="en-US" sz="2000">
                <a:solidFill>
                  <a:srgbClr val="FFFFFF"/>
                </a:solidFill>
                <a:latin typeface="Quicksand"/>
                <a:ea typeface="Quicksand"/>
                <a:cs typeface="Quicksand"/>
                <a:sym typeface="Quicksand"/>
              </a:rPr>
              <a:t>Identification of financial exposure and ordered remediation action.</a:t>
            </a:r>
          </a:p>
          <a:p>
            <a:pPr marL="431804" lvl="1" indent="-215902" algn="l">
              <a:lnSpc>
                <a:spcPts val="2800"/>
              </a:lnSpc>
              <a:buFont typeface="Arial"/>
              <a:buChar char="•"/>
            </a:pPr>
            <a:r>
              <a:rPr lang="en-US" sz="2000">
                <a:solidFill>
                  <a:srgbClr val="FFFFFF"/>
                </a:solidFill>
                <a:latin typeface="Quicksand"/>
                <a:ea typeface="Quicksand"/>
                <a:cs typeface="Quicksand"/>
                <a:sym typeface="Quicksand"/>
              </a:rPr>
              <a:t>Security suggestions following budget constraints.</a:t>
            </a:r>
          </a:p>
          <a:p>
            <a:pPr marL="431804" lvl="1" indent="-215902" algn="l">
              <a:lnSpc>
                <a:spcPts val="2800"/>
              </a:lnSpc>
              <a:buFont typeface="Arial"/>
              <a:buChar char="•"/>
            </a:pPr>
            <a:r>
              <a:rPr lang="en-US" sz="2000">
                <a:solidFill>
                  <a:srgbClr val="FFFFFF"/>
                </a:solidFill>
                <a:latin typeface="Quicksand"/>
                <a:ea typeface="Quicksand"/>
                <a:cs typeface="Quicksand"/>
                <a:sym typeface="Quicksand"/>
              </a:rPr>
              <a:t>Role-based access management and audit tracking.</a:t>
            </a:r>
          </a:p>
          <a:p>
            <a:pPr marL="431804" lvl="1" indent="-215902" algn="l">
              <a:lnSpc>
                <a:spcPts val="2800"/>
              </a:lnSpc>
              <a:buFont typeface="Arial"/>
              <a:buChar char="•"/>
            </a:pPr>
            <a:r>
              <a:rPr lang="en-US" sz="2000">
                <a:solidFill>
                  <a:srgbClr val="FFFFFF"/>
                </a:solidFill>
                <a:latin typeface="Quicksand"/>
                <a:ea typeface="Quicksand"/>
                <a:cs typeface="Quicksand"/>
                <a:sym typeface="Quicksand"/>
              </a:rPr>
              <a:t>Templates of compliance reports for authorized verification.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3309" y="8963"/>
            <a:ext cx="15948088" cy="8925487"/>
            <a:chOff x="0" y="0"/>
            <a:chExt cx="21264118" cy="11900649"/>
          </a:xfrm>
        </p:grpSpPr>
        <p:sp>
          <p:nvSpPr>
            <p:cNvPr id="3" name="Freeform 3"/>
            <p:cNvSpPr/>
            <p:nvPr/>
          </p:nvSpPr>
          <p:spPr>
            <a:xfrm>
              <a:off x="0" y="0"/>
              <a:ext cx="21264118" cy="11900662"/>
            </a:xfrm>
            <a:custGeom>
              <a:avLst/>
              <a:gdLst/>
              <a:ahLst/>
              <a:cxnLst/>
              <a:rect l="l" t="t" r="r" b="b"/>
              <a:pathLst>
                <a:path w="21264118" h="11900662">
                  <a:moveTo>
                    <a:pt x="0" y="0"/>
                  </a:moveTo>
                  <a:lnTo>
                    <a:pt x="21264118" y="0"/>
                  </a:lnTo>
                  <a:lnTo>
                    <a:pt x="21264118" y="11900662"/>
                  </a:lnTo>
                  <a:lnTo>
                    <a:pt x="0" y="11900662"/>
                  </a:lnTo>
                  <a:lnTo>
                    <a:pt x="0" y="0"/>
                  </a:lnTo>
                  <a:close/>
                </a:path>
              </a:pathLst>
            </a:custGeom>
            <a:blipFill>
              <a:blip r:embed="rId2"/>
              <a:stretch>
                <a:fillRect/>
              </a:stretch>
            </a:blipFill>
          </p:spPr>
        </p:sp>
      </p:grpSp>
      <p:grpSp>
        <p:nvGrpSpPr>
          <p:cNvPr id="4" name="Group 4"/>
          <p:cNvGrpSpPr/>
          <p:nvPr/>
        </p:nvGrpSpPr>
        <p:grpSpPr>
          <a:xfrm>
            <a:off x="49216" y="1114015"/>
            <a:ext cx="15916275" cy="200025"/>
            <a:chOff x="0" y="0"/>
            <a:chExt cx="21221700" cy="266700"/>
          </a:xfrm>
        </p:grpSpPr>
        <p:sp>
          <p:nvSpPr>
            <p:cNvPr id="5" name="Freeform 5"/>
            <p:cNvSpPr/>
            <p:nvPr/>
          </p:nvSpPr>
          <p:spPr>
            <a:xfrm>
              <a:off x="0" y="0"/>
              <a:ext cx="21221700" cy="266700"/>
            </a:xfrm>
            <a:custGeom>
              <a:avLst/>
              <a:gdLst/>
              <a:ahLst/>
              <a:cxnLst/>
              <a:rect l="l" t="t" r="r" b="b"/>
              <a:pathLst>
                <a:path w="21221700" h="266700">
                  <a:moveTo>
                    <a:pt x="0" y="0"/>
                  </a:moveTo>
                  <a:lnTo>
                    <a:pt x="21221700" y="0"/>
                  </a:lnTo>
                  <a:lnTo>
                    <a:pt x="21221700" y="266700"/>
                  </a:lnTo>
                  <a:lnTo>
                    <a:pt x="0" y="266700"/>
                  </a:lnTo>
                  <a:lnTo>
                    <a:pt x="0" y="0"/>
                  </a:lnTo>
                  <a:close/>
                </a:path>
              </a:pathLst>
            </a:custGeom>
            <a:blipFill>
              <a:blip r:embed="rId3">
                <a:alphaModFix amt="62000"/>
              </a:blip>
              <a:stretch>
                <a:fillRect/>
              </a:stretch>
            </a:blipFill>
          </p:spPr>
        </p:sp>
      </p:grpSp>
      <p:grpSp>
        <p:nvGrpSpPr>
          <p:cNvPr id="6" name="Group 6"/>
          <p:cNvGrpSpPr/>
          <p:nvPr/>
        </p:nvGrpSpPr>
        <p:grpSpPr>
          <a:xfrm>
            <a:off x="170907" y="1929336"/>
            <a:ext cx="3609975" cy="561975"/>
            <a:chOff x="0" y="0"/>
            <a:chExt cx="4813300" cy="749300"/>
          </a:xfrm>
        </p:grpSpPr>
        <p:sp>
          <p:nvSpPr>
            <p:cNvPr id="7" name="Freeform 7"/>
            <p:cNvSpPr/>
            <p:nvPr/>
          </p:nvSpPr>
          <p:spPr>
            <a:xfrm>
              <a:off x="0" y="0"/>
              <a:ext cx="4813300" cy="749300"/>
            </a:xfrm>
            <a:custGeom>
              <a:avLst/>
              <a:gdLst/>
              <a:ahLst/>
              <a:cxnLst/>
              <a:rect l="l" t="t" r="r" b="b"/>
              <a:pathLst>
                <a:path w="4813300" h="749300">
                  <a:moveTo>
                    <a:pt x="0" y="0"/>
                  </a:moveTo>
                  <a:lnTo>
                    <a:pt x="4813300" y="0"/>
                  </a:lnTo>
                  <a:lnTo>
                    <a:pt x="4813300" y="749300"/>
                  </a:lnTo>
                  <a:lnTo>
                    <a:pt x="0" y="749300"/>
                  </a:lnTo>
                  <a:lnTo>
                    <a:pt x="0" y="0"/>
                  </a:lnTo>
                  <a:close/>
                </a:path>
              </a:pathLst>
            </a:custGeom>
            <a:blipFill>
              <a:blip r:embed="rId4"/>
              <a:stretch>
                <a:fillRect/>
              </a:stretch>
            </a:blipFill>
          </p:spPr>
        </p:sp>
      </p:grpSp>
      <p:grpSp>
        <p:nvGrpSpPr>
          <p:cNvPr id="8" name="Group 8"/>
          <p:cNvGrpSpPr/>
          <p:nvPr/>
        </p:nvGrpSpPr>
        <p:grpSpPr>
          <a:xfrm>
            <a:off x="49216" y="8017116"/>
            <a:ext cx="15916275" cy="390525"/>
            <a:chOff x="0" y="0"/>
            <a:chExt cx="21221700" cy="520700"/>
          </a:xfrm>
        </p:grpSpPr>
        <p:sp>
          <p:nvSpPr>
            <p:cNvPr id="9" name="Freeform 9"/>
            <p:cNvSpPr/>
            <p:nvPr/>
          </p:nvSpPr>
          <p:spPr>
            <a:xfrm>
              <a:off x="0" y="0"/>
              <a:ext cx="21221700" cy="520700"/>
            </a:xfrm>
            <a:custGeom>
              <a:avLst/>
              <a:gdLst/>
              <a:ahLst/>
              <a:cxnLst/>
              <a:rect l="l" t="t" r="r" b="b"/>
              <a:pathLst>
                <a:path w="21221700" h="520700">
                  <a:moveTo>
                    <a:pt x="0" y="0"/>
                  </a:moveTo>
                  <a:lnTo>
                    <a:pt x="21221700" y="0"/>
                  </a:lnTo>
                  <a:lnTo>
                    <a:pt x="21221700" y="520700"/>
                  </a:lnTo>
                  <a:lnTo>
                    <a:pt x="0" y="520700"/>
                  </a:lnTo>
                  <a:lnTo>
                    <a:pt x="0" y="0"/>
                  </a:lnTo>
                  <a:close/>
                </a:path>
              </a:pathLst>
            </a:custGeom>
            <a:blipFill>
              <a:blip r:embed="rId5"/>
              <a:stretch>
                <a:fillRect/>
              </a:stretch>
            </a:blipFill>
          </p:spPr>
        </p:sp>
      </p:grpSp>
      <p:grpSp>
        <p:nvGrpSpPr>
          <p:cNvPr id="10" name="Group 10"/>
          <p:cNvGrpSpPr/>
          <p:nvPr/>
        </p:nvGrpSpPr>
        <p:grpSpPr>
          <a:xfrm>
            <a:off x="14064891" y="8207550"/>
            <a:ext cx="962025" cy="200025"/>
            <a:chOff x="0" y="0"/>
            <a:chExt cx="1282700" cy="266700"/>
          </a:xfrm>
        </p:grpSpPr>
        <p:sp>
          <p:nvSpPr>
            <p:cNvPr id="11" name="Freeform 11"/>
            <p:cNvSpPr/>
            <p:nvPr/>
          </p:nvSpPr>
          <p:spPr>
            <a:xfrm>
              <a:off x="0" y="0"/>
              <a:ext cx="1282700" cy="266700"/>
            </a:xfrm>
            <a:custGeom>
              <a:avLst/>
              <a:gdLst/>
              <a:ahLst/>
              <a:cxnLst/>
              <a:rect l="l" t="t" r="r" b="b"/>
              <a:pathLst>
                <a:path w="1282700" h="266700">
                  <a:moveTo>
                    <a:pt x="0" y="0"/>
                  </a:moveTo>
                  <a:lnTo>
                    <a:pt x="1282700" y="0"/>
                  </a:lnTo>
                  <a:lnTo>
                    <a:pt x="1282700" y="266700"/>
                  </a:lnTo>
                  <a:lnTo>
                    <a:pt x="0" y="266700"/>
                  </a:lnTo>
                  <a:lnTo>
                    <a:pt x="0" y="0"/>
                  </a:lnTo>
                  <a:close/>
                </a:path>
              </a:pathLst>
            </a:custGeom>
            <a:blipFill>
              <a:blip r:embed="rId6"/>
              <a:stretch>
                <a:fillRect/>
              </a:stretch>
            </a:blipFill>
          </p:spPr>
        </p:sp>
      </p:grpSp>
      <p:grpSp>
        <p:nvGrpSpPr>
          <p:cNvPr id="12" name="Group 12"/>
          <p:cNvGrpSpPr/>
          <p:nvPr/>
        </p:nvGrpSpPr>
        <p:grpSpPr>
          <a:xfrm>
            <a:off x="842867" y="34623"/>
            <a:ext cx="1933575" cy="828675"/>
            <a:chOff x="0" y="0"/>
            <a:chExt cx="2578100" cy="1104900"/>
          </a:xfrm>
        </p:grpSpPr>
        <p:sp>
          <p:nvSpPr>
            <p:cNvPr id="13" name="Freeform 13"/>
            <p:cNvSpPr/>
            <p:nvPr/>
          </p:nvSpPr>
          <p:spPr>
            <a:xfrm>
              <a:off x="0" y="0"/>
              <a:ext cx="2578100" cy="1104900"/>
            </a:xfrm>
            <a:custGeom>
              <a:avLst/>
              <a:gdLst/>
              <a:ahLst/>
              <a:cxnLst/>
              <a:rect l="l" t="t" r="r" b="b"/>
              <a:pathLst>
                <a:path w="2578100" h="1104900">
                  <a:moveTo>
                    <a:pt x="0" y="0"/>
                  </a:moveTo>
                  <a:lnTo>
                    <a:pt x="2578100" y="0"/>
                  </a:lnTo>
                  <a:lnTo>
                    <a:pt x="2578100" y="1104900"/>
                  </a:lnTo>
                  <a:lnTo>
                    <a:pt x="0" y="1104900"/>
                  </a:lnTo>
                  <a:lnTo>
                    <a:pt x="0" y="0"/>
                  </a:lnTo>
                  <a:close/>
                </a:path>
              </a:pathLst>
            </a:custGeom>
            <a:blipFill>
              <a:blip r:embed="rId7"/>
              <a:stretch>
                <a:fillRect l="-2137" t="-27513" r="-4759" b="-42601"/>
              </a:stretch>
            </a:blipFill>
          </p:spPr>
        </p:sp>
      </p:grpSp>
      <p:grpSp>
        <p:nvGrpSpPr>
          <p:cNvPr id="14" name="Group 14"/>
          <p:cNvGrpSpPr/>
          <p:nvPr/>
        </p:nvGrpSpPr>
        <p:grpSpPr>
          <a:xfrm>
            <a:off x="0" y="27851"/>
            <a:ext cx="590550" cy="828675"/>
            <a:chOff x="0" y="0"/>
            <a:chExt cx="787400" cy="1104900"/>
          </a:xfrm>
        </p:grpSpPr>
        <p:sp>
          <p:nvSpPr>
            <p:cNvPr id="15" name="Freeform 15"/>
            <p:cNvSpPr/>
            <p:nvPr/>
          </p:nvSpPr>
          <p:spPr>
            <a:xfrm>
              <a:off x="0" y="0"/>
              <a:ext cx="787400" cy="1104900"/>
            </a:xfrm>
            <a:custGeom>
              <a:avLst/>
              <a:gdLst/>
              <a:ahLst/>
              <a:cxnLst/>
              <a:rect l="l" t="t" r="r" b="b"/>
              <a:pathLst>
                <a:path w="787400" h="1104900">
                  <a:moveTo>
                    <a:pt x="0" y="0"/>
                  </a:moveTo>
                  <a:lnTo>
                    <a:pt x="787400" y="0"/>
                  </a:lnTo>
                  <a:lnTo>
                    <a:pt x="787400" y="1104900"/>
                  </a:lnTo>
                  <a:lnTo>
                    <a:pt x="0" y="1104900"/>
                  </a:lnTo>
                  <a:lnTo>
                    <a:pt x="0" y="0"/>
                  </a:lnTo>
                  <a:close/>
                </a:path>
              </a:pathLst>
            </a:custGeom>
            <a:blipFill>
              <a:blip r:embed="rId8"/>
              <a:stretch>
                <a:fillRect/>
              </a:stretch>
            </a:blipFill>
          </p:spPr>
        </p:sp>
      </p:grpSp>
      <p:sp>
        <p:nvSpPr>
          <p:cNvPr id="16" name="Freeform 16"/>
          <p:cNvSpPr/>
          <p:nvPr/>
        </p:nvSpPr>
        <p:spPr>
          <a:xfrm>
            <a:off x="757990" y="68456"/>
            <a:ext cx="28575" cy="824970"/>
          </a:xfrm>
          <a:custGeom>
            <a:avLst/>
            <a:gdLst/>
            <a:ahLst/>
            <a:cxnLst/>
            <a:rect l="l" t="t" r="r" b="b"/>
            <a:pathLst>
              <a:path w="28575" h="824970">
                <a:moveTo>
                  <a:pt x="0" y="0"/>
                </a:moveTo>
                <a:lnTo>
                  <a:pt x="28575" y="0"/>
                </a:lnTo>
                <a:lnTo>
                  <a:pt x="28575" y="824970"/>
                </a:lnTo>
                <a:lnTo>
                  <a:pt x="0" y="824970"/>
                </a:lnTo>
                <a:lnTo>
                  <a:pt x="0" y="0"/>
                </a:lnTo>
                <a:close/>
              </a:path>
            </a:pathLst>
          </a:custGeom>
          <a:blipFill>
            <a:blip>
              <a:extLst>
                <a:ext uri="{96DAC541-7B7A-43D3-8B79-37D633B846F1}">
                  <asvg:svgBlip xmlns:asvg="http://schemas.microsoft.com/office/drawing/2016/SVG/main" r:embed="rId9"/>
                </a:ext>
              </a:extLst>
            </a:blip>
            <a:stretch>
              <a:fillRect/>
            </a:stretch>
          </a:blipFill>
        </p:spPr>
      </p:sp>
      <p:grpSp>
        <p:nvGrpSpPr>
          <p:cNvPr id="17" name="Group 17"/>
          <p:cNvGrpSpPr/>
          <p:nvPr/>
        </p:nvGrpSpPr>
        <p:grpSpPr>
          <a:xfrm>
            <a:off x="14064891" y="76733"/>
            <a:ext cx="1819275" cy="1038225"/>
            <a:chOff x="0" y="0"/>
            <a:chExt cx="2425700" cy="1384300"/>
          </a:xfrm>
        </p:grpSpPr>
        <p:sp>
          <p:nvSpPr>
            <p:cNvPr id="18" name="Freeform 18"/>
            <p:cNvSpPr/>
            <p:nvPr/>
          </p:nvSpPr>
          <p:spPr>
            <a:xfrm>
              <a:off x="0" y="0"/>
              <a:ext cx="2425700" cy="1384300"/>
            </a:xfrm>
            <a:custGeom>
              <a:avLst/>
              <a:gdLst/>
              <a:ahLst/>
              <a:cxnLst/>
              <a:rect l="l" t="t" r="r" b="b"/>
              <a:pathLst>
                <a:path w="2425700" h="1384300">
                  <a:moveTo>
                    <a:pt x="0" y="0"/>
                  </a:moveTo>
                  <a:lnTo>
                    <a:pt x="2425700" y="0"/>
                  </a:lnTo>
                  <a:lnTo>
                    <a:pt x="2425700" y="1384300"/>
                  </a:lnTo>
                  <a:lnTo>
                    <a:pt x="0" y="1384300"/>
                  </a:lnTo>
                  <a:lnTo>
                    <a:pt x="0" y="0"/>
                  </a:lnTo>
                  <a:close/>
                </a:path>
              </a:pathLst>
            </a:custGeom>
            <a:blipFill>
              <a:blip r:embed="rId10"/>
              <a:stretch>
                <a:fillRect/>
              </a:stretch>
            </a:blipFill>
          </p:spPr>
        </p:sp>
      </p:grpSp>
      <p:grpSp>
        <p:nvGrpSpPr>
          <p:cNvPr id="19" name="Group 19"/>
          <p:cNvGrpSpPr/>
          <p:nvPr/>
        </p:nvGrpSpPr>
        <p:grpSpPr>
          <a:xfrm>
            <a:off x="758000" y="68475"/>
            <a:ext cx="28575" cy="824970"/>
            <a:chOff x="0" y="0"/>
            <a:chExt cx="28575" cy="824979"/>
          </a:xfrm>
        </p:grpSpPr>
        <p:sp>
          <p:nvSpPr>
            <p:cNvPr id="20" name="Freeform 20"/>
            <p:cNvSpPr/>
            <p:nvPr/>
          </p:nvSpPr>
          <p:spPr>
            <a:xfrm>
              <a:off x="0" y="0"/>
              <a:ext cx="28575" cy="824997"/>
            </a:xfrm>
            <a:custGeom>
              <a:avLst/>
              <a:gdLst/>
              <a:ahLst/>
              <a:cxnLst/>
              <a:rect l="l" t="t" r="r" b="b"/>
              <a:pathLst>
                <a:path w="28575" h="824997">
                  <a:moveTo>
                    <a:pt x="0" y="824997"/>
                  </a:moveTo>
                  <a:lnTo>
                    <a:pt x="28575" y="824997"/>
                  </a:lnTo>
                  <a:lnTo>
                    <a:pt x="28575" y="0"/>
                  </a:lnTo>
                  <a:lnTo>
                    <a:pt x="0" y="0"/>
                  </a:lnTo>
                  <a:close/>
                </a:path>
              </a:pathLst>
            </a:custGeom>
            <a:solidFill>
              <a:srgbClr val="000000">
                <a:alpha val="0"/>
              </a:srgbClr>
            </a:solidFill>
          </p:spPr>
        </p:sp>
      </p:grpSp>
      <p:grpSp>
        <p:nvGrpSpPr>
          <p:cNvPr id="21" name="Group 21"/>
          <p:cNvGrpSpPr/>
          <p:nvPr/>
        </p:nvGrpSpPr>
        <p:grpSpPr>
          <a:xfrm>
            <a:off x="7424845" y="2491311"/>
            <a:ext cx="8017078" cy="5525805"/>
            <a:chOff x="0" y="0"/>
            <a:chExt cx="2431144" cy="1675676"/>
          </a:xfrm>
        </p:grpSpPr>
        <p:sp>
          <p:nvSpPr>
            <p:cNvPr id="22" name="Freeform 22"/>
            <p:cNvSpPr/>
            <p:nvPr/>
          </p:nvSpPr>
          <p:spPr>
            <a:xfrm>
              <a:off x="0" y="0"/>
              <a:ext cx="2431144" cy="1675676"/>
            </a:xfrm>
            <a:custGeom>
              <a:avLst/>
              <a:gdLst/>
              <a:ahLst/>
              <a:cxnLst/>
              <a:rect l="l" t="t" r="r" b="b"/>
              <a:pathLst>
                <a:path w="2431144" h="1675676">
                  <a:moveTo>
                    <a:pt x="0" y="0"/>
                  </a:moveTo>
                  <a:lnTo>
                    <a:pt x="2431144" y="0"/>
                  </a:lnTo>
                  <a:lnTo>
                    <a:pt x="2431144" y="1675676"/>
                  </a:lnTo>
                  <a:lnTo>
                    <a:pt x="0" y="1675676"/>
                  </a:lnTo>
                  <a:close/>
                </a:path>
              </a:pathLst>
            </a:custGeom>
            <a:solidFill>
              <a:srgbClr val="000000"/>
            </a:solidFill>
          </p:spPr>
        </p:sp>
        <p:sp>
          <p:nvSpPr>
            <p:cNvPr id="23" name="TextBox 23"/>
            <p:cNvSpPr txBox="1"/>
            <p:nvPr/>
          </p:nvSpPr>
          <p:spPr>
            <a:xfrm>
              <a:off x="0" y="-57150"/>
              <a:ext cx="2431144" cy="1732826"/>
            </a:xfrm>
            <a:prstGeom prst="rect">
              <a:avLst/>
            </a:prstGeom>
          </p:spPr>
          <p:txBody>
            <a:bodyPr lIns="50800" tIns="50800" rIns="50800" bIns="50800" rtlCol="0" anchor="ctr"/>
            <a:lstStyle/>
            <a:p>
              <a:pPr algn="ctr">
                <a:lnSpc>
                  <a:spcPts val="2904"/>
                </a:lnSpc>
              </a:pPr>
              <a:endParaRPr/>
            </a:p>
          </p:txBody>
        </p:sp>
      </p:grpSp>
      <p:sp>
        <p:nvSpPr>
          <p:cNvPr id="24" name="TextBox 24"/>
          <p:cNvSpPr txBox="1"/>
          <p:nvPr/>
        </p:nvSpPr>
        <p:spPr>
          <a:xfrm>
            <a:off x="893445" y="1067981"/>
            <a:ext cx="11249739" cy="1093518"/>
          </a:xfrm>
          <a:prstGeom prst="rect">
            <a:avLst/>
          </a:prstGeom>
        </p:spPr>
        <p:txBody>
          <a:bodyPr lIns="0" tIns="0" rIns="0" bIns="0" rtlCol="0" anchor="t">
            <a:spAutoFit/>
          </a:bodyPr>
          <a:lstStyle/>
          <a:p>
            <a:pPr algn="l">
              <a:lnSpc>
                <a:spcPts val="5840"/>
              </a:lnSpc>
            </a:pPr>
            <a:r>
              <a:rPr lang="en-US" sz="4171">
                <a:solidFill>
                  <a:srgbClr val="4AF66D"/>
                </a:solidFill>
                <a:latin typeface="Bank Gothic Medium"/>
                <a:ea typeface="Bank Gothic Medium"/>
                <a:cs typeface="Bank Gothic Medium"/>
                <a:sym typeface="Bank Gothic Medium"/>
              </a:rPr>
              <a:t>Expected Impact &amp; Scalability</a:t>
            </a:r>
          </a:p>
          <a:p>
            <a:pPr algn="l">
              <a:lnSpc>
                <a:spcPts val="2764"/>
              </a:lnSpc>
            </a:pPr>
            <a:r>
              <a:rPr lang="en-US" sz="1974">
                <a:solidFill>
                  <a:srgbClr val="FFFFFF"/>
                </a:solidFill>
                <a:latin typeface="Bank Gothic Medium"/>
                <a:ea typeface="Bank Gothic Medium"/>
                <a:cs typeface="Bank Gothic Medium"/>
                <a:sym typeface="Bank Gothic Medium"/>
              </a:rPr>
              <a:t>Who benefits, how big the opportunity is, and how this grows beyond a demo.</a:t>
            </a:r>
          </a:p>
        </p:txBody>
      </p:sp>
      <p:sp>
        <p:nvSpPr>
          <p:cNvPr id="25" name="TextBox 25"/>
          <p:cNvSpPr txBox="1"/>
          <p:nvPr/>
        </p:nvSpPr>
        <p:spPr>
          <a:xfrm>
            <a:off x="1281748" y="2520011"/>
            <a:ext cx="4904058" cy="530859"/>
          </a:xfrm>
          <a:prstGeom prst="rect">
            <a:avLst/>
          </a:prstGeom>
        </p:spPr>
        <p:txBody>
          <a:bodyPr lIns="0" tIns="0" rIns="0" bIns="0" rtlCol="0" anchor="t">
            <a:spAutoFit/>
          </a:bodyPr>
          <a:lstStyle/>
          <a:p>
            <a:pPr algn="ctr">
              <a:lnSpc>
                <a:spcPts val="4340"/>
              </a:lnSpc>
            </a:pPr>
            <a:r>
              <a:rPr lang="en-US" sz="3100">
                <a:solidFill>
                  <a:srgbClr val="55C226"/>
                </a:solidFill>
                <a:latin typeface="Bank Gothic Medium"/>
                <a:ea typeface="Bank Gothic Medium"/>
                <a:cs typeface="Bank Gothic Medium"/>
                <a:sym typeface="Bank Gothic Medium"/>
              </a:rPr>
              <a:t>EXPECTED IMPACT</a:t>
            </a:r>
          </a:p>
        </p:txBody>
      </p:sp>
      <p:sp>
        <p:nvSpPr>
          <p:cNvPr id="26" name="TextBox 26"/>
          <p:cNvSpPr txBox="1"/>
          <p:nvPr/>
        </p:nvSpPr>
        <p:spPr>
          <a:xfrm>
            <a:off x="445039" y="3098620"/>
            <a:ext cx="6288079" cy="5632805"/>
          </a:xfrm>
          <a:prstGeom prst="rect">
            <a:avLst/>
          </a:prstGeom>
        </p:spPr>
        <p:txBody>
          <a:bodyPr lIns="0" tIns="0" rIns="0" bIns="0" rtlCol="0" anchor="t">
            <a:spAutoFit/>
          </a:bodyPr>
          <a:lstStyle/>
          <a:p>
            <a:pPr algn="l">
              <a:lnSpc>
                <a:spcPts val="2609"/>
              </a:lnSpc>
            </a:pPr>
            <a:r>
              <a:rPr lang="en-US" sz="1863">
                <a:solidFill>
                  <a:srgbClr val="55C226"/>
                </a:solidFill>
                <a:latin typeface="Bank Gothic Medium"/>
                <a:ea typeface="Bank Gothic Medium"/>
                <a:cs typeface="Bank Gothic Medium"/>
                <a:sym typeface="Bank Gothic Medium"/>
              </a:rPr>
              <a:t>Banks and Financial Organizations:</a:t>
            </a:r>
          </a:p>
          <a:p>
            <a:pPr marL="402361" lvl="1" indent="-201180" algn="l">
              <a:lnSpc>
                <a:spcPts val="2609"/>
              </a:lnSpc>
              <a:buFont typeface="Arial"/>
              <a:buChar char="•"/>
            </a:pPr>
            <a:r>
              <a:rPr lang="en-US" sz="1863">
                <a:solidFill>
                  <a:srgbClr val="FFFFFF"/>
                </a:solidFill>
                <a:latin typeface="Quicksand"/>
                <a:ea typeface="Quicksand"/>
                <a:cs typeface="Quicksand"/>
                <a:sym typeface="Quicksand"/>
              </a:rPr>
              <a:t>Common visibility into cybersecurity threats.</a:t>
            </a:r>
          </a:p>
          <a:p>
            <a:pPr marL="402361" lvl="1" indent="-201180" algn="l">
              <a:lnSpc>
                <a:spcPts val="2609"/>
              </a:lnSpc>
              <a:buFont typeface="Arial"/>
              <a:buChar char="•"/>
            </a:pPr>
            <a:r>
              <a:rPr lang="en-US" sz="1863">
                <a:solidFill>
                  <a:srgbClr val="FFFFFF"/>
                </a:solidFill>
                <a:latin typeface="Quicksand"/>
                <a:ea typeface="Quicksand"/>
                <a:cs typeface="Quicksand"/>
                <a:sym typeface="Quicksand"/>
              </a:rPr>
              <a:t>Quick identification and classification of critical weaknesses.</a:t>
            </a:r>
          </a:p>
          <a:p>
            <a:pPr marL="402361" lvl="1" indent="-201180" algn="l">
              <a:lnSpc>
                <a:spcPts val="2609"/>
              </a:lnSpc>
              <a:buFont typeface="Arial"/>
              <a:buChar char="•"/>
            </a:pPr>
            <a:r>
              <a:rPr lang="en-US" sz="1863">
                <a:solidFill>
                  <a:srgbClr val="FFFFFF"/>
                </a:solidFill>
                <a:latin typeface="Quicksand"/>
                <a:ea typeface="Quicksand"/>
                <a:cs typeface="Quicksand"/>
                <a:sym typeface="Quicksand"/>
              </a:rPr>
              <a:t>Enhanced allocation of security budget using risk-based recommendations.</a:t>
            </a:r>
          </a:p>
          <a:p>
            <a:pPr marL="402361" lvl="1" indent="-201180" algn="l">
              <a:lnSpc>
                <a:spcPts val="2609"/>
              </a:lnSpc>
              <a:buFont typeface="Arial"/>
              <a:buChar char="•"/>
            </a:pPr>
            <a:r>
              <a:rPr lang="en-US" sz="1863">
                <a:solidFill>
                  <a:srgbClr val="FFFFFF"/>
                </a:solidFill>
                <a:latin typeface="Quicksand"/>
                <a:ea typeface="Quicksand"/>
                <a:cs typeface="Quicksand"/>
                <a:sym typeface="Quicksand"/>
              </a:rPr>
              <a:t>Easier way to compile evidence-supported compliance documents.</a:t>
            </a:r>
          </a:p>
          <a:p>
            <a:pPr algn="l">
              <a:lnSpc>
                <a:spcPts val="2609"/>
              </a:lnSpc>
            </a:pPr>
            <a:endParaRPr lang="en-US" sz="1863">
              <a:solidFill>
                <a:srgbClr val="FFFFFF"/>
              </a:solidFill>
              <a:latin typeface="Quicksand"/>
              <a:ea typeface="Quicksand"/>
              <a:cs typeface="Quicksand"/>
              <a:sym typeface="Quicksand"/>
            </a:endParaRPr>
          </a:p>
          <a:p>
            <a:pPr algn="l">
              <a:lnSpc>
                <a:spcPts val="2609"/>
              </a:lnSpc>
            </a:pPr>
            <a:r>
              <a:rPr lang="en-US" sz="1863">
                <a:solidFill>
                  <a:srgbClr val="55C226"/>
                </a:solidFill>
                <a:latin typeface="Bank Gothic Medium"/>
                <a:ea typeface="Bank Gothic Medium"/>
                <a:cs typeface="Bank Gothic Medium"/>
                <a:sym typeface="Bank Gothic Medium"/>
              </a:rPr>
              <a:t>Security Teams:</a:t>
            </a:r>
          </a:p>
          <a:p>
            <a:pPr marL="402361" lvl="1" indent="-201180" algn="l">
              <a:lnSpc>
                <a:spcPts val="2609"/>
              </a:lnSpc>
              <a:buFont typeface="Arial"/>
              <a:buChar char="•"/>
            </a:pPr>
            <a:r>
              <a:rPr lang="en-US" sz="1863">
                <a:solidFill>
                  <a:srgbClr val="FFFFFF"/>
                </a:solidFill>
                <a:latin typeface="Quicksand"/>
                <a:ea typeface="Quicksand"/>
                <a:cs typeface="Quicksand"/>
                <a:sym typeface="Quicksand"/>
              </a:rPr>
              <a:t>Less manual work in the review of alerts.</a:t>
            </a:r>
          </a:p>
          <a:p>
            <a:pPr marL="402361" lvl="1" indent="-201180" algn="l">
              <a:lnSpc>
                <a:spcPts val="2609"/>
              </a:lnSpc>
              <a:buFont typeface="Arial"/>
              <a:buChar char="•"/>
            </a:pPr>
            <a:r>
              <a:rPr lang="en-US" sz="1863">
                <a:solidFill>
                  <a:srgbClr val="FFFFFF"/>
                </a:solidFill>
                <a:latin typeface="Quicksand"/>
                <a:ea typeface="Quicksand"/>
                <a:cs typeface="Quicksand"/>
                <a:sym typeface="Quicksand"/>
              </a:rPr>
              <a:t>More clear information about risks to allow for smart decision-making.</a:t>
            </a:r>
          </a:p>
          <a:p>
            <a:pPr marL="402361" lvl="1" indent="-201180" algn="l">
              <a:lnSpc>
                <a:spcPts val="2609"/>
              </a:lnSpc>
              <a:buFont typeface="Arial"/>
              <a:buChar char="•"/>
            </a:pPr>
            <a:r>
              <a:rPr lang="en-US" sz="1863">
                <a:solidFill>
                  <a:srgbClr val="FFFFFF"/>
                </a:solidFill>
                <a:latin typeface="Quicksand"/>
                <a:ea typeface="Quicksand"/>
                <a:cs typeface="Quicksand"/>
                <a:sym typeface="Quicksand"/>
              </a:rPr>
              <a:t>Consequently, improved work among security systems.</a:t>
            </a:r>
          </a:p>
          <a:p>
            <a:pPr algn="l">
              <a:lnSpc>
                <a:spcPts val="2889"/>
              </a:lnSpc>
            </a:pPr>
            <a:endParaRPr lang="en-US" sz="1863">
              <a:solidFill>
                <a:srgbClr val="FFFFFF"/>
              </a:solidFill>
              <a:latin typeface="Quicksand"/>
              <a:ea typeface="Quicksand"/>
              <a:cs typeface="Quicksand"/>
              <a:sym typeface="Quicksand"/>
            </a:endParaRPr>
          </a:p>
          <a:p>
            <a:pPr algn="l">
              <a:lnSpc>
                <a:spcPts val="3301"/>
              </a:lnSpc>
            </a:pPr>
            <a:endParaRPr lang="en-US" sz="1863">
              <a:solidFill>
                <a:srgbClr val="FFFFFF"/>
              </a:solidFill>
              <a:latin typeface="Quicksand"/>
              <a:ea typeface="Quicksand"/>
              <a:cs typeface="Quicksand"/>
              <a:sym typeface="Quicksand"/>
            </a:endParaRPr>
          </a:p>
        </p:txBody>
      </p:sp>
      <p:sp>
        <p:nvSpPr>
          <p:cNvPr id="27" name="TextBox 27"/>
          <p:cNvSpPr txBox="1"/>
          <p:nvPr/>
        </p:nvSpPr>
        <p:spPr>
          <a:xfrm>
            <a:off x="10105180" y="2531671"/>
            <a:ext cx="2890004" cy="530859"/>
          </a:xfrm>
          <a:prstGeom prst="rect">
            <a:avLst/>
          </a:prstGeom>
        </p:spPr>
        <p:txBody>
          <a:bodyPr lIns="0" tIns="0" rIns="0" bIns="0" rtlCol="0" anchor="t">
            <a:spAutoFit/>
          </a:bodyPr>
          <a:lstStyle/>
          <a:p>
            <a:pPr algn="ctr">
              <a:lnSpc>
                <a:spcPts val="4340"/>
              </a:lnSpc>
            </a:pPr>
            <a:r>
              <a:rPr lang="en-US" sz="3100">
                <a:solidFill>
                  <a:srgbClr val="55C226"/>
                </a:solidFill>
                <a:latin typeface="Bank Gothic Medium"/>
                <a:ea typeface="Bank Gothic Medium"/>
                <a:cs typeface="Bank Gothic Medium"/>
                <a:sym typeface="Bank Gothic Medium"/>
              </a:rPr>
              <a:t>SCALABILITY</a:t>
            </a:r>
          </a:p>
        </p:txBody>
      </p:sp>
      <p:sp>
        <p:nvSpPr>
          <p:cNvPr id="28" name="TextBox 28"/>
          <p:cNvSpPr txBox="1"/>
          <p:nvPr/>
        </p:nvSpPr>
        <p:spPr>
          <a:xfrm>
            <a:off x="7676386" y="3057450"/>
            <a:ext cx="7989111" cy="2821524"/>
          </a:xfrm>
          <a:prstGeom prst="rect">
            <a:avLst/>
          </a:prstGeom>
        </p:spPr>
        <p:txBody>
          <a:bodyPr lIns="0" tIns="0" rIns="0" bIns="0" rtlCol="0" anchor="t">
            <a:spAutoFit/>
          </a:bodyPr>
          <a:lstStyle/>
          <a:p>
            <a:pPr algn="l">
              <a:lnSpc>
                <a:spcPts val="2507"/>
              </a:lnSpc>
            </a:pPr>
            <a:r>
              <a:rPr lang="en-US" sz="1791">
                <a:solidFill>
                  <a:srgbClr val="FFFFFF"/>
                </a:solidFill>
                <a:latin typeface="Quicksand"/>
                <a:ea typeface="Quicksand"/>
                <a:cs typeface="Quicksand"/>
                <a:sym typeface="Quicksand"/>
              </a:rPr>
              <a:t>Stage 1) Prototype Hackathon: </a:t>
            </a:r>
          </a:p>
          <a:p>
            <a:pPr algn="l">
              <a:lnSpc>
                <a:spcPts val="2507"/>
              </a:lnSpc>
            </a:pPr>
            <a:r>
              <a:rPr lang="en-US" sz="1791">
                <a:solidFill>
                  <a:srgbClr val="FFFFFF"/>
                </a:solidFill>
                <a:latin typeface="Quicksand"/>
                <a:ea typeface="Quicksand"/>
                <a:cs typeface="Quicksand"/>
                <a:sym typeface="Quicksand"/>
              </a:rPr>
              <a:t>Simulated security information, risk evaluation, and user-friendly dashboard.</a:t>
            </a:r>
          </a:p>
          <a:p>
            <a:pPr algn="l">
              <a:lnSpc>
                <a:spcPts val="2507"/>
              </a:lnSpc>
            </a:pPr>
            <a:r>
              <a:rPr lang="en-US" sz="1791">
                <a:solidFill>
                  <a:srgbClr val="FFFFFF"/>
                </a:solidFill>
                <a:latin typeface="Quicksand"/>
                <a:ea typeface="Quicksand"/>
                <a:cs typeface="Quicksand"/>
                <a:sym typeface="Quicksand"/>
              </a:rPr>
              <a:t>Stage 2) Pilot Implementation:</a:t>
            </a:r>
          </a:p>
          <a:p>
            <a:pPr algn="l">
              <a:lnSpc>
                <a:spcPts val="2507"/>
              </a:lnSpc>
            </a:pPr>
            <a:r>
              <a:rPr lang="en-US" sz="1791">
                <a:solidFill>
                  <a:srgbClr val="FFFFFF"/>
                </a:solidFill>
                <a:latin typeface="Quicksand"/>
                <a:ea typeface="Quicksand"/>
                <a:cs typeface="Quicksand"/>
                <a:sym typeface="Quicksand"/>
              </a:rPr>
              <a:t>Connect selected security tools, and execute them through recognized test environments.</a:t>
            </a:r>
          </a:p>
          <a:p>
            <a:pPr algn="l">
              <a:lnSpc>
                <a:spcPts val="2507"/>
              </a:lnSpc>
            </a:pPr>
            <a:r>
              <a:rPr lang="en-US" sz="1791">
                <a:solidFill>
                  <a:srgbClr val="FFFFFF"/>
                </a:solidFill>
                <a:latin typeface="Quicksand"/>
                <a:ea typeface="Quicksand"/>
                <a:cs typeface="Quicksand"/>
                <a:sym typeface="Quicksand"/>
              </a:rPr>
              <a:t>Stage 3) Organization Level:</a:t>
            </a:r>
          </a:p>
          <a:p>
            <a:pPr algn="l">
              <a:lnSpc>
                <a:spcPts val="2507"/>
              </a:lnSpc>
            </a:pPr>
            <a:r>
              <a:rPr lang="en-US" sz="1791">
                <a:solidFill>
                  <a:srgbClr val="FFFFFF"/>
                </a:solidFill>
                <a:latin typeface="Quicksand"/>
                <a:ea typeface="Quicksand"/>
                <a:cs typeface="Quicksand"/>
                <a:sym typeface="Quicksand"/>
              </a:rPr>
              <a:t>Cloud-based deployment, expansion of data pipeline, complicated threat association systems, and multi-bank capability.</a:t>
            </a:r>
          </a:p>
        </p:txBody>
      </p:sp>
      <p:sp>
        <p:nvSpPr>
          <p:cNvPr id="29" name="TextBox 29"/>
          <p:cNvSpPr txBox="1"/>
          <p:nvPr/>
        </p:nvSpPr>
        <p:spPr>
          <a:xfrm>
            <a:off x="7730866" y="6196980"/>
            <a:ext cx="7484211" cy="1591145"/>
          </a:xfrm>
          <a:prstGeom prst="rect">
            <a:avLst/>
          </a:prstGeom>
        </p:spPr>
        <p:txBody>
          <a:bodyPr lIns="0" tIns="0" rIns="0" bIns="0" rtlCol="0" anchor="t">
            <a:spAutoFit/>
          </a:bodyPr>
          <a:lstStyle/>
          <a:p>
            <a:pPr algn="l">
              <a:lnSpc>
                <a:spcPts val="2669"/>
              </a:lnSpc>
            </a:pPr>
            <a:endParaRPr/>
          </a:p>
          <a:p>
            <a:pPr algn="l">
              <a:lnSpc>
                <a:spcPts val="2669"/>
              </a:lnSpc>
            </a:pPr>
            <a:r>
              <a:rPr lang="en-US" sz="1906">
                <a:solidFill>
                  <a:srgbClr val="55C226"/>
                </a:solidFill>
                <a:latin typeface="Bank Gothic Medium"/>
                <a:ea typeface="Bank Gothic Medium"/>
                <a:cs typeface="Bank Gothic Medium"/>
                <a:sym typeface="Bank Gothic Medium"/>
              </a:rPr>
              <a:t>Long-term vision:</a:t>
            </a:r>
          </a:p>
          <a:p>
            <a:pPr algn="l">
              <a:lnSpc>
                <a:spcPts val="2529"/>
              </a:lnSpc>
            </a:pPr>
            <a:r>
              <a:rPr lang="en-US" sz="1806">
                <a:solidFill>
                  <a:srgbClr val="FFFFFF"/>
                </a:solidFill>
                <a:latin typeface="Quicksand"/>
                <a:ea typeface="Quicksand"/>
                <a:cs typeface="Quicksand"/>
                <a:sym typeface="Quicksand"/>
              </a:rPr>
              <a:t>Shape CYBERQ into a centralized cyber intelligence platform geared towards financial institutions.</a:t>
            </a:r>
          </a:p>
          <a:p>
            <a:pPr algn="l">
              <a:lnSpc>
                <a:spcPts val="2529"/>
              </a:lnSpc>
            </a:pPr>
            <a:r>
              <a:rPr lang="en-US" sz="1806">
                <a:solidFill>
                  <a:srgbClr val="FFFFFF"/>
                </a:solidFill>
                <a:latin typeface="Quicksand"/>
                <a:ea typeface="Quicksand"/>
                <a:cs typeface="Quicksand"/>
                <a:sym typeface="Quicksand"/>
              </a:rPr>
              <a:t>Key value: Better visibility; smarter prioritization and budget control.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2" y="1264148"/>
            <a:ext cx="3048000" cy="3752850"/>
            <a:chOff x="0" y="0"/>
            <a:chExt cx="4064000" cy="5003800"/>
          </a:xfrm>
        </p:grpSpPr>
        <p:sp>
          <p:nvSpPr>
            <p:cNvPr id="3" name="Freeform 3"/>
            <p:cNvSpPr/>
            <p:nvPr/>
          </p:nvSpPr>
          <p:spPr>
            <a:xfrm>
              <a:off x="0" y="0"/>
              <a:ext cx="4064000" cy="5003800"/>
            </a:xfrm>
            <a:custGeom>
              <a:avLst/>
              <a:gdLst/>
              <a:ahLst/>
              <a:cxnLst/>
              <a:rect l="l" t="t" r="r" b="b"/>
              <a:pathLst>
                <a:path w="4064000" h="5003800">
                  <a:moveTo>
                    <a:pt x="0" y="0"/>
                  </a:moveTo>
                  <a:lnTo>
                    <a:pt x="4064000" y="0"/>
                  </a:lnTo>
                  <a:lnTo>
                    <a:pt x="4064000" y="5003800"/>
                  </a:lnTo>
                  <a:lnTo>
                    <a:pt x="0" y="5003800"/>
                  </a:lnTo>
                  <a:lnTo>
                    <a:pt x="0" y="0"/>
                  </a:lnTo>
                  <a:close/>
                </a:path>
              </a:pathLst>
            </a:custGeom>
            <a:blipFill>
              <a:blip r:embed="rId2"/>
              <a:stretch>
                <a:fillRect/>
              </a:stretch>
            </a:blipFill>
          </p:spPr>
        </p:sp>
      </p:grpSp>
      <p:grpSp>
        <p:nvGrpSpPr>
          <p:cNvPr id="4" name="Group 4"/>
          <p:cNvGrpSpPr/>
          <p:nvPr/>
        </p:nvGrpSpPr>
        <p:grpSpPr>
          <a:xfrm>
            <a:off x="12923939" y="1264148"/>
            <a:ext cx="3048000" cy="3752850"/>
            <a:chOff x="0" y="0"/>
            <a:chExt cx="4064000" cy="5003800"/>
          </a:xfrm>
        </p:grpSpPr>
        <p:sp>
          <p:nvSpPr>
            <p:cNvPr id="5" name="Freeform 5"/>
            <p:cNvSpPr/>
            <p:nvPr/>
          </p:nvSpPr>
          <p:spPr>
            <a:xfrm>
              <a:off x="0" y="0"/>
              <a:ext cx="4064000" cy="5003800"/>
            </a:xfrm>
            <a:custGeom>
              <a:avLst/>
              <a:gdLst/>
              <a:ahLst/>
              <a:cxnLst/>
              <a:rect l="l" t="t" r="r" b="b"/>
              <a:pathLst>
                <a:path w="4064000" h="5003800">
                  <a:moveTo>
                    <a:pt x="0" y="0"/>
                  </a:moveTo>
                  <a:lnTo>
                    <a:pt x="4064000" y="0"/>
                  </a:lnTo>
                  <a:lnTo>
                    <a:pt x="4064000" y="5003800"/>
                  </a:lnTo>
                  <a:lnTo>
                    <a:pt x="0" y="5003800"/>
                  </a:lnTo>
                  <a:lnTo>
                    <a:pt x="0" y="0"/>
                  </a:lnTo>
                  <a:close/>
                </a:path>
              </a:pathLst>
            </a:custGeom>
            <a:blipFill>
              <a:blip r:embed="rId3"/>
              <a:stretch>
                <a:fillRect/>
              </a:stretch>
            </a:blipFill>
          </p:spPr>
        </p:sp>
      </p:grpSp>
      <p:grpSp>
        <p:nvGrpSpPr>
          <p:cNvPr id="6" name="Group 6"/>
          <p:cNvGrpSpPr/>
          <p:nvPr/>
        </p:nvGrpSpPr>
        <p:grpSpPr>
          <a:xfrm>
            <a:off x="0" y="0"/>
            <a:ext cx="15973425" cy="8934450"/>
            <a:chOff x="0" y="0"/>
            <a:chExt cx="21297900" cy="11912600"/>
          </a:xfrm>
        </p:grpSpPr>
        <p:sp>
          <p:nvSpPr>
            <p:cNvPr id="7" name="Freeform 7"/>
            <p:cNvSpPr/>
            <p:nvPr/>
          </p:nvSpPr>
          <p:spPr>
            <a:xfrm>
              <a:off x="0" y="0"/>
              <a:ext cx="21297900" cy="11912600"/>
            </a:xfrm>
            <a:custGeom>
              <a:avLst/>
              <a:gdLst/>
              <a:ahLst/>
              <a:cxnLst/>
              <a:rect l="l" t="t" r="r" b="b"/>
              <a:pathLst>
                <a:path w="21297900" h="11912600">
                  <a:moveTo>
                    <a:pt x="0" y="0"/>
                  </a:moveTo>
                  <a:lnTo>
                    <a:pt x="21297900" y="0"/>
                  </a:lnTo>
                  <a:lnTo>
                    <a:pt x="21297900" y="11912600"/>
                  </a:lnTo>
                  <a:lnTo>
                    <a:pt x="0" y="11912600"/>
                  </a:lnTo>
                  <a:lnTo>
                    <a:pt x="0" y="0"/>
                  </a:lnTo>
                  <a:close/>
                </a:path>
              </a:pathLst>
            </a:custGeom>
            <a:blipFill>
              <a:blip r:embed="rId4"/>
              <a:stretch>
                <a:fillRect t="-25389" r="-2087" b="-25889"/>
              </a:stretch>
            </a:blipFill>
          </p:spPr>
        </p:sp>
      </p:grpSp>
      <p:grpSp>
        <p:nvGrpSpPr>
          <p:cNvPr id="8" name="Group 8"/>
          <p:cNvGrpSpPr/>
          <p:nvPr/>
        </p:nvGrpSpPr>
        <p:grpSpPr>
          <a:xfrm>
            <a:off x="0" y="0"/>
            <a:ext cx="15925800" cy="8934450"/>
            <a:chOff x="0" y="0"/>
            <a:chExt cx="15925800" cy="8934450"/>
          </a:xfrm>
        </p:grpSpPr>
        <p:sp>
          <p:nvSpPr>
            <p:cNvPr id="9" name="Freeform 9"/>
            <p:cNvSpPr/>
            <p:nvPr/>
          </p:nvSpPr>
          <p:spPr>
            <a:xfrm>
              <a:off x="0" y="0"/>
              <a:ext cx="15925800" cy="8934450"/>
            </a:xfrm>
            <a:custGeom>
              <a:avLst/>
              <a:gdLst/>
              <a:ahLst/>
              <a:cxnLst/>
              <a:rect l="l" t="t" r="r" b="b"/>
              <a:pathLst>
                <a:path w="15925800" h="8934450">
                  <a:moveTo>
                    <a:pt x="0" y="0"/>
                  </a:moveTo>
                  <a:lnTo>
                    <a:pt x="0" y="8934450"/>
                  </a:lnTo>
                  <a:lnTo>
                    <a:pt x="15925800" y="8934450"/>
                  </a:lnTo>
                  <a:lnTo>
                    <a:pt x="15925800" y="0"/>
                  </a:lnTo>
                  <a:close/>
                </a:path>
              </a:pathLst>
            </a:custGeom>
            <a:solidFill>
              <a:srgbClr val="000000"/>
            </a:solidFill>
          </p:spPr>
        </p:sp>
      </p:grpSp>
      <p:grpSp>
        <p:nvGrpSpPr>
          <p:cNvPr id="10" name="Group 10"/>
          <p:cNvGrpSpPr/>
          <p:nvPr/>
        </p:nvGrpSpPr>
        <p:grpSpPr>
          <a:xfrm>
            <a:off x="3603908" y="3137716"/>
            <a:ext cx="8763000" cy="190500"/>
            <a:chOff x="0" y="0"/>
            <a:chExt cx="11684000" cy="254000"/>
          </a:xfrm>
        </p:grpSpPr>
        <p:sp>
          <p:nvSpPr>
            <p:cNvPr id="11" name="Freeform 11"/>
            <p:cNvSpPr/>
            <p:nvPr/>
          </p:nvSpPr>
          <p:spPr>
            <a:xfrm>
              <a:off x="0" y="0"/>
              <a:ext cx="11684000" cy="254000"/>
            </a:xfrm>
            <a:custGeom>
              <a:avLst/>
              <a:gdLst/>
              <a:ahLst/>
              <a:cxnLst/>
              <a:rect l="l" t="t" r="r" b="b"/>
              <a:pathLst>
                <a:path w="11684000" h="254000">
                  <a:moveTo>
                    <a:pt x="0" y="0"/>
                  </a:moveTo>
                  <a:lnTo>
                    <a:pt x="11684000" y="0"/>
                  </a:lnTo>
                  <a:lnTo>
                    <a:pt x="11684000" y="254000"/>
                  </a:lnTo>
                  <a:lnTo>
                    <a:pt x="0" y="254000"/>
                  </a:lnTo>
                  <a:lnTo>
                    <a:pt x="0" y="0"/>
                  </a:lnTo>
                  <a:close/>
                </a:path>
              </a:pathLst>
            </a:custGeom>
            <a:blipFill>
              <a:blip r:embed="rId5"/>
              <a:stretch>
                <a:fillRect/>
              </a:stretch>
            </a:blipFill>
          </p:spPr>
        </p:sp>
      </p:grpSp>
      <p:grpSp>
        <p:nvGrpSpPr>
          <p:cNvPr id="12" name="Group 12"/>
          <p:cNvGrpSpPr/>
          <p:nvPr/>
        </p:nvGrpSpPr>
        <p:grpSpPr>
          <a:xfrm>
            <a:off x="3603908" y="4403103"/>
            <a:ext cx="1647825" cy="247650"/>
            <a:chOff x="0" y="0"/>
            <a:chExt cx="2197100" cy="330200"/>
          </a:xfrm>
        </p:grpSpPr>
        <p:sp>
          <p:nvSpPr>
            <p:cNvPr id="13" name="Freeform 13"/>
            <p:cNvSpPr/>
            <p:nvPr/>
          </p:nvSpPr>
          <p:spPr>
            <a:xfrm>
              <a:off x="0" y="0"/>
              <a:ext cx="2197100" cy="330200"/>
            </a:xfrm>
            <a:custGeom>
              <a:avLst/>
              <a:gdLst/>
              <a:ahLst/>
              <a:cxnLst/>
              <a:rect l="l" t="t" r="r" b="b"/>
              <a:pathLst>
                <a:path w="2197100" h="330200">
                  <a:moveTo>
                    <a:pt x="0" y="0"/>
                  </a:moveTo>
                  <a:lnTo>
                    <a:pt x="2197100" y="0"/>
                  </a:lnTo>
                  <a:lnTo>
                    <a:pt x="2197100" y="330200"/>
                  </a:lnTo>
                  <a:lnTo>
                    <a:pt x="0" y="330200"/>
                  </a:lnTo>
                  <a:lnTo>
                    <a:pt x="0" y="0"/>
                  </a:lnTo>
                  <a:close/>
                </a:path>
              </a:pathLst>
            </a:custGeom>
            <a:blipFill>
              <a:blip r:embed="rId6"/>
              <a:stretch>
                <a:fillRect/>
              </a:stretch>
            </a:blipFill>
          </p:spPr>
        </p:sp>
      </p:grpSp>
      <p:grpSp>
        <p:nvGrpSpPr>
          <p:cNvPr id="14" name="Group 14"/>
          <p:cNvGrpSpPr/>
          <p:nvPr/>
        </p:nvGrpSpPr>
        <p:grpSpPr>
          <a:xfrm>
            <a:off x="10772384" y="4447299"/>
            <a:ext cx="1600200" cy="238125"/>
            <a:chOff x="0" y="0"/>
            <a:chExt cx="2133600" cy="317500"/>
          </a:xfrm>
        </p:grpSpPr>
        <p:sp>
          <p:nvSpPr>
            <p:cNvPr id="15" name="Freeform 15"/>
            <p:cNvSpPr/>
            <p:nvPr/>
          </p:nvSpPr>
          <p:spPr>
            <a:xfrm>
              <a:off x="0" y="0"/>
              <a:ext cx="2133600" cy="317500"/>
            </a:xfrm>
            <a:custGeom>
              <a:avLst/>
              <a:gdLst/>
              <a:ahLst/>
              <a:cxnLst/>
              <a:rect l="l" t="t" r="r" b="b"/>
              <a:pathLst>
                <a:path w="2133600" h="317500">
                  <a:moveTo>
                    <a:pt x="0" y="0"/>
                  </a:moveTo>
                  <a:lnTo>
                    <a:pt x="2133600" y="0"/>
                  </a:lnTo>
                  <a:lnTo>
                    <a:pt x="2133600" y="317500"/>
                  </a:lnTo>
                  <a:lnTo>
                    <a:pt x="0" y="317500"/>
                  </a:lnTo>
                  <a:lnTo>
                    <a:pt x="0" y="0"/>
                  </a:lnTo>
                  <a:close/>
                </a:path>
              </a:pathLst>
            </a:custGeom>
            <a:blipFill>
              <a:blip r:embed="rId7"/>
              <a:stretch>
                <a:fillRect/>
              </a:stretch>
            </a:blipFill>
          </p:spPr>
        </p:sp>
      </p:grpSp>
      <p:grpSp>
        <p:nvGrpSpPr>
          <p:cNvPr id="16" name="Group 16"/>
          <p:cNvGrpSpPr/>
          <p:nvPr/>
        </p:nvGrpSpPr>
        <p:grpSpPr>
          <a:xfrm>
            <a:off x="842867" y="34623"/>
            <a:ext cx="1933575" cy="828675"/>
            <a:chOff x="0" y="0"/>
            <a:chExt cx="2578100" cy="1104900"/>
          </a:xfrm>
        </p:grpSpPr>
        <p:sp>
          <p:nvSpPr>
            <p:cNvPr id="17" name="Freeform 17"/>
            <p:cNvSpPr/>
            <p:nvPr/>
          </p:nvSpPr>
          <p:spPr>
            <a:xfrm>
              <a:off x="0" y="0"/>
              <a:ext cx="2578100" cy="1104900"/>
            </a:xfrm>
            <a:custGeom>
              <a:avLst/>
              <a:gdLst/>
              <a:ahLst/>
              <a:cxnLst/>
              <a:rect l="l" t="t" r="r" b="b"/>
              <a:pathLst>
                <a:path w="2578100" h="1104900">
                  <a:moveTo>
                    <a:pt x="0" y="0"/>
                  </a:moveTo>
                  <a:lnTo>
                    <a:pt x="2578100" y="0"/>
                  </a:lnTo>
                  <a:lnTo>
                    <a:pt x="2578100" y="1104900"/>
                  </a:lnTo>
                  <a:lnTo>
                    <a:pt x="0" y="1104900"/>
                  </a:lnTo>
                  <a:lnTo>
                    <a:pt x="0" y="0"/>
                  </a:lnTo>
                  <a:close/>
                </a:path>
              </a:pathLst>
            </a:custGeom>
            <a:blipFill>
              <a:blip r:embed="rId8"/>
              <a:stretch>
                <a:fillRect l="-2137" t="-27513" r="-4759" b="-42601"/>
              </a:stretch>
            </a:blipFill>
          </p:spPr>
        </p:sp>
      </p:grpSp>
      <p:grpSp>
        <p:nvGrpSpPr>
          <p:cNvPr id="18" name="Group 18"/>
          <p:cNvGrpSpPr/>
          <p:nvPr/>
        </p:nvGrpSpPr>
        <p:grpSpPr>
          <a:xfrm>
            <a:off x="0" y="27851"/>
            <a:ext cx="590550" cy="828675"/>
            <a:chOff x="0" y="0"/>
            <a:chExt cx="787400" cy="1104900"/>
          </a:xfrm>
        </p:grpSpPr>
        <p:sp>
          <p:nvSpPr>
            <p:cNvPr id="19" name="Freeform 19"/>
            <p:cNvSpPr/>
            <p:nvPr/>
          </p:nvSpPr>
          <p:spPr>
            <a:xfrm>
              <a:off x="0" y="0"/>
              <a:ext cx="787400" cy="1104900"/>
            </a:xfrm>
            <a:custGeom>
              <a:avLst/>
              <a:gdLst/>
              <a:ahLst/>
              <a:cxnLst/>
              <a:rect l="l" t="t" r="r" b="b"/>
              <a:pathLst>
                <a:path w="787400" h="1104900">
                  <a:moveTo>
                    <a:pt x="0" y="0"/>
                  </a:moveTo>
                  <a:lnTo>
                    <a:pt x="787400" y="0"/>
                  </a:lnTo>
                  <a:lnTo>
                    <a:pt x="787400" y="1104900"/>
                  </a:lnTo>
                  <a:lnTo>
                    <a:pt x="0" y="1104900"/>
                  </a:lnTo>
                  <a:lnTo>
                    <a:pt x="0" y="0"/>
                  </a:lnTo>
                  <a:close/>
                </a:path>
              </a:pathLst>
            </a:custGeom>
            <a:blipFill>
              <a:blip r:embed="rId9"/>
              <a:stretch>
                <a:fillRect/>
              </a:stretch>
            </a:blipFill>
          </p:spPr>
        </p:sp>
      </p:grpSp>
      <p:sp>
        <p:nvSpPr>
          <p:cNvPr id="20" name="Freeform 20"/>
          <p:cNvSpPr/>
          <p:nvPr/>
        </p:nvSpPr>
        <p:spPr>
          <a:xfrm>
            <a:off x="757990" y="68456"/>
            <a:ext cx="28575" cy="824970"/>
          </a:xfrm>
          <a:custGeom>
            <a:avLst/>
            <a:gdLst/>
            <a:ahLst/>
            <a:cxnLst/>
            <a:rect l="l" t="t" r="r" b="b"/>
            <a:pathLst>
              <a:path w="28575" h="824970">
                <a:moveTo>
                  <a:pt x="0" y="0"/>
                </a:moveTo>
                <a:lnTo>
                  <a:pt x="28575" y="0"/>
                </a:lnTo>
                <a:lnTo>
                  <a:pt x="28575" y="824970"/>
                </a:lnTo>
                <a:lnTo>
                  <a:pt x="0" y="824970"/>
                </a:lnTo>
                <a:lnTo>
                  <a:pt x="0" y="0"/>
                </a:lnTo>
                <a:close/>
              </a:path>
            </a:pathLst>
          </a:custGeom>
          <a:blipFill>
            <a:blip>
              <a:extLst>
                <a:ext uri="{96DAC541-7B7A-43D3-8B79-37D633B846F1}">
                  <asvg:svgBlip xmlns:asvg="http://schemas.microsoft.com/office/drawing/2016/SVG/main" r:embed="rId10"/>
                </a:ext>
              </a:extLst>
            </a:blip>
            <a:stretch>
              <a:fillRect/>
            </a:stretch>
          </a:blipFill>
        </p:spPr>
      </p:sp>
      <p:grpSp>
        <p:nvGrpSpPr>
          <p:cNvPr id="21" name="Group 21"/>
          <p:cNvGrpSpPr/>
          <p:nvPr/>
        </p:nvGrpSpPr>
        <p:grpSpPr>
          <a:xfrm>
            <a:off x="14064891" y="76733"/>
            <a:ext cx="1819275" cy="1038225"/>
            <a:chOff x="0" y="0"/>
            <a:chExt cx="2425700" cy="1384300"/>
          </a:xfrm>
        </p:grpSpPr>
        <p:sp>
          <p:nvSpPr>
            <p:cNvPr id="22" name="Freeform 22"/>
            <p:cNvSpPr/>
            <p:nvPr/>
          </p:nvSpPr>
          <p:spPr>
            <a:xfrm>
              <a:off x="0" y="0"/>
              <a:ext cx="2425700" cy="1384300"/>
            </a:xfrm>
            <a:custGeom>
              <a:avLst/>
              <a:gdLst/>
              <a:ahLst/>
              <a:cxnLst/>
              <a:rect l="l" t="t" r="r" b="b"/>
              <a:pathLst>
                <a:path w="2425700" h="1384300">
                  <a:moveTo>
                    <a:pt x="0" y="0"/>
                  </a:moveTo>
                  <a:lnTo>
                    <a:pt x="2425700" y="0"/>
                  </a:lnTo>
                  <a:lnTo>
                    <a:pt x="2425700" y="1384300"/>
                  </a:lnTo>
                  <a:lnTo>
                    <a:pt x="0" y="1384300"/>
                  </a:lnTo>
                  <a:lnTo>
                    <a:pt x="0" y="0"/>
                  </a:lnTo>
                  <a:close/>
                </a:path>
              </a:pathLst>
            </a:custGeom>
            <a:blipFill>
              <a:blip r:embed="rId11"/>
              <a:stretch>
                <a:fillRect/>
              </a:stretch>
            </a:blipFill>
          </p:spPr>
        </p:sp>
      </p:grpSp>
      <p:grpSp>
        <p:nvGrpSpPr>
          <p:cNvPr id="23" name="Group 23"/>
          <p:cNvGrpSpPr/>
          <p:nvPr/>
        </p:nvGrpSpPr>
        <p:grpSpPr>
          <a:xfrm>
            <a:off x="10823448" y="4904232"/>
            <a:ext cx="1630680" cy="582168"/>
            <a:chOff x="0" y="0"/>
            <a:chExt cx="2174240" cy="776224"/>
          </a:xfrm>
        </p:grpSpPr>
        <p:sp>
          <p:nvSpPr>
            <p:cNvPr id="24" name="Freeform 24"/>
            <p:cNvSpPr/>
            <p:nvPr/>
          </p:nvSpPr>
          <p:spPr>
            <a:xfrm>
              <a:off x="0" y="0"/>
              <a:ext cx="2174240" cy="776224"/>
            </a:xfrm>
            <a:custGeom>
              <a:avLst/>
              <a:gdLst/>
              <a:ahLst/>
              <a:cxnLst/>
              <a:rect l="l" t="t" r="r" b="b"/>
              <a:pathLst>
                <a:path w="2174240" h="776224">
                  <a:moveTo>
                    <a:pt x="0" y="0"/>
                  </a:moveTo>
                  <a:lnTo>
                    <a:pt x="2174240" y="0"/>
                  </a:lnTo>
                  <a:lnTo>
                    <a:pt x="2174240" y="776224"/>
                  </a:lnTo>
                  <a:lnTo>
                    <a:pt x="0" y="776224"/>
                  </a:lnTo>
                  <a:lnTo>
                    <a:pt x="0" y="0"/>
                  </a:lnTo>
                  <a:close/>
                </a:path>
              </a:pathLst>
            </a:custGeom>
            <a:blipFill>
              <a:blip r:embed="rId12">
                <a:alphaModFix amt="75000"/>
              </a:blip>
              <a:stretch>
                <a:fillRect l="-186" r="-186"/>
              </a:stretch>
            </a:blipFill>
          </p:spPr>
        </p:sp>
      </p:grpSp>
      <p:grpSp>
        <p:nvGrpSpPr>
          <p:cNvPr id="25" name="Group 25"/>
          <p:cNvGrpSpPr/>
          <p:nvPr/>
        </p:nvGrpSpPr>
        <p:grpSpPr>
          <a:xfrm>
            <a:off x="12524108" y="5020837"/>
            <a:ext cx="1304925" cy="371475"/>
            <a:chOff x="0" y="0"/>
            <a:chExt cx="1739900" cy="495300"/>
          </a:xfrm>
        </p:grpSpPr>
        <p:sp>
          <p:nvSpPr>
            <p:cNvPr id="26" name="Freeform 26"/>
            <p:cNvSpPr/>
            <p:nvPr/>
          </p:nvSpPr>
          <p:spPr>
            <a:xfrm>
              <a:off x="0" y="0"/>
              <a:ext cx="1739900" cy="495300"/>
            </a:xfrm>
            <a:custGeom>
              <a:avLst/>
              <a:gdLst/>
              <a:ahLst/>
              <a:cxnLst/>
              <a:rect l="l" t="t" r="r" b="b"/>
              <a:pathLst>
                <a:path w="1739900" h="495300">
                  <a:moveTo>
                    <a:pt x="0" y="0"/>
                  </a:moveTo>
                  <a:lnTo>
                    <a:pt x="1739900" y="0"/>
                  </a:lnTo>
                  <a:lnTo>
                    <a:pt x="1739900" y="495300"/>
                  </a:lnTo>
                  <a:lnTo>
                    <a:pt x="0" y="495300"/>
                  </a:lnTo>
                  <a:lnTo>
                    <a:pt x="0" y="0"/>
                  </a:lnTo>
                  <a:close/>
                </a:path>
              </a:pathLst>
            </a:custGeom>
            <a:blipFill>
              <a:blip r:embed="rId13"/>
              <a:stretch>
                <a:fillRect/>
              </a:stretch>
            </a:blipFill>
          </p:spPr>
        </p:sp>
      </p:grpSp>
      <p:grpSp>
        <p:nvGrpSpPr>
          <p:cNvPr id="27" name="Group 27"/>
          <p:cNvGrpSpPr/>
          <p:nvPr/>
        </p:nvGrpSpPr>
        <p:grpSpPr>
          <a:xfrm>
            <a:off x="-63503" y="-63503"/>
            <a:ext cx="16052797" cy="9061447"/>
            <a:chOff x="0" y="0"/>
            <a:chExt cx="16052800" cy="9061450"/>
          </a:xfrm>
        </p:grpSpPr>
        <p:sp>
          <p:nvSpPr>
            <p:cNvPr id="28" name="Freeform 28"/>
            <p:cNvSpPr/>
            <p:nvPr/>
          </p:nvSpPr>
          <p:spPr>
            <a:xfrm>
              <a:off x="63500" y="63500"/>
              <a:ext cx="15925800" cy="8934450"/>
            </a:xfrm>
            <a:custGeom>
              <a:avLst/>
              <a:gdLst/>
              <a:ahLst/>
              <a:cxnLst/>
              <a:rect l="l" t="t" r="r" b="b"/>
              <a:pathLst>
                <a:path w="15925800" h="8934450">
                  <a:moveTo>
                    <a:pt x="0" y="0"/>
                  </a:moveTo>
                  <a:lnTo>
                    <a:pt x="0" y="8934450"/>
                  </a:lnTo>
                  <a:lnTo>
                    <a:pt x="15925800" y="8934450"/>
                  </a:lnTo>
                  <a:lnTo>
                    <a:pt x="15925800" y="0"/>
                  </a:lnTo>
                  <a:close/>
                </a:path>
              </a:pathLst>
            </a:custGeom>
            <a:solidFill>
              <a:srgbClr val="000000">
                <a:alpha val="0"/>
              </a:srgbClr>
            </a:solidFill>
          </p:spPr>
        </p:sp>
        <p:sp>
          <p:nvSpPr>
            <p:cNvPr id="29" name="Freeform 29"/>
            <p:cNvSpPr/>
            <p:nvPr/>
          </p:nvSpPr>
          <p:spPr>
            <a:xfrm>
              <a:off x="821563" y="131953"/>
              <a:ext cx="28575" cy="824992"/>
            </a:xfrm>
            <a:custGeom>
              <a:avLst/>
              <a:gdLst/>
              <a:ahLst/>
              <a:cxnLst/>
              <a:rect l="l" t="t" r="r" b="b"/>
              <a:pathLst>
                <a:path w="28575" h="824992">
                  <a:moveTo>
                    <a:pt x="0" y="824992"/>
                  </a:moveTo>
                  <a:lnTo>
                    <a:pt x="28575" y="824992"/>
                  </a:lnTo>
                  <a:lnTo>
                    <a:pt x="28575" y="0"/>
                  </a:lnTo>
                  <a:lnTo>
                    <a:pt x="0" y="0"/>
                  </a:lnTo>
                  <a:close/>
                </a:path>
              </a:pathLst>
            </a:custGeom>
            <a:solidFill>
              <a:srgbClr val="000000">
                <a:alpha val="0"/>
              </a:srgbClr>
            </a:solidFill>
          </p:spPr>
        </p:sp>
      </p:grpSp>
      <p:sp>
        <p:nvSpPr>
          <p:cNvPr id="30" name="TextBox 30"/>
          <p:cNvSpPr txBox="1"/>
          <p:nvPr/>
        </p:nvSpPr>
        <p:spPr>
          <a:xfrm>
            <a:off x="4304890" y="2680516"/>
            <a:ext cx="7510739" cy="1954311"/>
          </a:xfrm>
          <a:prstGeom prst="rect">
            <a:avLst/>
          </a:prstGeom>
        </p:spPr>
        <p:txBody>
          <a:bodyPr lIns="0" tIns="0" rIns="0" bIns="0" rtlCol="0" anchor="t">
            <a:spAutoFit/>
          </a:bodyPr>
          <a:lstStyle/>
          <a:p>
            <a:pPr algn="l">
              <a:lnSpc>
                <a:spcPts val="13437"/>
              </a:lnSpc>
            </a:pPr>
            <a:r>
              <a:rPr lang="en-US" sz="9598" b="1" i="1">
                <a:solidFill>
                  <a:srgbClr val="7ED957"/>
                </a:solidFill>
                <a:latin typeface="Jaturat Semi-Bold Italics"/>
                <a:ea typeface="Jaturat Semi-Bold Italics"/>
                <a:cs typeface="Jaturat Semi-Bold Italics"/>
                <a:sym typeface="Jaturat Semi-Bold Italics"/>
              </a:rPr>
              <a:t>CODE APEX</a:t>
            </a:r>
          </a:p>
        </p:txBody>
      </p:sp>
      <p:sp>
        <p:nvSpPr>
          <p:cNvPr id="31" name="TextBox 31"/>
          <p:cNvSpPr txBox="1"/>
          <p:nvPr/>
        </p:nvSpPr>
        <p:spPr>
          <a:xfrm>
            <a:off x="10971524" y="4922787"/>
            <a:ext cx="1398041" cy="465830"/>
          </a:xfrm>
          <a:prstGeom prst="rect">
            <a:avLst/>
          </a:prstGeom>
        </p:spPr>
        <p:txBody>
          <a:bodyPr lIns="0" tIns="0" rIns="0" bIns="0" rtlCol="0" anchor="t">
            <a:spAutoFit/>
          </a:bodyPr>
          <a:lstStyle/>
          <a:p>
            <a:pPr algn="l">
              <a:lnSpc>
                <a:spcPts val="3826"/>
              </a:lnSpc>
            </a:pPr>
            <a:r>
              <a:rPr lang="en-US" sz="2733">
                <a:solidFill>
                  <a:srgbClr val="C4CFBF">
                    <a:alpha val="74902"/>
                  </a:srgbClr>
                </a:solidFill>
                <a:latin typeface="Bebas Neue"/>
                <a:ea typeface="Bebas Neue"/>
                <a:cs typeface="Bebas Neue"/>
                <a:sym typeface="Bebas Neue"/>
              </a:rPr>
              <a:t>POWERED BY </a:t>
            </a:r>
          </a:p>
        </p:txBody>
      </p:sp>
      <p:sp>
        <p:nvSpPr>
          <p:cNvPr id="32" name="TextBox 32"/>
          <p:cNvSpPr txBox="1"/>
          <p:nvPr/>
        </p:nvSpPr>
        <p:spPr>
          <a:xfrm rot="-10800000">
            <a:off x="5575049" y="4447299"/>
            <a:ext cx="5121545" cy="483394"/>
          </a:xfrm>
          <a:prstGeom prst="rect">
            <a:avLst/>
          </a:prstGeom>
        </p:spPr>
        <p:txBody>
          <a:bodyPr lIns="0" tIns="0" rIns="0" bIns="0" rtlCol="0" anchor="t">
            <a:spAutoFit/>
          </a:bodyPr>
          <a:lstStyle/>
          <a:p>
            <a:pPr algn="l">
              <a:lnSpc>
                <a:spcPts val="3954"/>
              </a:lnSpc>
            </a:pPr>
            <a:r>
              <a:rPr lang="en-US" sz="2824">
                <a:solidFill>
                  <a:srgbClr val="7ED957"/>
                </a:solidFill>
                <a:latin typeface="Bank Gothic Medium"/>
                <a:ea typeface="Bank Gothic Medium"/>
                <a:cs typeface="Bank Gothic Medium"/>
                <a:sym typeface="Bank Gothic Medium"/>
              </a:rPr>
              <a:t>BUILD BEFORE IT DOES.</a:t>
            </a:r>
          </a:p>
        </p:txBody>
      </p:sp>
      <p:sp>
        <p:nvSpPr>
          <p:cNvPr id="33" name="TextBox 33"/>
          <p:cNvSpPr txBox="1"/>
          <p:nvPr/>
        </p:nvSpPr>
        <p:spPr>
          <a:xfrm>
            <a:off x="454555" y="5988548"/>
            <a:ext cx="9258386" cy="1269578"/>
          </a:xfrm>
          <a:prstGeom prst="rect">
            <a:avLst/>
          </a:prstGeom>
        </p:spPr>
        <p:txBody>
          <a:bodyPr lIns="0" tIns="0" rIns="0" bIns="0" rtlCol="0" anchor="t">
            <a:spAutoFit/>
          </a:bodyPr>
          <a:lstStyle/>
          <a:p>
            <a:pPr algn="l">
              <a:lnSpc>
                <a:spcPts val="10708"/>
              </a:lnSpc>
            </a:pPr>
            <a:r>
              <a:rPr lang="en-US" sz="7649" spc="328">
                <a:solidFill>
                  <a:srgbClr val="55C226"/>
                </a:solidFill>
                <a:latin typeface="Press Start 2P"/>
                <a:ea typeface="Press Start 2P"/>
                <a:cs typeface="Press Start 2P"/>
                <a:sym typeface="Press Start 2P"/>
              </a:rPr>
              <a:t>THANK YOU</a:t>
            </a:r>
          </a:p>
        </p:txBody>
      </p:sp>
      <p:sp>
        <p:nvSpPr>
          <p:cNvPr id="34" name="Freeform 34"/>
          <p:cNvSpPr/>
          <p:nvPr/>
        </p:nvSpPr>
        <p:spPr>
          <a:xfrm>
            <a:off x="612" y="489"/>
            <a:ext cx="15971327" cy="8933961"/>
          </a:xfrm>
          <a:custGeom>
            <a:avLst/>
            <a:gdLst/>
            <a:ahLst/>
            <a:cxnLst/>
            <a:rect l="l" t="t" r="r" b="b"/>
            <a:pathLst>
              <a:path w="15971327" h="8933961">
                <a:moveTo>
                  <a:pt x="0" y="0"/>
                </a:moveTo>
                <a:lnTo>
                  <a:pt x="15971327" y="0"/>
                </a:lnTo>
                <a:lnTo>
                  <a:pt x="15971327" y="8933961"/>
                </a:lnTo>
                <a:lnTo>
                  <a:pt x="0" y="8933961"/>
                </a:lnTo>
                <a:lnTo>
                  <a:pt x="0" y="0"/>
                </a:lnTo>
                <a:close/>
              </a:path>
            </a:pathLst>
          </a:custGeom>
          <a:blipFill>
            <a:blip r:embed="rId14"/>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1304</Words>
  <Application>Microsoft Office PowerPoint</Application>
  <PresentationFormat>Custom</PresentationFormat>
  <Paragraphs>185</Paragraphs>
  <Slides>8</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8</vt:i4>
      </vt:variant>
    </vt:vector>
  </HeadingPairs>
  <TitlesOfParts>
    <vt:vector size="21" baseType="lpstr">
      <vt:lpstr>Bank Gothic Medium</vt:lpstr>
      <vt:lpstr>Jaturat Bold Italics</vt:lpstr>
      <vt:lpstr>Canva Sans Bold</vt:lpstr>
      <vt:lpstr>Arial</vt:lpstr>
      <vt:lpstr>Jaturat Semi-Bold Italics</vt:lpstr>
      <vt:lpstr>Quicksand Medium</vt:lpstr>
      <vt:lpstr>Bank Gothic Light</vt:lpstr>
      <vt:lpstr>Quicksand Bold</vt:lpstr>
      <vt:lpstr>Bebas Neue</vt:lpstr>
      <vt:lpstr>Press Start 2P</vt:lpstr>
      <vt:lpstr>Calibri</vt:lpstr>
      <vt:lpstr>Quicksand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 Apex PPT</dc:title>
  <cp:lastModifiedBy>Ojas Dongre</cp:lastModifiedBy>
  <cp:revision>2</cp:revision>
  <dcterms:created xsi:type="dcterms:W3CDTF">2006-08-16T00:00:00Z</dcterms:created>
  <dcterms:modified xsi:type="dcterms:W3CDTF">2026-10-11T14:01:42Z</dcterms:modified>
  <dc:identifier>DAHXg9mk8yE</dc:identifier>
</cp:coreProperties>
</file>